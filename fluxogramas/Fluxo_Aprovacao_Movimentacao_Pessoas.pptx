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image" Target="../media/image-2-21.png"/><Relationship Id="rId22" Type="http://schemas.openxmlformats.org/officeDocument/2006/relationships/image" Target="../media/image-2-22.png"/><Relationship Id="rId23" Type="http://schemas.openxmlformats.org/officeDocument/2006/relationships/image" Target="../media/image-2-23.png"/><Relationship Id="rId24" Type="http://schemas.openxmlformats.org/officeDocument/2006/relationships/image" Target="../media/image-2-24.png"/><Relationship Id="rId25" Type="http://schemas.openxmlformats.org/officeDocument/2006/relationships/image" Target="../media/image-2-25.png"/><Relationship Id="rId26" Type="http://schemas.openxmlformats.org/officeDocument/2006/relationships/image" Target="../media/image-2-26.png"/><Relationship Id="rId27" Type="http://schemas.openxmlformats.org/officeDocument/2006/relationships/image" Target="../media/image-2-27.png"/><Relationship Id="rId28" Type="http://schemas.openxmlformats.org/officeDocument/2006/relationships/image" Target="../media/image-2-28.png"/><Relationship Id="rId29" Type="http://schemas.openxmlformats.org/officeDocument/2006/relationships/image" Target="../media/image-2-29.png"/><Relationship Id="rId30" Type="http://schemas.openxmlformats.org/officeDocument/2006/relationships/image" Target="../media/image-2-30.png"/><Relationship Id="rId31" Type="http://schemas.openxmlformats.org/officeDocument/2006/relationships/image" Target="../media/image-2-31.png"/><Relationship Id="rId32" Type="http://schemas.openxmlformats.org/officeDocument/2006/relationships/image" Target="../media/image-2-32.png"/><Relationship Id="rId33" Type="http://schemas.openxmlformats.org/officeDocument/2006/relationships/image" Target="../media/image-2-33.png"/><Relationship Id="rId34" Type="http://schemas.openxmlformats.org/officeDocument/2006/relationships/image" Target="../media/image-2-34.png"/><Relationship Id="rId35" Type="http://schemas.openxmlformats.org/officeDocument/2006/relationships/image" Target="../media/image-2-35.png"/><Relationship Id="rId36" Type="http://schemas.openxmlformats.org/officeDocument/2006/relationships/image" Target="../media/image-2-36.png"/><Relationship Id="rId37" Type="http://schemas.openxmlformats.org/officeDocument/2006/relationships/slideLayout" Target="../slideLayouts/slideLayout1.xml"/><Relationship Id="rId3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image" Target="../media/image-3-14.png"/><Relationship Id="rId15" Type="http://schemas.openxmlformats.org/officeDocument/2006/relationships/image" Target="../media/image-3-15.png"/><Relationship Id="rId16" Type="http://schemas.openxmlformats.org/officeDocument/2006/relationships/image" Target="../media/image-3-16.png"/><Relationship Id="rId17" Type="http://schemas.openxmlformats.org/officeDocument/2006/relationships/image" Target="../media/image-3-17.png"/><Relationship Id="rId18" Type="http://schemas.openxmlformats.org/officeDocument/2006/relationships/image" Target="../media/image-3-18.png"/><Relationship Id="rId19" Type="http://schemas.openxmlformats.org/officeDocument/2006/relationships/image" Target="../media/image-3-19.png"/><Relationship Id="rId20" Type="http://schemas.openxmlformats.org/officeDocument/2006/relationships/image" Target="../media/image-3-20.png"/><Relationship Id="rId21" Type="http://schemas.openxmlformats.org/officeDocument/2006/relationships/image" Target="../media/image-3-21.png"/><Relationship Id="rId22" Type="http://schemas.openxmlformats.org/officeDocument/2006/relationships/image" Target="../media/image-3-22.png"/><Relationship Id="rId23" Type="http://schemas.openxmlformats.org/officeDocument/2006/relationships/image" Target="../media/image-3-23.png"/><Relationship Id="rId24" Type="http://schemas.openxmlformats.org/officeDocument/2006/relationships/image" Target="../media/image-3-24.png"/><Relationship Id="rId25" Type="http://schemas.openxmlformats.org/officeDocument/2006/relationships/image" Target="../media/image-3-25.png"/><Relationship Id="rId26" Type="http://schemas.openxmlformats.org/officeDocument/2006/relationships/image" Target="../media/image-3-26.png"/><Relationship Id="rId27" Type="http://schemas.openxmlformats.org/officeDocument/2006/relationships/image" Target="../media/image-3-27.png"/><Relationship Id="rId28" Type="http://schemas.openxmlformats.org/officeDocument/2006/relationships/image" Target="../media/image-3-28.png"/><Relationship Id="rId29" Type="http://schemas.openxmlformats.org/officeDocument/2006/relationships/image" Target="../media/image-3-29.png"/><Relationship Id="rId30" Type="http://schemas.openxmlformats.org/officeDocument/2006/relationships/image" Target="../media/image-3-30.png"/><Relationship Id="rId31" Type="http://schemas.openxmlformats.org/officeDocument/2006/relationships/image" Target="../media/image-3-31.png"/><Relationship Id="rId32" Type="http://schemas.openxmlformats.org/officeDocument/2006/relationships/image" Target="../media/image-3-32.png"/><Relationship Id="rId33" Type="http://schemas.openxmlformats.org/officeDocument/2006/relationships/image" Target="../media/image-3-33.png"/><Relationship Id="rId34" Type="http://schemas.openxmlformats.org/officeDocument/2006/relationships/image" Target="../media/image-3-34.png"/><Relationship Id="rId35" Type="http://schemas.openxmlformats.org/officeDocument/2006/relationships/image" Target="../media/image-3-35.png"/><Relationship Id="rId36" Type="http://schemas.openxmlformats.org/officeDocument/2006/relationships/image" Target="../media/image-3-36.png"/><Relationship Id="rId37" Type="http://schemas.openxmlformats.org/officeDocument/2006/relationships/image" Target="../media/image-3-37.png"/><Relationship Id="rId38" Type="http://schemas.openxmlformats.org/officeDocument/2006/relationships/image" Target="../media/image-3-38.png"/><Relationship Id="rId39" Type="http://schemas.openxmlformats.org/officeDocument/2006/relationships/image" Target="../media/image-3-39.png"/><Relationship Id="rId40" Type="http://schemas.openxmlformats.org/officeDocument/2006/relationships/image" Target="../media/image-3-40.png"/><Relationship Id="rId41" Type="http://schemas.openxmlformats.org/officeDocument/2006/relationships/slideLayout" Target="../slideLayouts/slideLayout1.xml"/><Relationship Id="rId4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82880"/>
            <a:ext cx="11640312" cy="749808"/>
          </a:xfrm>
          <a:prstGeom prst="roundRect">
            <a:avLst>
              <a:gd name="adj" fmla="val 7317"/>
            </a:avLst>
          </a:prstGeom>
          <a:solidFill>
            <a:srgbClr val="123C7A"/>
          </a:solidFill>
          <a:ln w="12700">
            <a:solidFill>
              <a:srgbClr val="123C7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219456"/>
            <a:ext cx="116403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DE APROVAÇÃO – MOVIMENTAÇÃO DE PESSOAS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274320" y="585216"/>
            <a:ext cx="11640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ALTERAÇÃO E PROMOÇÃO DE CARGO  ·  84 REGRAS CONSOLIDADAS EM 8 ROTAS DE APROVAÇÃO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115568"/>
            <a:ext cx="1691640" cy="402336"/>
          </a:xfrm>
          <a:prstGeom prst="roundRect">
            <a:avLst>
              <a:gd name="adj" fmla="val 50000"/>
            </a:avLst>
          </a:prstGeom>
          <a:solidFill>
            <a:srgbClr val="2E8B3E"/>
          </a:solidFill>
          <a:ln w="12700">
            <a:solidFill>
              <a:srgbClr val="2E8B3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02920" y="1115568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48740" y="1517904"/>
            <a:ext cx="0" cy="219456"/>
          </a:xfrm>
          <a:prstGeom prst="line">
            <a:avLst/>
          </a:prstGeom>
          <a:noFill/>
          <a:ln w="22225">
            <a:solidFill>
              <a:srgbClr val="2B4F8C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20040" y="1737360"/>
            <a:ext cx="2057400" cy="731520"/>
          </a:xfrm>
          <a:prstGeom prst="roundRect">
            <a:avLst>
              <a:gd name="adj" fmla="val 6250"/>
            </a:avLst>
          </a:prstGeom>
          <a:solidFill>
            <a:srgbClr val="E9F0F9"/>
          </a:solidFill>
          <a:ln w="12700">
            <a:solidFill>
              <a:srgbClr val="C9D6EA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" y="1901952"/>
            <a:ext cx="329184" cy="32918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50392" y="1783080"/>
            <a:ext cx="1453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3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MOTIVO (GESTOR)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MOVIMENTAÇÃO DE PESSOAS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348740" y="2468880"/>
            <a:ext cx="0" cy="219456"/>
          </a:xfrm>
          <a:prstGeom prst="line">
            <a:avLst/>
          </a:prstGeom>
          <a:noFill/>
          <a:ln w="22225">
            <a:solidFill>
              <a:srgbClr val="2B4F8C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320040" y="2688336"/>
            <a:ext cx="2057400" cy="1938528"/>
          </a:xfrm>
          <a:prstGeom prst="roundRect">
            <a:avLst>
              <a:gd name="adj" fmla="val 2358"/>
            </a:avLst>
          </a:prstGeom>
          <a:solidFill>
            <a:srgbClr val="E9F0F9"/>
          </a:solidFill>
          <a:ln w="12700">
            <a:solidFill>
              <a:srgbClr val="C9D6EA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2779776"/>
            <a:ext cx="310896" cy="31089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850392" y="2779776"/>
            <a:ext cx="1453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3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EVENTO (C&amp;R)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411480" y="3163824"/>
            <a:ext cx="1892808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Alteração de cargo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Promoção – Equipes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Promoção – Cargo de confiança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Promoção – Gestão / Carreira Y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Promoção – Liderança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1348740" y="4626864"/>
            <a:ext cx="0" cy="219456"/>
          </a:xfrm>
          <a:prstGeom prst="line">
            <a:avLst/>
          </a:prstGeom>
          <a:noFill/>
          <a:ln w="22225">
            <a:solidFill>
              <a:srgbClr val="2B4F8C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320040" y="4846320"/>
            <a:ext cx="2057400" cy="603504"/>
          </a:xfrm>
          <a:prstGeom prst="roundRect">
            <a:avLst>
              <a:gd name="adj" fmla="val 7576"/>
            </a:avLst>
          </a:prstGeom>
          <a:solidFill>
            <a:srgbClr val="E3F1E4"/>
          </a:solidFill>
          <a:ln w="12700">
            <a:solidFill>
              <a:srgbClr val="A8D1AC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11480" y="4965192"/>
            <a:ext cx="365760" cy="365760"/>
          </a:xfrm>
          <a:prstGeom prst="ellipse">
            <a:avLst/>
          </a:prstGeom>
          <a:solidFill>
            <a:srgbClr val="2E8B3E"/>
          </a:solidFill>
          <a:ln w="12700">
            <a:solidFill>
              <a:srgbClr val="2E8B3E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5056632"/>
            <a:ext cx="182880" cy="18288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50392" y="4846320"/>
            <a:ext cx="1453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6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INICIAR ANÁLISE DAS CONDIÇÕES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2377440" y="5148072"/>
            <a:ext cx="109728" cy="0"/>
          </a:xfrm>
          <a:prstGeom prst="line">
            <a:avLst/>
          </a:prstGeom>
          <a:noFill/>
          <a:ln w="22225">
            <a:solidFill>
              <a:srgbClr val="2B4F8C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 flipV="1">
            <a:off x="2487168" y="3509010"/>
            <a:ext cx="0" cy="1639062"/>
          </a:xfrm>
          <a:prstGeom prst="line">
            <a:avLst/>
          </a:prstGeom>
          <a:noFill/>
          <a:ln w="22225">
            <a:solidFill>
              <a:srgbClr val="2B4F8C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2487168" y="3509010"/>
            <a:ext cx="73152" cy="0"/>
          </a:xfrm>
          <a:prstGeom prst="line">
            <a:avLst/>
          </a:prstGeom>
          <a:noFill/>
          <a:ln w="22225">
            <a:solidFill>
              <a:srgbClr val="2B4F8C"/>
            </a:solidFill>
            <a:prstDash val="solid"/>
            <a:tailEnd type="triangle"/>
          </a:ln>
        </p:spPr>
      </p:sp>
      <p:sp>
        <p:nvSpPr>
          <p:cNvPr id="24" name="Shape 19"/>
          <p:cNvSpPr/>
          <p:nvPr/>
        </p:nvSpPr>
        <p:spPr>
          <a:xfrm>
            <a:off x="2560320" y="2846070"/>
            <a:ext cx="1737360" cy="1325880"/>
          </a:xfrm>
          <a:prstGeom prst="diamond">
            <a:avLst/>
          </a:prstGeom>
          <a:solidFill>
            <a:srgbClr val="D6E4F5"/>
          </a:solidFill>
          <a:ln w="19050">
            <a:solidFill>
              <a:srgbClr val="2B4F8C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2803550" y="3111246"/>
            <a:ext cx="1250899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23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EVENTO É PROMOÇÃO DE GESTÃO OU LIDERANÇA?</a:t>
            </a:r>
            <a:endParaRPr lang="en-US" sz="950" dirty="0"/>
          </a:p>
        </p:txBody>
      </p:sp>
      <p:sp>
        <p:nvSpPr>
          <p:cNvPr id="26" name="Shape 21"/>
          <p:cNvSpPr/>
          <p:nvPr/>
        </p:nvSpPr>
        <p:spPr>
          <a:xfrm>
            <a:off x="4297680" y="3509010"/>
            <a:ext cx="228600" cy="0"/>
          </a:xfrm>
          <a:prstGeom prst="line">
            <a:avLst/>
          </a:prstGeom>
          <a:noFill/>
          <a:ln w="22225">
            <a:solidFill>
              <a:srgbClr val="2B4F8C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4526280" y="2292858"/>
            <a:ext cx="0" cy="2432304"/>
          </a:xfrm>
          <a:prstGeom prst="line">
            <a:avLst/>
          </a:prstGeom>
          <a:noFill/>
          <a:ln w="22225">
            <a:solidFill>
              <a:srgbClr val="2B4F8C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4526280" y="2292858"/>
            <a:ext cx="228600" cy="0"/>
          </a:xfrm>
          <a:prstGeom prst="line">
            <a:avLst/>
          </a:prstGeom>
          <a:noFill/>
          <a:ln w="22225">
            <a:solidFill>
              <a:srgbClr val="2B4F8C"/>
            </a:solidFill>
            <a:prstDash val="solid"/>
            <a:tailEnd type="triangle"/>
          </a:ln>
        </p:spPr>
      </p:sp>
      <p:sp>
        <p:nvSpPr>
          <p:cNvPr id="29" name="Shape 24"/>
          <p:cNvSpPr/>
          <p:nvPr/>
        </p:nvSpPr>
        <p:spPr>
          <a:xfrm>
            <a:off x="4526280" y="4725162"/>
            <a:ext cx="228600" cy="0"/>
          </a:xfrm>
          <a:prstGeom prst="line">
            <a:avLst/>
          </a:prstGeom>
          <a:noFill/>
          <a:ln w="22225">
            <a:solidFill>
              <a:srgbClr val="2B4F8C"/>
            </a:solidFill>
            <a:prstDash val="solid"/>
            <a:tailEnd type="triangle"/>
          </a:ln>
        </p:spPr>
      </p:sp>
      <p:sp>
        <p:nvSpPr>
          <p:cNvPr id="30" name="Text 25"/>
          <p:cNvSpPr txBox="1"/>
          <p:nvPr/>
        </p:nvSpPr>
        <p:spPr>
          <a:xfrm>
            <a:off x="4599432" y="206425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</a:t>
            </a:r>
            <a:endParaRPr lang="en-US" sz="1000" dirty="0"/>
          </a:p>
        </p:txBody>
      </p:sp>
      <p:sp>
        <p:nvSpPr>
          <p:cNvPr id="31" name="Text 26"/>
          <p:cNvSpPr txBox="1"/>
          <p:nvPr/>
        </p:nvSpPr>
        <p:spPr>
          <a:xfrm>
            <a:off x="4599432" y="449656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4754880" y="1744218"/>
            <a:ext cx="1645920" cy="1097280"/>
          </a:xfrm>
          <a:prstGeom prst="diamond">
            <a:avLst/>
          </a:prstGeom>
          <a:solidFill>
            <a:srgbClr val="D6E4F5"/>
          </a:solidFill>
          <a:ln w="19050">
            <a:solidFill>
              <a:srgbClr val="2B4F8C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4985309" y="1963674"/>
            <a:ext cx="118506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23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MÃO DE OBRA DE DESTINO É MOD? (NÃO = MOI)</a:t>
            </a:r>
            <a:endParaRPr lang="en-US" sz="1000" dirty="0"/>
          </a:p>
        </p:txBody>
      </p:sp>
      <p:sp>
        <p:nvSpPr>
          <p:cNvPr id="34" name="Shape 29"/>
          <p:cNvSpPr/>
          <p:nvPr/>
        </p:nvSpPr>
        <p:spPr>
          <a:xfrm>
            <a:off x="6400800" y="2292858"/>
            <a:ext cx="228600" cy="0"/>
          </a:xfrm>
          <a:prstGeom prst="line">
            <a:avLst/>
          </a:prstGeom>
          <a:noFill/>
          <a:ln w="22225">
            <a:solidFill>
              <a:srgbClr val="2B4F8C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4754880" y="4176522"/>
            <a:ext cx="1645920" cy="1097280"/>
          </a:xfrm>
          <a:prstGeom prst="diamond">
            <a:avLst/>
          </a:prstGeom>
          <a:solidFill>
            <a:srgbClr val="D6E4F5"/>
          </a:solidFill>
          <a:ln w="19050">
            <a:solidFill>
              <a:srgbClr val="2B4F8C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4985309" y="4395978"/>
            <a:ext cx="118506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23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MÃO DE OBRA DE DESTINO É MOD? (NÃO = MOI)</a:t>
            </a:r>
            <a:endParaRPr lang="en-US" sz="1000" dirty="0"/>
          </a:p>
        </p:txBody>
      </p:sp>
      <p:sp>
        <p:nvSpPr>
          <p:cNvPr id="37" name="Shape 32"/>
          <p:cNvSpPr/>
          <p:nvPr/>
        </p:nvSpPr>
        <p:spPr>
          <a:xfrm>
            <a:off x="6400800" y="4725162"/>
            <a:ext cx="228600" cy="0"/>
          </a:xfrm>
          <a:prstGeom prst="line">
            <a:avLst/>
          </a:prstGeom>
          <a:noFill/>
          <a:ln w="22225">
            <a:solidFill>
              <a:srgbClr val="2B4F8C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6629400" y="1684782"/>
            <a:ext cx="0" cy="1216152"/>
          </a:xfrm>
          <a:prstGeom prst="line">
            <a:avLst/>
          </a:prstGeom>
          <a:noFill/>
          <a:ln w="22225">
            <a:solidFill>
              <a:srgbClr val="2B4F8C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6629400" y="1684782"/>
            <a:ext cx="384048" cy="0"/>
          </a:xfrm>
          <a:prstGeom prst="line">
            <a:avLst/>
          </a:prstGeom>
          <a:noFill/>
          <a:ln w="22225">
            <a:solidFill>
              <a:srgbClr val="2B4F8C"/>
            </a:solidFill>
            <a:prstDash val="solid"/>
            <a:tailEnd type="triangle"/>
          </a:ln>
        </p:spPr>
      </p:sp>
      <p:sp>
        <p:nvSpPr>
          <p:cNvPr id="40" name="Shape 35"/>
          <p:cNvSpPr/>
          <p:nvPr/>
        </p:nvSpPr>
        <p:spPr>
          <a:xfrm>
            <a:off x="6629400" y="2900934"/>
            <a:ext cx="384048" cy="0"/>
          </a:xfrm>
          <a:prstGeom prst="line">
            <a:avLst/>
          </a:prstGeom>
          <a:noFill/>
          <a:ln w="22225">
            <a:solidFill>
              <a:srgbClr val="2B4F8C"/>
            </a:solidFill>
            <a:prstDash val="solid"/>
            <a:tailEnd type="triangle"/>
          </a:ln>
        </p:spPr>
      </p:sp>
      <p:sp>
        <p:nvSpPr>
          <p:cNvPr id="41" name="Text 36"/>
          <p:cNvSpPr txBox="1"/>
          <p:nvPr/>
        </p:nvSpPr>
        <p:spPr>
          <a:xfrm>
            <a:off x="6684264" y="145618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</a:t>
            </a:r>
            <a:endParaRPr lang="en-US" sz="1000" dirty="0"/>
          </a:p>
        </p:txBody>
      </p:sp>
      <p:sp>
        <p:nvSpPr>
          <p:cNvPr id="42" name="Text 37"/>
          <p:cNvSpPr txBox="1"/>
          <p:nvPr/>
        </p:nvSpPr>
        <p:spPr>
          <a:xfrm>
            <a:off x="6684264" y="2672334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</a:t>
            </a:r>
            <a:endParaRPr lang="en-US" sz="1000" dirty="0"/>
          </a:p>
        </p:txBody>
      </p:sp>
      <p:sp>
        <p:nvSpPr>
          <p:cNvPr id="43" name="Shape 38"/>
          <p:cNvSpPr/>
          <p:nvPr/>
        </p:nvSpPr>
        <p:spPr>
          <a:xfrm>
            <a:off x="6629400" y="4117086"/>
            <a:ext cx="0" cy="1216152"/>
          </a:xfrm>
          <a:prstGeom prst="line">
            <a:avLst/>
          </a:prstGeom>
          <a:noFill/>
          <a:ln w="22225">
            <a:solidFill>
              <a:srgbClr val="2B4F8C"/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6629400" y="4117086"/>
            <a:ext cx="384048" cy="0"/>
          </a:xfrm>
          <a:prstGeom prst="line">
            <a:avLst/>
          </a:prstGeom>
          <a:noFill/>
          <a:ln w="22225">
            <a:solidFill>
              <a:srgbClr val="2B4F8C"/>
            </a:solidFill>
            <a:prstDash val="solid"/>
            <a:tailEnd type="triangle"/>
          </a:ln>
        </p:spPr>
      </p:sp>
      <p:sp>
        <p:nvSpPr>
          <p:cNvPr id="45" name="Shape 40"/>
          <p:cNvSpPr/>
          <p:nvPr/>
        </p:nvSpPr>
        <p:spPr>
          <a:xfrm>
            <a:off x="6629400" y="5333238"/>
            <a:ext cx="384048" cy="0"/>
          </a:xfrm>
          <a:prstGeom prst="line">
            <a:avLst/>
          </a:prstGeom>
          <a:noFill/>
          <a:ln w="22225">
            <a:solidFill>
              <a:srgbClr val="2B4F8C"/>
            </a:solidFill>
            <a:prstDash val="solid"/>
            <a:tailEnd type="triangle"/>
          </a:ln>
        </p:spPr>
      </p:sp>
      <p:sp>
        <p:nvSpPr>
          <p:cNvPr id="46" name="Text 41"/>
          <p:cNvSpPr txBox="1"/>
          <p:nvPr/>
        </p:nvSpPr>
        <p:spPr>
          <a:xfrm>
            <a:off x="6684264" y="388848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</a:t>
            </a:r>
            <a:endParaRPr lang="en-US" sz="1000" dirty="0"/>
          </a:p>
        </p:txBody>
      </p:sp>
      <p:sp>
        <p:nvSpPr>
          <p:cNvPr id="47" name="Text 42"/>
          <p:cNvSpPr txBox="1"/>
          <p:nvPr/>
        </p:nvSpPr>
        <p:spPr>
          <a:xfrm>
            <a:off x="6684264" y="5104638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013448" y="1204722"/>
            <a:ext cx="1371600" cy="960120"/>
          </a:xfrm>
          <a:prstGeom prst="diamond">
            <a:avLst/>
          </a:prstGeom>
          <a:solidFill>
            <a:srgbClr val="D6E4F5"/>
          </a:solidFill>
          <a:ln w="19050">
            <a:solidFill>
              <a:srgbClr val="2B4F8C"/>
            </a:solidFill>
            <a:prstDash val="solid"/>
          </a:ln>
        </p:spPr>
      </p:sp>
      <p:sp>
        <p:nvSpPr>
          <p:cNvPr id="49" name="Text 44"/>
          <p:cNvSpPr txBox="1"/>
          <p:nvPr/>
        </p:nvSpPr>
        <p:spPr>
          <a:xfrm>
            <a:off x="7205472" y="1396746"/>
            <a:ext cx="98755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23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ALTERA GESTOR?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385048" y="1684782"/>
            <a:ext cx="118872" cy="0"/>
          </a:xfrm>
          <a:prstGeom prst="line">
            <a:avLst/>
          </a:prstGeom>
          <a:noFill/>
          <a:ln w="22225">
            <a:solidFill>
              <a:srgbClr val="2B4F8C"/>
            </a:solidFill>
            <a:prstDash val="solid"/>
          </a:ln>
        </p:spPr>
      </p:sp>
      <p:sp>
        <p:nvSpPr>
          <p:cNvPr id="51" name="Shape 46"/>
          <p:cNvSpPr/>
          <p:nvPr/>
        </p:nvSpPr>
        <p:spPr>
          <a:xfrm>
            <a:off x="8503920" y="1380744"/>
            <a:ext cx="0" cy="608076"/>
          </a:xfrm>
          <a:prstGeom prst="line">
            <a:avLst/>
          </a:prstGeom>
          <a:noFill/>
          <a:ln w="22225">
            <a:solidFill>
              <a:srgbClr val="2B4F8C"/>
            </a:solidFill>
            <a:prstDash val="solid"/>
          </a:ln>
        </p:spPr>
      </p:sp>
      <p:sp>
        <p:nvSpPr>
          <p:cNvPr id="52" name="Shape 47"/>
          <p:cNvSpPr/>
          <p:nvPr/>
        </p:nvSpPr>
        <p:spPr>
          <a:xfrm>
            <a:off x="8503920" y="1380744"/>
            <a:ext cx="164592" cy="0"/>
          </a:xfrm>
          <a:prstGeom prst="line">
            <a:avLst/>
          </a:prstGeom>
          <a:noFill/>
          <a:ln w="22225">
            <a:solidFill>
              <a:srgbClr val="2B4F8C"/>
            </a:solidFill>
            <a:prstDash val="solid"/>
            <a:tailEnd type="triangle"/>
          </a:ln>
        </p:spPr>
      </p:sp>
      <p:sp>
        <p:nvSpPr>
          <p:cNvPr id="53" name="Shape 48"/>
          <p:cNvSpPr/>
          <p:nvPr/>
        </p:nvSpPr>
        <p:spPr>
          <a:xfrm>
            <a:off x="8503920" y="1988820"/>
            <a:ext cx="164592" cy="0"/>
          </a:xfrm>
          <a:prstGeom prst="line">
            <a:avLst/>
          </a:prstGeom>
          <a:noFill/>
          <a:ln w="22225">
            <a:solidFill>
              <a:srgbClr val="2B4F8C"/>
            </a:solidFill>
            <a:prstDash val="solid"/>
            <a:tailEnd type="triangle"/>
          </a:ln>
        </p:spPr>
      </p:sp>
      <p:sp>
        <p:nvSpPr>
          <p:cNvPr id="54" name="Text 49"/>
          <p:cNvSpPr txBox="1"/>
          <p:nvPr/>
        </p:nvSpPr>
        <p:spPr>
          <a:xfrm>
            <a:off x="8119872" y="130759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</a:t>
            </a:r>
            <a:endParaRPr lang="en-US" sz="1000" dirty="0"/>
          </a:p>
        </p:txBody>
      </p:sp>
      <p:sp>
        <p:nvSpPr>
          <p:cNvPr id="55" name="Text 50"/>
          <p:cNvSpPr txBox="1"/>
          <p:nvPr/>
        </p:nvSpPr>
        <p:spPr>
          <a:xfrm>
            <a:off x="8119872" y="1860804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</a:t>
            </a:r>
            <a:endParaRPr lang="en-US" sz="1000" dirty="0"/>
          </a:p>
        </p:txBody>
      </p:sp>
      <p:sp>
        <p:nvSpPr>
          <p:cNvPr id="56" name="Shape 51"/>
          <p:cNvSpPr/>
          <p:nvPr/>
        </p:nvSpPr>
        <p:spPr>
          <a:xfrm>
            <a:off x="7013448" y="2420874"/>
            <a:ext cx="1371600" cy="960120"/>
          </a:xfrm>
          <a:prstGeom prst="diamond">
            <a:avLst/>
          </a:prstGeom>
          <a:solidFill>
            <a:srgbClr val="D6E4F5"/>
          </a:solidFill>
          <a:ln w="19050">
            <a:solidFill>
              <a:srgbClr val="2B4F8C"/>
            </a:solidFill>
            <a:prstDash val="solid"/>
          </a:ln>
        </p:spPr>
      </p:sp>
      <p:sp>
        <p:nvSpPr>
          <p:cNvPr id="57" name="Text 52"/>
          <p:cNvSpPr txBox="1"/>
          <p:nvPr/>
        </p:nvSpPr>
        <p:spPr>
          <a:xfrm>
            <a:off x="7205472" y="2612898"/>
            <a:ext cx="98755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23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ALTERA GESTOR?</a:t>
            </a:r>
            <a:endParaRPr lang="en-US" sz="1000" dirty="0"/>
          </a:p>
        </p:txBody>
      </p:sp>
      <p:sp>
        <p:nvSpPr>
          <p:cNvPr id="58" name="Shape 53"/>
          <p:cNvSpPr/>
          <p:nvPr/>
        </p:nvSpPr>
        <p:spPr>
          <a:xfrm>
            <a:off x="8385048" y="2900934"/>
            <a:ext cx="118872" cy="0"/>
          </a:xfrm>
          <a:prstGeom prst="line">
            <a:avLst/>
          </a:prstGeom>
          <a:noFill/>
          <a:ln w="22225">
            <a:solidFill>
              <a:srgbClr val="2B4F8C"/>
            </a:solidFill>
            <a:prstDash val="solid"/>
          </a:ln>
        </p:spPr>
      </p:sp>
      <p:sp>
        <p:nvSpPr>
          <p:cNvPr id="59" name="Shape 54"/>
          <p:cNvSpPr/>
          <p:nvPr/>
        </p:nvSpPr>
        <p:spPr>
          <a:xfrm>
            <a:off x="8503920" y="2596896"/>
            <a:ext cx="0" cy="608076"/>
          </a:xfrm>
          <a:prstGeom prst="line">
            <a:avLst/>
          </a:prstGeom>
          <a:noFill/>
          <a:ln w="22225">
            <a:solidFill>
              <a:srgbClr val="2B4F8C"/>
            </a:solidFill>
            <a:prstDash val="solid"/>
          </a:ln>
        </p:spPr>
      </p:sp>
      <p:sp>
        <p:nvSpPr>
          <p:cNvPr id="60" name="Shape 55"/>
          <p:cNvSpPr/>
          <p:nvPr/>
        </p:nvSpPr>
        <p:spPr>
          <a:xfrm>
            <a:off x="8503920" y="2596896"/>
            <a:ext cx="164592" cy="0"/>
          </a:xfrm>
          <a:prstGeom prst="line">
            <a:avLst/>
          </a:prstGeom>
          <a:noFill/>
          <a:ln w="22225">
            <a:solidFill>
              <a:srgbClr val="2B4F8C"/>
            </a:solidFill>
            <a:prstDash val="solid"/>
            <a:tailEnd type="triangle"/>
          </a:ln>
        </p:spPr>
      </p:sp>
      <p:sp>
        <p:nvSpPr>
          <p:cNvPr id="61" name="Shape 56"/>
          <p:cNvSpPr/>
          <p:nvPr/>
        </p:nvSpPr>
        <p:spPr>
          <a:xfrm>
            <a:off x="8503920" y="3204972"/>
            <a:ext cx="164592" cy="0"/>
          </a:xfrm>
          <a:prstGeom prst="line">
            <a:avLst/>
          </a:prstGeom>
          <a:noFill/>
          <a:ln w="22225">
            <a:solidFill>
              <a:srgbClr val="2B4F8C"/>
            </a:solidFill>
            <a:prstDash val="solid"/>
            <a:tailEnd type="triangle"/>
          </a:ln>
        </p:spPr>
      </p:sp>
      <p:sp>
        <p:nvSpPr>
          <p:cNvPr id="62" name="Text 57"/>
          <p:cNvSpPr txBox="1"/>
          <p:nvPr/>
        </p:nvSpPr>
        <p:spPr>
          <a:xfrm>
            <a:off x="8119872" y="2523744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</a:t>
            </a:r>
            <a:endParaRPr lang="en-US" sz="1000" dirty="0"/>
          </a:p>
        </p:txBody>
      </p:sp>
      <p:sp>
        <p:nvSpPr>
          <p:cNvPr id="63" name="Text 58"/>
          <p:cNvSpPr txBox="1"/>
          <p:nvPr/>
        </p:nvSpPr>
        <p:spPr>
          <a:xfrm>
            <a:off x="8119872" y="3076956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</a:t>
            </a:r>
            <a:endParaRPr lang="en-US" sz="1000" dirty="0"/>
          </a:p>
        </p:txBody>
      </p:sp>
      <p:sp>
        <p:nvSpPr>
          <p:cNvPr id="64" name="Shape 59"/>
          <p:cNvSpPr/>
          <p:nvPr/>
        </p:nvSpPr>
        <p:spPr>
          <a:xfrm>
            <a:off x="7013448" y="3637026"/>
            <a:ext cx="1371600" cy="960120"/>
          </a:xfrm>
          <a:prstGeom prst="diamond">
            <a:avLst/>
          </a:prstGeom>
          <a:solidFill>
            <a:srgbClr val="D6E4F5"/>
          </a:solidFill>
          <a:ln w="19050">
            <a:solidFill>
              <a:srgbClr val="2B4F8C"/>
            </a:solidFill>
            <a:prstDash val="solid"/>
          </a:ln>
        </p:spPr>
      </p:sp>
      <p:sp>
        <p:nvSpPr>
          <p:cNvPr id="65" name="Text 60"/>
          <p:cNvSpPr txBox="1"/>
          <p:nvPr/>
        </p:nvSpPr>
        <p:spPr>
          <a:xfrm>
            <a:off x="7205472" y="3829050"/>
            <a:ext cx="98755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23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ALTERA GESTOR?</a:t>
            </a:r>
            <a:endParaRPr lang="en-US" sz="1000" dirty="0"/>
          </a:p>
        </p:txBody>
      </p:sp>
      <p:sp>
        <p:nvSpPr>
          <p:cNvPr id="66" name="Shape 61"/>
          <p:cNvSpPr/>
          <p:nvPr/>
        </p:nvSpPr>
        <p:spPr>
          <a:xfrm>
            <a:off x="8385048" y="4117086"/>
            <a:ext cx="118872" cy="0"/>
          </a:xfrm>
          <a:prstGeom prst="line">
            <a:avLst/>
          </a:prstGeom>
          <a:noFill/>
          <a:ln w="22225">
            <a:solidFill>
              <a:srgbClr val="2B4F8C"/>
            </a:solidFill>
            <a:prstDash val="solid"/>
          </a:ln>
        </p:spPr>
      </p:sp>
      <p:sp>
        <p:nvSpPr>
          <p:cNvPr id="67" name="Shape 62"/>
          <p:cNvSpPr/>
          <p:nvPr/>
        </p:nvSpPr>
        <p:spPr>
          <a:xfrm>
            <a:off x="8503920" y="3813048"/>
            <a:ext cx="0" cy="608076"/>
          </a:xfrm>
          <a:prstGeom prst="line">
            <a:avLst/>
          </a:prstGeom>
          <a:noFill/>
          <a:ln w="22225">
            <a:solidFill>
              <a:srgbClr val="2B4F8C"/>
            </a:solidFill>
            <a:prstDash val="solid"/>
          </a:ln>
        </p:spPr>
      </p:sp>
      <p:sp>
        <p:nvSpPr>
          <p:cNvPr id="68" name="Shape 63"/>
          <p:cNvSpPr/>
          <p:nvPr/>
        </p:nvSpPr>
        <p:spPr>
          <a:xfrm>
            <a:off x="8503920" y="3813048"/>
            <a:ext cx="164592" cy="0"/>
          </a:xfrm>
          <a:prstGeom prst="line">
            <a:avLst/>
          </a:prstGeom>
          <a:noFill/>
          <a:ln w="22225">
            <a:solidFill>
              <a:srgbClr val="2B4F8C"/>
            </a:solidFill>
            <a:prstDash val="solid"/>
            <a:tailEnd type="triangle"/>
          </a:ln>
        </p:spPr>
      </p:sp>
      <p:sp>
        <p:nvSpPr>
          <p:cNvPr id="69" name="Shape 64"/>
          <p:cNvSpPr/>
          <p:nvPr/>
        </p:nvSpPr>
        <p:spPr>
          <a:xfrm>
            <a:off x="8503920" y="4421124"/>
            <a:ext cx="164592" cy="0"/>
          </a:xfrm>
          <a:prstGeom prst="line">
            <a:avLst/>
          </a:prstGeom>
          <a:noFill/>
          <a:ln w="22225">
            <a:solidFill>
              <a:srgbClr val="2B4F8C"/>
            </a:solidFill>
            <a:prstDash val="solid"/>
            <a:tailEnd type="triangle"/>
          </a:ln>
        </p:spPr>
      </p:sp>
      <p:sp>
        <p:nvSpPr>
          <p:cNvPr id="70" name="Text 65"/>
          <p:cNvSpPr txBox="1"/>
          <p:nvPr/>
        </p:nvSpPr>
        <p:spPr>
          <a:xfrm>
            <a:off x="8119872" y="3739896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</a:t>
            </a:r>
            <a:endParaRPr lang="en-US" sz="1000" dirty="0"/>
          </a:p>
        </p:txBody>
      </p:sp>
      <p:sp>
        <p:nvSpPr>
          <p:cNvPr id="71" name="Text 66"/>
          <p:cNvSpPr txBox="1"/>
          <p:nvPr/>
        </p:nvSpPr>
        <p:spPr>
          <a:xfrm>
            <a:off x="8119872" y="4293108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</a:t>
            </a:r>
            <a:endParaRPr lang="en-US" sz="1000" dirty="0"/>
          </a:p>
        </p:txBody>
      </p:sp>
      <p:sp>
        <p:nvSpPr>
          <p:cNvPr id="72" name="Shape 67"/>
          <p:cNvSpPr/>
          <p:nvPr/>
        </p:nvSpPr>
        <p:spPr>
          <a:xfrm>
            <a:off x="7013448" y="4853178"/>
            <a:ext cx="1371600" cy="960120"/>
          </a:xfrm>
          <a:prstGeom prst="diamond">
            <a:avLst/>
          </a:prstGeom>
          <a:solidFill>
            <a:srgbClr val="D6E4F5"/>
          </a:solidFill>
          <a:ln w="19050">
            <a:solidFill>
              <a:srgbClr val="2B4F8C"/>
            </a:solidFill>
            <a:prstDash val="solid"/>
          </a:ln>
        </p:spPr>
      </p:sp>
      <p:sp>
        <p:nvSpPr>
          <p:cNvPr id="73" name="Text 68"/>
          <p:cNvSpPr txBox="1"/>
          <p:nvPr/>
        </p:nvSpPr>
        <p:spPr>
          <a:xfrm>
            <a:off x="7205472" y="5045202"/>
            <a:ext cx="98755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23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ALTERA GESTOR?</a:t>
            </a:r>
            <a:endParaRPr lang="en-US" sz="1000" dirty="0"/>
          </a:p>
        </p:txBody>
      </p:sp>
      <p:sp>
        <p:nvSpPr>
          <p:cNvPr id="74" name="Shape 69"/>
          <p:cNvSpPr/>
          <p:nvPr/>
        </p:nvSpPr>
        <p:spPr>
          <a:xfrm>
            <a:off x="8385048" y="5333238"/>
            <a:ext cx="118872" cy="0"/>
          </a:xfrm>
          <a:prstGeom prst="line">
            <a:avLst/>
          </a:prstGeom>
          <a:noFill/>
          <a:ln w="22225">
            <a:solidFill>
              <a:srgbClr val="2B4F8C"/>
            </a:solidFill>
            <a:prstDash val="solid"/>
          </a:ln>
        </p:spPr>
      </p:sp>
      <p:sp>
        <p:nvSpPr>
          <p:cNvPr id="75" name="Shape 70"/>
          <p:cNvSpPr/>
          <p:nvPr/>
        </p:nvSpPr>
        <p:spPr>
          <a:xfrm>
            <a:off x="8503920" y="5029200"/>
            <a:ext cx="0" cy="608076"/>
          </a:xfrm>
          <a:prstGeom prst="line">
            <a:avLst/>
          </a:prstGeom>
          <a:noFill/>
          <a:ln w="22225">
            <a:solidFill>
              <a:srgbClr val="2B4F8C"/>
            </a:solidFill>
            <a:prstDash val="solid"/>
          </a:ln>
        </p:spPr>
      </p:sp>
      <p:sp>
        <p:nvSpPr>
          <p:cNvPr id="76" name="Shape 71"/>
          <p:cNvSpPr/>
          <p:nvPr/>
        </p:nvSpPr>
        <p:spPr>
          <a:xfrm>
            <a:off x="8503920" y="5029200"/>
            <a:ext cx="164592" cy="0"/>
          </a:xfrm>
          <a:prstGeom prst="line">
            <a:avLst/>
          </a:prstGeom>
          <a:noFill/>
          <a:ln w="22225">
            <a:solidFill>
              <a:srgbClr val="2B4F8C"/>
            </a:solidFill>
            <a:prstDash val="solid"/>
            <a:tailEnd type="triangle"/>
          </a:ln>
        </p:spPr>
      </p:sp>
      <p:sp>
        <p:nvSpPr>
          <p:cNvPr id="77" name="Shape 72"/>
          <p:cNvSpPr/>
          <p:nvPr/>
        </p:nvSpPr>
        <p:spPr>
          <a:xfrm>
            <a:off x="8503920" y="5637276"/>
            <a:ext cx="164592" cy="0"/>
          </a:xfrm>
          <a:prstGeom prst="line">
            <a:avLst/>
          </a:prstGeom>
          <a:noFill/>
          <a:ln w="22225">
            <a:solidFill>
              <a:srgbClr val="2B4F8C"/>
            </a:solidFill>
            <a:prstDash val="solid"/>
            <a:tailEnd type="triangle"/>
          </a:ln>
        </p:spPr>
      </p:sp>
      <p:sp>
        <p:nvSpPr>
          <p:cNvPr id="78" name="Text 73"/>
          <p:cNvSpPr txBox="1"/>
          <p:nvPr/>
        </p:nvSpPr>
        <p:spPr>
          <a:xfrm>
            <a:off x="8119872" y="4956048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</a:t>
            </a:r>
            <a:endParaRPr lang="en-US" sz="1000" dirty="0"/>
          </a:p>
        </p:txBody>
      </p:sp>
      <p:sp>
        <p:nvSpPr>
          <p:cNvPr id="79" name="Text 74"/>
          <p:cNvSpPr txBox="1"/>
          <p:nvPr/>
        </p:nvSpPr>
        <p:spPr>
          <a:xfrm>
            <a:off x="8119872" y="5509260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</a:t>
            </a:r>
            <a:endParaRPr lang="en-US" sz="1000" dirty="0"/>
          </a:p>
        </p:txBody>
      </p:sp>
      <p:sp>
        <p:nvSpPr>
          <p:cNvPr id="80" name="Shape 75"/>
          <p:cNvSpPr/>
          <p:nvPr/>
        </p:nvSpPr>
        <p:spPr>
          <a:xfrm>
            <a:off x="8668512" y="1115568"/>
            <a:ext cx="3246120" cy="530352"/>
          </a:xfrm>
          <a:prstGeom prst="roundRect">
            <a:avLst>
              <a:gd name="adj" fmla="val 10345"/>
            </a:avLst>
          </a:prstGeom>
          <a:solidFill>
            <a:srgbClr val="FCF2E9"/>
          </a:solidFill>
          <a:ln w="15875">
            <a:solidFill>
              <a:srgbClr val="E07A1F"/>
            </a:solidFill>
            <a:prstDash val="solid"/>
          </a:ln>
        </p:spPr>
      </p:sp>
      <p:sp>
        <p:nvSpPr>
          <p:cNvPr id="81" name="Shape 76"/>
          <p:cNvSpPr/>
          <p:nvPr/>
        </p:nvSpPr>
        <p:spPr>
          <a:xfrm>
            <a:off x="8741664" y="1170432"/>
            <a:ext cx="420624" cy="420624"/>
          </a:xfrm>
          <a:prstGeom prst="ellipse">
            <a:avLst/>
          </a:prstGeom>
          <a:solidFill>
            <a:srgbClr val="E07A1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2" name="Text 77"/>
          <p:cNvSpPr txBox="1"/>
          <p:nvPr/>
        </p:nvSpPr>
        <p:spPr>
          <a:xfrm>
            <a:off x="8741664" y="11704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83" name="Text 78"/>
          <p:cNvSpPr txBox="1"/>
          <p:nvPr/>
        </p:nvSpPr>
        <p:spPr>
          <a:xfrm>
            <a:off x="9235440" y="1115568"/>
            <a:ext cx="1143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 A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etapas · 3 regras</a:t>
            </a:r>
            <a:endParaRPr lang="en-US" sz="1200" dirty="0"/>
          </a:p>
        </p:txBody>
      </p:sp>
      <p:sp>
        <p:nvSpPr>
          <p:cNvPr id="84" name="Text 79"/>
          <p:cNvSpPr txBox="1"/>
          <p:nvPr/>
        </p:nvSpPr>
        <p:spPr>
          <a:xfrm>
            <a:off x="10405872" y="1115568"/>
            <a:ext cx="14538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Compliance + DHO</a:t>
            </a:r>
            <a:endParaRPr lang="en-US" sz="850" dirty="0"/>
          </a:p>
        </p:txBody>
      </p:sp>
      <p:sp>
        <p:nvSpPr>
          <p:cNvPr id="85" name="Shape 80"/>
          <p:cNvSpPr/>
          <p:nvPr/>
        </p:nvSpPr>
        <p:spPr>
          <a:xfrm>
            <a:off x="8668512" y="1723644"/>
            <a:ext cx="3246120" cy="530352"/>
          </a:xfrm>
          <a:prstGeom prst="roundRect">
            <a:avLst>
              <a:gd name="adj" fmla="val 10345"/>
            </a:avLst>
          </a:prstGeom>
          <a:solidFill>
            <a:srgbClr val="F9EBEA"/>
          </a:solidFill>
          <a:ln w="15875">
            <a:solidFill>
              <a:srgbClr val="C0392B"/>
            </a:solidFill>
            <a:prstDash val="solid"/>
          </a:ln>
        </p:spPr>
      </p:sp>
      <p:sp>
        <p:nvSpPr>
          <p:cNvPr id="86" name="Shape 81"/>
          <p:cNvSpPr/>
          <p:nvPr/>
        </p:nvSpPr>
        <p:spPr>
          <a:xfrm>
            <a:off x="8741664" y="1778508"/>
            <a:ext cx="420624" cy="420624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7" name="Text 82"/>
          <p:cNvSpPr txBox="1"/>
          <p:nvPr/>
        </p:nvSpPr>
        <p:spPr>
          <a:xfrm>
            <a:off x="8741664" y="17785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600" dirty="0"/>
          </a:p>
        </p:txBody>
      </p:sp>
      <p:sp>
        <p:nvSpPr>
          <p:cNvPr id="88" name="Text 83"/>
          <p:cNvSpPr txBox="1"/>
          <p:nvPr/>
        </p:nvSpPr>
        <p:spPr>
          <a:xfrm>
            <a:off x="9235440" y="1723644"/>
            <a:ext cx="1143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 E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etapas · 3 regras</a:t>
            </a:r>
            <a:endParaRPr lang="en-US" sz="1200" dirty="0"/>
          </a:p>
        </p:txBody>
      </p:sp>
      <p:sp>
        <p:nvSpPr>
          <p:cNvPr id="89" name="Text 84"/>
          <p:cNvSpPr txBox="1"/>
          <p:nvPr/>
        </p:nvSpPr>
        <p:spPr>
          <a:xfrm>
            <a:off x="10405872" y="1723644"/>
            <a:ext cx="14538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Compliance + DHO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Gestor Atual</a:t>
            </a:r>
            <a:endParaRPr lang="en-US" sz="850" dirty="0"/>
          </a:p>
        </p:txBody>
      </p:sp>
      <p:sp>
        <p:nvSpPr>
          <p:cNvPr id="90" name="Shape 85"/>
          <p:cNvSpPr/>
          <p:nvPr/>
        </p:nvSpPr>
        <p:spPr>
          <a:xfrm>
            <a:off x="8668512" y="2331720"/>
            <a:ext cx="3246120" cy="530352"/>
          </a:xfrm>
          <a:prstGeom prst="roundRect">
            <a:avLst>
              <a:gd name="adj" fmla="val 10345"/>
            </a:avLst>
          </a:prstGeom>
          <a:solidFill>
            <a:srgbClr val="E9EFF6"/>
          </a:solidFill>
          <a:ln w="15875">
            <a:solidFill>
              <a:srgbClr val="1F5AA6"/>
            </a:solidFill>
            <a:prstDash val="solid"/>
          </a:ln>
        </p:spPr>
      </p:sp>
      <p:sp>
        <p:nvSpPr>
          <p:cNvPr id="91" name="Shape 86"/>
          <p:cNvSpPr/>
          <p:nvPr/>
        </p:nvSpPr>
        <p:spPr>
          <a:xfrm>
            <a:off x="8741664" y="2386584"/>
            <a:ext cx="420624" cy="420624"/>
          </a:xfrm>
          <a:prstGeom prst="ellipse">
            <a:avLst/>
          </a:prstGeom>
          <a:solidFill>
            <a:srgbClr val="1F5AA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2" name="Text 87"/>
          <p:cNvSpPr txBox="1"/>
          <p:nvPr/>
        </p:nvSpPr>
        <p:spPr>
          <a:xfrm>
            <a:off x="8741664" y="23865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3" name="Text 88"/>
          <p:cNvSpPr txBox="1"/>
          <p:nvPr/>
        </p:nvSpPr>
        <p:spPr>
          <a:xfrm>
            <a:off x="9235440" y="2331720"/>
            <a:ext cx="1143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 B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etapas · 15 regras</a:t>
            </a:r>
            <a:endParaRPr lang="en-US" sz="1200" dirty="0"/>
          </a:p>
        </p:txBody>
      </p:sp>
      <p:sp>
        <p:nvSpPr>
          <p:cNvPr id="94" name="Text 89"/>
          <p:cNvSpPr txBox="1"/>
          <p:nvPr/>
        </p:nvSpPr>
        <p:spPr>
          <a:xfrm>
            <a:off x="10405872" y="2331720"/>
            <a:ext cx="14538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Compliance + DHO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Cópia Controladoria + Folha</a:t>
            </a:r>
            <a:endParaRPr lang="en-US" sz="850" dirty="0"/>
          </a:p>
        </p:txBody>
      </p:sp>
      <p:sp>
        <p:nvSpPr>
          <p:cNvPr id="95" name="Shape 90"/>
          <p:cNvSpPr/>
          <p:nvPr/>
        </p:nvSpPr>
        <p:spPr>
          <a:xfrm>
            <a:off x="8668512" y="2939796"/>
            <a:ext cx="3246120" cy="530352"/>
          </a:xfrm>
          <a:prstGeom prst="roundRect">
            <a:avLst>
              <a:gd name="adj" fmla="val 10345"/>
            </a:avLst>
          </a:prstGeom>
          <a:solidFill>
            <a:srgbClr val="E7F4F4"/>
          </a:solidFill>
          <a:ln w="15875">
            <a:solidFill>
              <a:srgbClr val="0E8C8C"/>
            </a:solidFill>
            <a:prstDash val="solid"/>
          </a:ln>
        </p:spPr>
      </p:sp>
      <p:sp>
        <p:nvSpPr>
          <p:cNvPr id="96" name="Shape 91"/>
          <p:cNvSpPr/>
          <p:nvPr/>
        </p:nvSpPr>
        <p:spPr>
          <a:xfrm>
            <a:off x="8741664" y="2994660"/>
            <a:ext cx="420624" cy="420624"/>
          </a:xfrm>
          <a:prstGeom prst="ellipse">
            <a:avLst/>
          </a:prstGeom>
          <a:solidFill>
            <a:srgbClr val="0E8C8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7" name="Text 92"/>
          <p:cNvSpPr txBox="1"/>
          <p:nvPr/>
        </p:nvSpPr>
        <p:spPr>
          <a:xfrm>
            <a:off x="8741664" y="29946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600" dirty="0"/>
          </a:p>
        </p:txBody>
      </p:sp>
      <p:sp>
        <p:nvSpPr>
          <p:cNvPr id="98" name="Text 93"/>
          <p:cNvSpPr txBox="1"/>
          <p:nvPr/>
        </p:nvSpPr>
        <p:spPr>
          <a:xfrm>
            <a:off x="9235440" y="2939796"/>
            <a:ext cx="1143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 F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etapas · 15 regras</a:t>
            </a:r>
            <a:endParaRPr lang="en-US" sz="1200" dirty="0"/>
          </a:p>
        </p:txBody>
      </p:sp>
      <p:sp>
        <p:nvSpPr>
          <p:cNvPr id="99" name="Text 94"/>
          <p:cNvSpPr txBox="1"/>
          <p:nvPr/>
        </p:nvSpPr>
        <p:spPr>
          <a:xfrm>
            <a:off x="10405872" y="2939796"/>
            <a:ext cx="14538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Compliance + DHO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Cópia Controladoria + Folha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Gestor Atual</a:t>
            </a:r>
            <a:endParaRPr lang="en-US" sz="850" dirty="0"/>
          </a:p>
        </p:txBody>
      </p:sp>
      <p:sp>
        <p:nvSpPr>
          <p:cNvPr id="100" name="Shape 95"/>
          <p:cNvSpPr/>
          <p:nvPr/>
        </p:nvSpPr>
        <p:spPr>
          <a:xfrm>
            <a:off x="8668512" y="3547872"/>
            <a:ext cx="3246120" cy="530352"/>
          </a:xfrm>
          <a:prstGeom prst="roundRect">
            <a:avLst>
              <a:gd name="adj" fmla="val 10345"/>
            </a:avLst>
          </a:prstGeom>
          <a:solidFill>
            <a:srgbClr val="EAF3EC"/>
          </a:solidFill>
          <a:ln w="15875">
            <a:solidFill>
              <a:srgbClr val="2E8B3E"/>
            </a:solidFill>
            <a:prstDash val="solid"/>
          </a:ln>
        </p:spPr>
      </p:sp>
      <p:sp>
        <p:nvSpPr>
          <p:cNvPr id="101" name="Shape 96"/>
          <p:cNvSpPr/>
          <p:nvPr/>
        </p:nvSpPr>
        <p:spPr>
          <a:xfrm>
            <a:off x="8741664" y="3602736"/>
            <a:ext cx="420624" cy="420624"/>
          </a:xfrm>
          <a:prstGeom prst="ellipse">
            <a:avLst/>
          </a:prstGeom>
          <a:solidFill>
            <a:srgbClr val="2E8B3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2" name="Text 97"/>
          <p:cNvSpPr txBox="1"/>
          <p:nvPr/>
        </p:nvSpPr>
        <p:spPr>
          <a:xfrm>
            <a:off x="8741664" y="3602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03" name="Text 98"/>
          <p:cNvSpPr txBox="1"/>
          <p:nvPr/>
        </p:nvSpPr>
        <p:spPr>
          <a:xfrm>
            <a:off x="9235440" y="3547872"/>
            <a:ext cx="1143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 C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etapas · 12 regras</a:t>
            </a:r>
            <a:endParaRPr lang="en-US" sz="1200" dirty="0"/>
          </a:p>
        </p:txBody>
      </p:sp>
      <p:sp>
        <p:nvSpPr>
          <p:cNvPr id="104" name="Text 99"/>
          <p:cNvSpPr txBox="1"/>
          <p:nvPr/>
        </p:nvSpPr>
        <p:spPr>
          <a:xfrm>
            <a:off x="10405872" y="3547872"/>
            <a:ext cx="14538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 base</a:t>
            </a:r>
            <a:endParaRPr lang="en-US" sz="850" dirty="0"/>
          </a:p>
        </p:txBody>
      </p:sp>
      <p:sp>
        <p:nvSpPr>
          <p:cNvPr id="105" name="Shape 100"/>
          <p:cNvSpPr/>
          <p:nvPr/>
        </p:nvSpPr>
        <p:spPr>
          <a:xfrm>
            <a:off x="8668512" y="4155948"/>
            <a:ext cx="3246120" cy="530352"/>
          </a:xfrm>
          <a:prstGeom prst="roundRect">
            <a:avLst>
              <a:gd name="adj" fmla="val 10345"/>
            </a:avLst>
          </a:prstGeom>
          <a:solidFill>
            <a:srgbClr val="F1F3E8"/>
          </a:solidFill>
          <a:ln w="15875">
            <a:solidFill>
              <a:srgbClr val="6E8A1A"/>
            </a:solidFill>
            <a:prstDash val="solid"/>
          </a:ln>
        </p:spPr>
      </p:sp>
      <p:sp>
        <p:nvSpPr>
          <p:cNvPr id="106" name="Shape 101"/>
          <p:cNvSpPr/>
          <p:nvPr/>
        </p:nvSpPr>
        <p:spPr>
          <a:xfrm>
            <a:off x="8741664" y="4210812"/>
            <a:ext cx="420624" cy="420624"/>
          </a:xfrm>
          <a:prstGeom prst="ellipse">
            <a:avLst/>
          </a:prstGeom>
          <a:solidFill>
            <a:srgbClr val="6E8A1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7" name="Text 102"/>
          <p:cNvSpPr txBox="1"/>
          <p:nvPr/>
        </p:nvSpPr>
        <p:spPr>
          <a:xfrm>
            <a:off x="8741664" y="42108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600" dirty="0"/>
          </a:p>
        </p:txBody>
      </p:sp>
      <p:sp>
        <p:nvSpPr>
          <p:cNvPr id="108" name="Text 103"/>
          <p:cNvSpPr txBox="1"/>
          <p:nvPr/>
        </p:nvSpPr>
        <p:spPr>
          <a:xfrm>
            <a:off x="9235440" y="4155948"/>
            <a:ext cx="1143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8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 G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etapas · 12 regras</a:t>
            </a:r>
            <a:endParaRPr lang="en-US" sz="1200" dirty="0"/>
          </a:p>
        </p:txBody>
      </p:sp>
      <p:sp>
        <p:nvSpPr>
          <p:cNvPr id="109" name="Text 104"/>
          <p:cNvSpPr txBox="1"/>
          <p:nvPr/>
        </p:nvSpPr>
        <p:spPr>
          <a:xfrm>
            <a:off x="10405872" y="4155948"/>
            <a:ext cx="14538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Gestor Atual</a:t>
            </a:r>
            <a:endParaRPr lang="en-US" sz="850" dirty="0"/>
          </a:p>
        </p:txBody>
      </p:sp>
      <p:sp>
        <p:nvSpPr>
          <p:cNvPr id="110" name="Shape 105"/>
          <p:cNvSpPr/>
          <p:nvPr/>
        </p:nvSpPr>
        <p:spPr>
          <a:xfrm>
            <a:off x="8668512" y="4764024"/>
            <a:ext cx="3246120" cy="530352"/>
          </a:xfrm>
          <a:prstGeom prst="roundRect">
            <a:avLst>
              <a:gd name="adj" fmla="val 10345"/>
            </a:avLst>
          </a:prstGeom>
          <a:solidFill>
            <a:srgbClr val="F0ECF6"/>
          </a:solidFill>
          <a:ln w="15875">
            <a:solidFill>
              <a:srgbClr val="6B3FA0"/>
            </a:solidFill>
            <a:prstDash val="solid"/>
          </a:ln>
        </p:spPr>
      </p:sp>
      <p:sp>
        <p:nvSpPr>
          <p:cNvPr id="111" name="Shape 106"/>
          <p:cNvSpPr/>
          <p:nvPr/>
        </p:nvSpPr>
        <p:spPr>
          <a:xfrm>
            <a:off x="8741664" y="4818888"/>
            <a:ext cx="420624" cy="420624"/>
          </a:xfrm>
          <a:prstGeom prst="ellipse">
            <a:avLst/>
          </a:prstGeom>
          <a:solidFill>
            <a:srgbClr val="6B3FA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2" name="Text 107"/>
          <p:cNvSpPr txBox="1"/>
          <p:nvPr/>
        </p:nvSpPr>
        <p:spPr>
          <a:xfrm>
            <a:off x="8741664" y="4818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13" name="Text 108"/>
          <p:cNvSpPr txBox="1"/>
          <p:nvPr/>
        </p:nvSpPr>
        <p:spPr>
          <a:xfrm>
            <a:off x="9235440" y="4764024"/>
            <a:ext cx="1143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 D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etapas · 12 regras</a:t>
            </a:r>
            <a:endParaRPr lang="en-US" sz="1200" dirty="0"/>
          </a:p>
        </p:txBody>
      </p:sp>
      <p:sp>
        <p:nvSpPr>
          <p:cNvPr id="114" name="Text 109"/>
          <p:cNvSpPr txBox="1"/>
          <p:nvPr/>
        </p:nvSpPr>
        <p:spPr>
          <a:xfrm>
            <a:off x="10405872" y="4764024"/>
            <a:ext cx="14538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Cópia Controladoria + Folha</a:t>
            </a:r>
            <a:endParaRPr lang="en-US" sz="850" dirty="0"/>
          </a:p>
        </p:txBody>
      </p:sp>
      <p:sp>
        <p:nvSpPr>
          <p:cNvPr id="115" name="Shape 110"/>
          <p:cNvSpPr/>
          <p:nvPr/>
        </p:nvSpPr>
        <p:spPr>
          <a:xfrm>
            <a:off x="8668512" y="5372100"/>
            <a:ext cx="3246120" cy="530352"/>
          </a:xfrm>
          <a:prstGeom prst="roundRect">
            <a:avLst>
              <a:gd name="adj" fmla="val 10345"/>
            </a:avLst>
          </a:prstGeom>
          <a:solidFill>
            <a:srgbClr val="F6EBF2"/>
          </a:solidFill>
          <a:ln w="15875">
            <a:solidFill>
              <a:srgbClr val="A8327F"/>
            </a:solidFill>
            <a:prstDash val="solid"/>
          </a:ln>
        </p:spPr>
      </p:sp>
      <p:sp>
        <p:nvSpPr>
          <p:cNvPr id="116" name="Shape 111"/>
          <p:cNvSpPr/>
          <p:nvPr/>
        </p:nvSpPr>
        <p:spPr>
          <a:xfrm>
            <a:off x="8741664" y="5426964"/>
            <a:ext cx="420624" cy="420624"/>
          </a:xfrm>
          <a:prstGeom prst="ellipse">
            <a:avLst/>
          </a:prstGeom>
          <a:solidFill>
            <a:srgbClr val="A8327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7" name="Text 112"/>
          <p:cNvSpPr txBox="1"/>
          <p:nvPr/>
        </p:nvSpPr>
        <p:spPr>
          <a:xfrm>
            <a:off x="8741664" y="54269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endParaRPr lang="en-US" sz="1600" dirty="0"/>
          </a:p>
        </p:txBody>
      </p:sp>
      <p:sp>
        <p:nvSpPr>
          <p:cNvPr id="118" name="Text 113"/>
          <p:cNvSpPr txBox="1"/>
          <p:nvPr/>
        </p:nvSpPr>
        <p:spPr>
          <a:xfrm>
            <a:off x="9235440" y="5372100"/>
            <a:ext cx="1143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83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 H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etapas · 12 regras</a:t>
            </a:r>
            <a:endParaRPr lang="en-US" sz="1200" dirty="0"/>
          </a:p>
        </p:txBody>
      </p:sp>
      <p:sp>
        <p:nvSpPr>
          <p:cNvPr id="119" name="Text 114"/>
          <p:cNvSpPr txBox="1"/>
          <p:nvPr/>
        </p:nvSpPr>
        <p:spPr>
          <a:xfrm>
            <a:off x="10405872" y="5372100"/>
            <a:ext cx="14538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Cópia Controladoria + Folha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Gestor Atual</a:t>
            </a:r>
            <a:endParaRPr lang="en-US" sz="850" dirty="0"/>
          </a:p>
        </p:txBody>
      </p:sp>
      <p:sp>
        <p:nvSpPr>
          <p:cNvPr id="120" name="Shape 115"/>
          <p:cNvSpPr/>
          <p:nvPr/>
        </p:nvSpPr>
        <p:spPr>
          <a:xfrm>
            <a:off x="320040" y="5925312"/>
            <a:ext cx="7818120" cy="749808"/>
          </a:xfrm>
          <a:prstGeom prst="roundRect">
            <a:avLst>
              <a:gd name="adj" fmla="val 6098"/>
            </a:avLst>
          </a:prstGeom>
          <a:solidFill>
            <a:srgbClr val="E9F0F9"/>
          </a:solidFill>
          <a:ln w="12700">
            <a:solidFill>
              <a:srgbClr val="C9D6EA"/>
            </a:solidFill>
            <a:prstDash val="solid"/>
          </a:ln>
        </p:spPr>
      </p:sp>
      <p:sp>
        <p:nvSpPr>
          <p:cNvPr id="121" name="Shape 116"/>
          <p:cNvSpPr/>
          <p:nvPr/>
        </p:nvSpPr>
        <p:spPr>
          <a:xfrm>
            <a:off x="457200" y="6053328"/>
            <a:ext cx="475488" cy="475488"/>
          </a:xfrm>
          <a:prstGeom prst="ellipse">
            <a:avLst/>
          </a:prstGeom>
          <a:solidFill>
            <a:srgbClr val="123C7A"/>
          </a:solidFill>
          <a:ln w="12700">
            <a:solidFill>
              <a:srgbClr val="123C7A"/>
            </a:solidFill>
            <a:prstDash val="solid"/>
          </a:ln>
        </p:spPr>
      </p:sp>
      <p:pic>
        <p:nvPicPr>
          <p:cNvPr id="1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6190488"/>
            <a:ext cx="201168" cy="201168"/>
          </a:xfrm>
          <a:prstGeom prst="rect">
            <a:avLst/>
          </a:prstGeom>
        </p:spPr>
      </p:pic>
      <p:sp>
        <p:nvSpPr>
          <p:cNvPr id="123" name="Text 117"/>
          <p:cNvSpPr txBox="1"/>
          <p:nvPr/>
        </p:nvSpPr>
        <p:spPr>
          <a:xfrm>
            <a:off x="1051560" y="5943600"/>
            <a:ext cx="6995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23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IMPORTANTE: </a:t>
            </a:r>
            <a:pPr indent="0" marL="0"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diferentes da matriz podem resultar na mesma rota. Todas as regras com a mesma letra (A a H) convergem para um único caminho. </a:t>
            </a:r>
            <a:pPr indent="0" marL="0"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 filial?, Muda setor? e a natureza do cargo atual não alteram a rota.</a:t>
            </a:r>
            <a:endParaRPr lang="en-US" sz="1000" dirty="0"/>
          </a:p>
        </p:txBody>
      </p:sp>
      <p:sp>
        <p:nvSpPr>
          <p:cNvPr id="124" name="Shape 118"/>
          <p:cNvSpPr/>
          <p:nvPr/>
        </p:nvSpPr>
        <p:spPr>
          <a:xfrm>
            <a:off x="8321040" y="5925312"/>
            <a:ext cx="3593592" cy="749808"/>
          </a:xfrm>
          <a:prstGeom prst="roundRect">
            <a:avLst>
              <a:gd name="adj" fmla="val 6098"/>
            </a:avLst>
          </a:prstGeom>
          <a:solidFill>
            <a:srgbClr val="FFFFFF"/>
          </a:solidFill>
          <a:ln w="12700">
            <a:solidFill>
              <a:srgbClr val="C9D6EA"/>
            </a:solidFill>
            <a:prstDash val="solid"/>
          </a:ln>
        </p:spPr>
      </p:sp>
      <p:sp>
        <p:nvSpPr>
          <p:cNvPr id="125" name="Text 119"/>
          <p:cNvSpPr txBox="1"/>
          <p:nvPr/>
        </p:nvSpPr>
        <p:spPr>
          <a:xfrm>
            <a:off x="8412480" y="594360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3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LEGENDA</a:t>
            </a:r>
            <a:endParaRPr lang="en-US" sz="850" dirty="0"/>
          </a:p>
        </p:txBody>
      </p:sp>
      <p:sp>
        <p:nvSpPr>
          <p:cNvPr id="126" name="Shape 120"/>
          <p:cNvSpPr/>
          <p:nvPr/>
        </p:nvSpPr>
        <p:spPr>
          <a:xfrm>
            <a:off x="8430768" y="6199632"/>
            <a:ext cx="384048" cy="329184"/>
          </a:xfrm>
          <a:prstGeom prst="diamond">
            <a:avLst/>
          </a:prstGeom>
          <a:solidFill>
            <a:srgbClr val="D6E4F5"/>
          </a:solidFill>
          <a:ln w="12700">
            <a:solidFill>
              <a:srgbClr val="2B4F8C"/>
            </a:solidFill>
            <a:prstDash val="solid"/>
          </a:ln>
        </p:spPr>
      </p:sp>
      <p:sp>
        <p:nvSpPr>
          <p:cNvPr id="127" name="Text 121"/>
          <p:cNvSpPr txBox="1"/>
          <p:nvPr/>
        </p:nvSpPr>
        <p:spPr>
          <a:xfrm>
            <a:off x="8851392" y="619963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</a:t>
            </a:r>
            <a:endParaRPr lang="en-US" sz="900" dirty="0"/>
          </a:p>
        </p:txBody>
      </p:sp>
      <p:sp>
        <p:nvSpPr>
          <p:cNvPr id="128" name="Shape 122"/>
          <p:cNvSpPr/>
          <p:nvPr/>
        </p:nvSpPr>
        <p:spPr>
          <a:xfrm>
            <a:off x="9418320" y="6227064"/>
            <a:ext cx="365760" cy="274320"/>
          </a:xfrm>
          <a:prstGeom prst="roundRect">
            <a:avLst>
              <a:gd name="adj" fmla="val 13333"/>
            </a:avLst>
          </a:prstGeom>
          <a:solidFill>
            <a:srgbClr val="E9F0F9"/>
          </a:solidFill>
          <a:ln w="12700">
            <a:solidFill>
              <a:srgbClr val="C9D6EA"/>
            </a:solidFill>
            <a:prstDash val="solid"/>
          </a:ln>
        </p:spPr>
      </p:sp>
      <p:sp>
        <p:nvSpPr>
          <p:cNvPr id="129" name="Text 123"/>
          <p:cNvSpPr txBox="1"/>
          <p:nvPr/>
        </p:nvSpPr>
        <p:spPr>
          <a:xfrm>
            <a:off x="9820656" y="6199632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</a:t>
            </a:r>
            <a:endParaRPr lang="en-US" sz="900" dirty="0"/>
          </a:p>
        </p:txBody>
      </p:sp>
      <p:sp>
        <p:nvSpPr>
          <p:cNvPr id="130" name="Shape 124"/>
          <p:cNvSpPr/>
          <p:nvPr/>
        </p:nvSpPr>
        <p:spPr>
          <a:xfrm>
            <a:off x="10287000" y="6254496"/>
            <a:ext cx="384048" cy="219456"/>
          </a:xfrm>
          <a:prstGeom prst="roundRect">
            <a:avLst>
              <a:gd name="adj" fmla="val 50000"/>
            </a:avLst>
          </a:prstGeom>
          <a:solidFill>
            <a:srgbClr val="2E8B3E"/>
          </a:solidFill>
          <a:ln w="12700">
            <a:solidFill>
              <a:srgbClr val="2E8B3E"/>
            </a:solidFill>
            <a:prstDash val="solid"/>
          </a:ln>
        </p:spPr>
      </p:sp>
      <p:sp>
        <p:nvSpPr>
          <p:cNvPr id="131" name="Text 125"/>
          <p:cNvSpPr txBox="1"/>
          <p:nvPr/>
        </p:nvSpPr>
        <p:spPr>
          <a:xfrm>
            <a:off x="10698480" y="6199632"/>
            <a:ext cx="411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</a:t>
            </a:r>
            <a:endParaRPr lang="en-US" sz="900" dirty="0"/>
          </a:p>
        </p:txBody>
      </p:sp>
      <p:sp>
        <p:nvSpPr>
          <p:cNvPr id="132" name="Shape 126"/>
          <p:cNvSpPr/>
          <p:nvPr/>
        </p:nvSpPr>
        <p:spPr>
          <a:xfrm>
            <a:off x="11155680" y="6227064"/>
            <a:ext cx="274320" cy="274320"/>
          </a:xfrm>
          <a:prstGeom prst="ellipse">
            <a:avLst/>
          </a:prstGeom>
          <a:solidFill>
            <a:srgbClr val="123C7A"/>
          </a:solidFill>
          <a:ln w="12700">
            <a:solidFill>
              <a:srgbClr val="123C7A"/>
            </a:solidFill>
            <a:prstDash val="solid"/>
          </a:ln>
        </p:spPr>
      </p:sp>
      <p:sp>
        <p:nvSpPr>
          <p:cNvPr id="133" name="Text 127"/>
          <p:cNvSpPr txBox="1"/>
          <p:nvPr/>
        </p:nvSpPr>
        <p:spPr>
          <a:xfrm>
            <a:off x="11466576" y="6199632"/>
            <a:ext cx="411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82880"/>
            <a:ext cx="11640312" cy="749808"/>
          </a:xfrm>
          <a:prstGeom prst="roundRect">
            <a:avLst>
              <a:gd name="adj" fmla="val 7317"/>
            </a:avLst>
          </a:prstGeom>
          <a:solidFill>
            <a:srgbClr val="123C7A"/>
          </a:solidFill>
          <a:ln w="12700">
            <a:solidFill>
              <a:srgbClr val="123C7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219456"/>
            <a:ext cx="116403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ROTAS DE APROVAÇÃO – SEM ALTERAÇÃO DE GESTOR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274320" y="585216"/>
            <a:ext cx="11640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ROTAS A · B · C · 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325880"/>
            <a:ext cx="2788920" cy="4818888"/>
          </a:xfrm>
          <a:prstGeom prst="roundRect">
            <a:avLst>
              <a:gd name="adj" fmla="val 1967"/>
            </a:avLst>
          </a:prstGeom>
          <a:solidFill>
            <a:srgbClr val="FDF6EF"/>
          </a:solidFill>
          <a:ln w="12700">
            <a:solidFill>
              <a:srgbClr val="F1C39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1325880"/>
            <a:ext cx="2788920" cy="420624"/>
          </a:xfrm>
          <a:prstGeom prst="roundRect">
            <a:avLst>
              <a:gd name="adj" fmla="val 13043"/>
            </a:avLst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1600200"/>
            <a:ext cx="2788920" cy="146304"/>
          </a:xfrm>
          <a:prstGeom prst="rect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21892" y="1005840"/>
            <a:ext cx="493776" cy="493776"/>
          </a:xfrm>
          <a:prstGeom prst="ellipse">
            <a:avLst/>
          </a:prstGeom>
          <a:solidFill>
            <a:srgbClr val="E07A1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21892" y="100584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11480" y="1344168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 A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011680" y="134416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regras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1828800"/>
            <a:ext cx="2606040" cy="987552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F3CAA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8912" y="1865376"/>
            <a:ext cx="2459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E07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SE APLICA</a:t>
            </a:r>
            <a:endParaRPr lang="en-US" sz="8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Evento: </a:t>
            </a:r>
            <a:pPr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Promoção (Liderança)</a:t>
            </a:r>
            <a:endParaRPr lang="en-US" sz="8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Mão de obra destino: </a:t>
            </a:r>
            <a:pPr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</a:t>
            </a:r>
            <a:endParaRPr lang="en-US" sz="8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Altera gestor: </a:t>
            </a:r>
            <a:pPr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384048" y="2907792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90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949854"/>
            <a:ext cx="182880" cy="18288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877824" y="2907792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CARREIRA E RECOMPENSA</a:t>
            </a:r>
            <a:endParaRPr 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2194560" y="2953512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APROVADOR</a:t>
            </a:r>
            <a:endParaRPr lang="en-US" sz="700" dirty="0"/>
          </a:p>
        </p:txBody>
      </p:sp>
      <p:sp>
        <p:nvSpPr>
          <p:cNvPr id="18" name="Shape 15"/>
          <p:cNvSpPr/>
          <p:nvPr/>
        </p:nvSpPr>
        <p:spPr>
          <a:xfrm>
            <a:off x="347472" y="3183941"/>
            <a:ext cx="2642616" cy="248717"/>
          </a:xfrm>
          <a:prstGeom prst="roundRect">
            <a:avLst>
              <a:gd name="adj" fmla="val 11029"/>
            </a:avLst>
          </a:prstGeom>
          <a:solidFill>
            <a:srgbClr val="FFF1CC"/>
          </a:solidFill>
          <a:ln w="6350">
            <a:solidFill>
              <a:srgbClr val="F2D27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84048" y="3174797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9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16859"/>
            <a:ext cx="182880" cy="18288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877824" y="3174797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850" dirty="0"/>
          </a:p>
        </p:txBody>
      </p:sp>
      <p:sp>
        <p:nvSpPr>
          <p:cNvPr id="22" name="Text 18"/>
          <p:cNvSpPr txBox="1"/>
          <p:nvPr/>
        </p:nvSpPr>
        <p:spPr>
          <a:xfrm>
            <a:off x="2194560" y="3220517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APROVADOR</a:t>
            </a:r>
            <a:endParaRPr lang="en-US" sz="700" dirty="0"/>
          </a:p>
        </p:txBody>
      </p:sp>
      <p:sp>
        <p:nvSpPr>
          <p:cNvPr id="23" name="Shape 19"/>
          <p:cNvSpPr/>
          <p:nvPr/>
        </p:nvSpPr>
        <p:spPr>
          <a:xfrm>
            <a:off x="347472" y="3450946"/>
            <a:ext cx="2642616" cy="248717"/>
          </a:xfrm>
          <a:prstGeom prst="roundRect">
            <a:avLst>
              <a:gd name="adj" fmla="val 11029"/>
            </a:avLst>
          </a:prstGeom>
          <a:solidFill>
            <a:srgbClr val="FFF1CC"/>
          </a:solidFill>
          <a:ln w="6350">
            <a:solidFill>
              <a:srgbClr val="F2D27A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384048" y="3441802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900" dirty="0"/>
          </a:p>
        </p:txBody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483864"/>
            <a:ext cx="182880" cy="18288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877824" y="3441802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DESENV. HUMANO ORGANIZACIONAL</a:t>
            </a:r>
            <a:endParaRPr lang="en-US" sz="750" dirty="0"/>
          </a:p>
        </p:txBody>
      </p:sp>
      <p:sp>
        <p:nvSpPr>
          <p:cNvPr id="27" name="Text 22"/>
          <p:cNvSpPr txBox="1"/>
          <p:nvPr/>
        </p:nvSpPr>
        <p:spPr>
          <a:xfrm>
            <a:off x="2194560" y="3487522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APROVADOR</a:t>
            </a:r>
            <a:endParaRPr lang="en-US" sz="700" dirty="0"/>
          </a:p>
        </p:txBody>
      </p:sp>
      <p:sp>
        <p:nvSpPr>
          <p:cNvPr id="28" name="Text 23"/>
          <p:cNvSpPr txBox="1"/>
          <p:nvPr/>
        </p:nvSpPr>
        <p:spPr>
          <a:xfrm>
            <a:off x="384048" y="3708806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endParaRPr lang="en-US" sz="90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750869"/>
            <a:ext cx="182880" cy="18288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77824" y="3708806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TREINAMENTO</a:t>
            </a:r>
            <a:endParaRPr lang="en-US" sz="850" dirty="0"/>
          </a:p>
        </p:txBody>
      </p:sp>
      <p:sp>
        <p:nvSpPr>
          <p:cNvPr id="31" name="Text 25"/>
          <p:cNvSpPr txBox="1"/>
          <p:nvPr/>
        </p:nvSpPr>
        <p:spPr>
          <a:xfrm>
            <a:off x="2194560" y="3754526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APROVADOR</a:t>
            </a:r>
            <a:endParaRPr lang="en-US" sz="700" dirty="0"/>
          </a:p>
        </p:txBody>
      </p:sp>
      <p:sp>
        <p:nvSpPr>
          <p:cNvPr id="32" name="Text 26"/>
          <p:cNvSpPr txBox="1"/>
          <p:nvPr/>
        </p:nvSpPr>
        <p:spPr>
          <a:xfrm>
            <a:off x="384048" y="3975811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</a:t>
            </a:r>
            <a:endParaRPr lang="en-US" sz="900" dirty="0"/>
          </a:p>
        </p:txBody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017874"/>
            <a:ext cx="182880" cy="18288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877824" y="3975811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MEDICINA</a:t>
            </a:r>
            <a:endParaRPr lang="en-US" sz="850" dirty="0"/>
          </a:p>
        </p:txBody>
      </p:sp>
      <p:sp>
        <p:nvSpPr>
          <p:cNvPr id="35" name="Text 28"/>
          <p:cNvSpPr txBox="1"/>
          <p:nvPr/>
        </p:nvSpPr>
        <p:spPr>
          <a:xfrm>
            <a:off x="2194560" y="4021531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APROVADOR</a:t>
            </a:r>
            <a:endParaRPr lang="en-US" sz="700" dirty="0"/>
          </a:p>
        </p:txBody>
      </p:sp>
      <p:sp>
        <p:nvSpPr>
          <p:cNvPr id="36" name="Text 29"/>
          <p:cNvSpPr txBox="1"/>
          <p:nvPr/>
        </p:nvSpPr>
        <p:spPr>
          <a:xfrm>
            <a:off x="384048" y="4242816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</a:t>
            </a:r>
            <a:endParaRPr lang="en-US" sz="900" dirty="0"/>
          </a:p>
        </p:txBody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4284878"/>
            <a:ext cx="182880" cy="182880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877824" y="4242816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DO TRABALHO</a:t>
            </a:r>
            <a:endParaRPr lang="en-US" sz="850" dirty="0"/>
          </a:p>
        </p:txBody>
      </p:sp>
      <p:sp>
        <p:nvSpPr>
          <p:cNvPr id="39" name="Text 31"/>
          <p:cNvSpPr txBox="1"/>
          <p:nvPr/>
        </p:nvSpPr>
        <p:spPr>
          <a:xfrm>
            <a:off x="2194560" y="4288536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APROVADOR</a:t>
            </a:r>
            <a:endParaRPr lang="en-US" sz="700" dirty="0"/>
          </a:p>
        </p:txBody>
      </p:sp>
      <p:sp>
        <p:nvSpPr>
          <p:cNvPr id="40" name="Text 32"/>
          <p:cNvSpPr txBox="1"/>
          <p:nvPr/>
        </p:nvSpPr>
        <p:spPr>
          <a:xfrm>
            <a:off x="384048" y="4509821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</a:t>
            </a:r>
            <a:endParaRPr lang="en-US" sz="900" dirty="0"/>
          </a:p>
        </p:txBody>
      </p:sp>
      <p:pic>
        <p:nvPicPr>
          <p:cNvPr id="4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4551883"/>
            <a:ext cx="182880" cy="182880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877824" y="4509821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GESTOR SOLICITANTE</a:t>
            </a:r>
            <a:endParaRPr lang="en-US" sz="850" dirty="0"/>
          </a:p>
        </p:txBody>
      </p:sp>
      <p:sp>
        <p:nvSpPr>
          <p:cNvPr id="43" name="Text 34"/>
          <p:cNvSpPr txBox="1"/>
          <p:nvPr/>
        </p:nvSpPr>
        <p:spPr>
          <a:xfrm>
            <a:off x="2194560" y="4555541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CONTRIBUINTE</a:t>
            </a:r>
            <a:endParaRPr lang="en-US" sz="700" dirty="0"/>
          </a:p>
        </p:txBody>
      </p:sp>
      <p:sp>
        <p:nvSpPr>
          <p:cNvPr id="44" name="Text 35"/>
          <p:cNvSpPr txBox="1"/>
          <p:nvPr/>
        </p:nvSpPr>
        <p:spPr>
          <a:xfrm>
            <a:off x="384048" y="4776826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</a:t>
            </a:r>
            <a:endParaRPr lang="en-US" sz="900" dirty="0"/>
          </a:p>
        </p:txBody>
      </p:sp>
      <p:pic>
        <p:nvPicPr>
          <p:cNvPr id="4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" y="4818888"/>
            <a:ext cx="182880" cy="182880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877824" y="4776826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COLABORADOR</a:t>
            </a:r>
            <a:endParaRPr lang="en-US" sz="850" dirty="0"/>
          </a:p>
        </p:txBody>
      </p:sp>
      <p:sp>
        <p:nvSpPr>
          <p:cNvPr id="47" name="Text 37"/>
          <p:cNvSpPr txBox="1"/>
          <p:nvPr/>
        </p:nvSpPr>
        <p:spPr>
          <a:xfrm>
            <a:off x="2194560" y="4822546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APROVADOR</a:t>
            </a:r>
            <a:endParaRPr lang="en-US" sz="700" dirty="0"/>
          </a:p>
        </p:txBody>
      </p:sp>
      <p:sp>
        <p:nvSpPr>
          <p:cNvPr id="48" name="Text 38"/>
          <p:cNvSpPr txBox="1"/>
          <p:nvPr/>
        </p:nvSpPr>
        <p:spPr>
          <a:xfrm>
            <a:off x="384048" y="5043830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</a:t>
            </a:r>
            <a:endParaRPr lang="en-US" sz="900" dirty="0"/>
          </a:p>
        </p:txBody>
      </p:sp>
      <p:pic>
        <p:nvPicPr>
          <p:cNvPr id="49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080" y="5085893"/>
            <a:ext cx="182880" cy="182880"/>
          </a:xfrm>
          <a:prstGeom prst="rect">
            <a:avLst/>
          </a:prstGeom>
        </p:spPr>
      </p:pic>
      <p:sp>
        <p:nvSpPr>
          <p:cNvPr id="50" name="Text 39"/>
          <p:cNvSpPr txBox="1"/>
          <p:nvPr/>
        </p:nvSpPr>
        <p:spPr>
          <a:xfrm>
            <a:off x="877824" y="5043830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CARREIRA E RECOMPENSA</a:t>
            </a:r>
            <a:endParaRPr lang="en-US" sz="850" dirty="0"/>
          </a:p>
        </p:txBody>
      </p:sp>
      <p:sp>
        <p:nvSpPr>
          <p:cNvPr id="51" name="Text 40"/>
          <p:cNvSpPr txBox="1"/>
          <p:nvPr/>
        </p:nvSpPr>
        <p:spPr>
          <a:xfrm>
            <a:off x="2194560" y="5089550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APROVADOR</a:t>
            </a:r>
            <a:endParaRPr lang="en-US" sz="700" dirty="0"/>
          </a:p>
        </p:txBody>
      </p:sp>
      <p:sp>
        <p:nvSpPr>
          <p:cNvPr id="52" name="Shape 41"/>
          <p:cNvSpPr/>
          <p:nvPr/>
        </p:nvSpPr>
        <p:spPr>
          <a:xfrm>
            <a:off x="3224784" y="1325880"/>
            <a:ext cx="2788920" cy="4818888"/>
          </a:xfrm>
          <a:prstGeom prst="roundRect">
            <a:avLst>
              <a:gd name="adj" fmla="val 1967"/>
            </a:avLst>
          </a:prstGeom>
          <a:solidFill>
            <a:srgbClr val="EFF3F9"/>
          </a:solidFill>
          <a:ln w="12700">
            <a:solidFill>
              <a:srgbClr val="9AB5D7"/>
            </a:solidFill>
            <a:prstDash val="solid"/>
          </a:ln>
        </p:spPr>
      </p:sp>
      <p:sp>
        <p:nvSpPr>
          <p:cNvPr id="53" name="Shape 42"/>
          <p:cNvSpPr/>
          <p:nvPr/>
        </p:nvSpPr>
        <p:spPr>
          <a:xfrm>
            <a:off x="3224784" y="1325880"/>
            <a:ext cx="2788920" cy="420624"/>
          </a:xfrm>
          <a:prstGeom prst="roundRect">
            <a:avLst>
              <a:gd name="adj" fmla="val 13043"/>
            </a:avLst>
          </a:prstGeom>
          <a:solidFill>
            <a:srgbClr val="1F5AA6"/>
          </a:solidFill>
          <a:ln w="12700">
            <a:solidFill>
              <a:srgbClr val="1F5AA6"/>
            </a:solidFill>
            <a:prstDash val="solid"/>
          </a:ln>
        </p:spPr>
      </p:sp>
      <p:sp>
        <p:nvSpPr>
          <p:cNvPr id="54" name="Shape 43"/>
          <p:cNvSpPr/>
          <p:nvPr/>
        </p:nvSpPr>
        <p:spPr>
          <a:xfrm>
            <a:off x="3224784" y="1600200"/>
            <a:ext cx="2788920" cy="146304"/>
          </a:xfrm>
          <a:prstGeom prst="rect">
            <a:avLst/>
          </a:prstGeom>
          <a:solidFill>
            <a:srgbClr val="1F5AA6"/>
          </a:solidFill>
          <a:ln w="12700">
            <a:solidFill>
              <a:srgbClr val="1F5AA6"/>
            </a:solidFill>
            <a:prstDash val="solid"/>
          </a:ln>
        </p:spPr>
      </p:sp>
      <p:sp>
        <p:nvSpPr>
          <p:cNvPr id="55" name="Shape 44"/>
          <p:cNvSpPr/>
          <p:nvPr/>
        </p:nvSpPr>
        <p:spPr>
          <a:xfrm>
            <a:off x="4372356" y="1005840"/>
            <a:ext cx="493776" cy="493776"/>
          </a:xfrm>
          <a:prstGeom prst="ellipse">
            <a:avLst/>
          </a:prstGeom>
          <a:solidFill>
            <a:srgbClr val="1F5AA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6" name="Text 45"/>
          <p:cNvSpPr txBox="1"/>
          <p:nvPr/>
        </p:nvSpPr>
        <p:spPr>
          <a:xfrm>
            <a:off x="4372356" y="100584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57" name="Text 46"/>
          <p:cNvSpPr txBox="1"/>
          <p:nvPr/>
        </p:nvSpPr>
        <p:spPr>
          <a:xfrm>
            <a:off x="3361944" y="1344168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 B</a:t>
            </a:r>
            <a:endParaRPr lang="en-US" sz="1400" dirty="0"/>
          </a:p>
        </p:txBody>
      </p:sp>
      <p:sp>
        <p:nvSpPr>
          <p:cNvPr id="58" name="Text 47"/>
          <p:cNvSpPr txBox="1"/>
          <p:nvPr/>
        </p:nvSpPr>
        <p:spPr>
          <a:xfrm>
            <a:off x="4962144" y="134416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regras</a:t>
            </a:r>
            <a:endParaRPr lang="en-US" sz="1000" dirty="0"/>
          </a:p>
        </p:txBody>
      </p:sp>
      <p:sp>
        <p:nvSpPr>
          <p:cNvPr id="59" name="Shape 48"/>
          <p:cNvSpPr/>
          <p:nvPr/>
        </p:nvSpPr>
        <p:spPr>
          <a:xfrm>
            <a:off x="3316224" y="1828800"/>
            <a:ext cx="2606040" cy="987552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A5BDDB"/>
            </a:solidFill>
            <a:prstDash val="solid"/>
          </a:ln>
        </p:spPr>
      </p:sp>
      <p:sp>
        <p:nvSpPr>
          <p:cNvPr id="60" name="Text 49"/>
          <p:cNvSpPr txBox="1"/>
          <p:nvPr/>
        </p:nvSpPr>
        <p:spPr>
          <a:xfrm>
            <a:off x="3389376" y="1865376"/>
            <a:ext cx="2459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SE APLICA</a:t>
            </a:r>
            <a:endParaRPr lang="en-US" sz="8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Evento: </a:t>
            </a:r>
            <a:pPr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Promoção (Cargo de confiança) · Promoção (Gestão / carreira y) · Promoção (Liderança)</a:t>
            </a:r>
            <a:endParaRPr lang="en-US" sz="8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Mão de obra destino: </a:t>
            </a:r>
            <a:pPr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</a:t>
            </a:r>
            <a:endParaRPr lang="en-US" sz="8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Altera gestor: </a:t>
            </a:r>
            <a:pPr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</a:t>
            </a:r>
            <a:endParaRPr lang="en-US" sz="850" dirty="0"/>
          </a:p>
        </p:txBody>
      </p:sp>
      <p:sp>
        <p:nvSpPr>
          <p:cNvPr id="61" name="Text 50"/>
          <p:cNvSpPr txBox="1"/>
          <p:nvPr/>
        </p:nvSpPr>
        <p:spPr>
          <a:xfrm>
            <a:off x="3334512" y="2907792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900" dirty="0"/>
          </a:p>
        </p:txBody>
      </p:sp>
      <p:pic>
        <p:nvPicPr>
          <p:cNvPr id="6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90544" y="2949854"/>
            <a:ext cx="182880" cy="182880"/>
          </a:xfrm>
          <a:prstGeom prst="rect">
            <a:avLst/>
          </a:prstGeom>
        </p:spPr>
      </p:pic>
      <p:sp>
        <p:nvSpPr>
          <p:cNvPr id="63" name="Text 51"/>
          <p:cNvSpPr txBox="1"/>
          <p:nvPr/>
        </p:nvSpPr>
        <p:spPr>
          <a:xfrm>
            <a:off x="3828288" y="2907792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CARREIRA E RECOMPENSA</a:t>
            </a:r>
            <a:endParaRPr lang="en-US" sz="850" dirty="0"/>
          </a:p>
        </p:txBody>
      </p:sp>
      <p:sp>
        <p:nvSpPr>
          <p:cNvPr id="64" name="Text 52"/>
          <p:cNvSpPr txBox="1"/>
          <p:nvPr/>
        </p:nvSpPr>
        <p:spPr>
          <a:xfrm>
            <a:off x="5145024" y="2953512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APROVADOR</a:t>
            </a:r>
            <a:endParaRPr lang="en-US" sz="700" dirty="0"/>
          </a:p>
        </p:txBody>
      </p:sp>
      <p:sp>
        <p:nvSpPr>
          <p:cNvPr id="65" name="Shape 53"/>
          <p:cNvSpPr/>
          <p:nvPr/>
        </p:nvSpPr>
        <p:spPr>
          <a:xfrm>
            <a:off x="3297936" y="3183941"/>
            <a:ext cx="2642616" cy="248717"/>
          </a:xfrm>
          <a:prstGeom prst="roundRect">
            <a:avLst>
              <a:gd name="adj" fmla="val 11029"/>
            </a:avLst>
          </a:prstGeom>
          <a:solidFill>
            <a:srgbClr val="FFF1CC"/>
          </a:solidFill>
          <a:ln w="6350">
            <a:solidFill>
              <a:srgbClr val="F2D27A"/>
            </a:solidFill>
            <a:prstDash val="solid"/>
          </a:ln>
        </p:spPr>
      </p:sp>
      <p:sp>
        <p:nvSpPr>
          <p:cNvPr id="66" name="Text 54"/>
          <p:cNvSpPr txBox="1"/>
          <p:nvPr/>
        </p:nvSpPr>
        <p:spPr>
          <a:xfrm>
            <a:off x="3334512" y="3174797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900" dirty="0"/>
          </a:p>
        </p:txBody>
      </p:sp>
      <p:pic>
        <p:nvPicPr>
          <p:cNvPr id="67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590544" y="3216859"/>
            <a:ext cx="182880" cy="182880"/>
          </a:xfrm>
          <a:prstGeom prst="rect">
            <a:avLst/>
          </a:prstGeom>
        </p:spPr>
      </p:pic>
      <p:sp>
        <p:nvSpPr>
          <p:cNvPr id="68" name="Text 55"/>
          <p:cNvSpPr txBox="1"/>
          <p:nvPr/>
        </p:nvSpPr>
        <p:spPr>
          <a:xfrm>
            <a:off x="3828288" y="3174797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850" dirty="0"/>
          </a:p>
        </p:txBody>
      </p:sp>
      <p:sp>
        <p:nvSpPr>
          <p:cNvPr id="69" name="Text 56"/>
          <p:cNvSpPr txBox="1"/>
          <p:nvPr/>
        </p:nvSpPr>
        <p:spPr>
          <a:xfrm>
            <a:off x="5145024" y="3220517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APROVADOR</a:t>
            </a:r>
            <a:endParaRPr lang="en-US" sz="700" dirty="0"/>
          </a:p>
        </p:txBody>
      </p:sp>
      <p:sp>
        <p:nvSpPr>
          <p:cNvPr id="70" name="Shape 57"/>
          <p:cNvSpPr/>
          <p:nvPr/>
        </p:nvSpPr>
        <p:spPr>
          <a:xfrm>
            <a:off x="3297936" y="3450946"/>
            <a:ext cx="2642616" cy="248717"/>
          </a:xfrm>
          <a:prstGeom prst="roundRect">
            <a:avLst>
              <a:gd name="adj" fmla="val 11029"/>
            </a:avLst>
          </a:prstGeom>
          <a:solidFill>
            <a:srgbClr val="FFF1CC"/>
          </a:solidFill>
          <a:ln w="6350">
            <a:solidFill>
              <a:srgbClr val="F2D27A"/>
            </a:solidFill>
            <a:prstDash val="solid"/>
          </a:ln>
        </p:spPr>
      </p:sp>
      <p:sp>
        <p:nvSpPr>
          <p:cNvPr id="71" name="Text 58"/>
          <p:cNvSpPr txBox="1"/>
          <p:nvPr/>
        </p:nvSpPr>
        <p:spPr>
          <a:xfrm>
            <a:off x="3334512" y="3441802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900" dirty="0"/>
          </a:p>
        </p:txBody>
      </p:sp>
      <p:pic>
        <p:nvPicPr>
          <p:cNvPr id="72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590544" y="3483864"/>
            <a:ext cx="182880" cy="182880"/>
          </a:xfrm>
          <a:prstGeom prst="rect">
            <a:avLst/>
          </a:prstGeom>
        </p:spPr>
      </p:pic>
      <p:sp>
        <p:nvSpPr>
          <p:cNvPr id="73" name="Text 59"/>
          <p:cNvSpPr txBox="1"/>
          <p:nvPr/>
        </p:nvSpPr>
        <p:spPr>
          <a:xfrm>
            <a:off x="3828288" y="3441802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DESENV. HUMANO ORGANIZACIONAL</a:t>
            </a:r>
            <a:endParaRPr lang="en-US" sz="750" dirty="0"/>
          </a:p>
        </p:txBody>
      </p:sp>
      <p:sp>
        <p:nvSpPr>
          <p:cNvPr id="74" name="Text 60"/>
          <p:cNvSpPr txBox="1"/>
          <p:nvPr/>
        </p:nvSpPr>
        <p:spPr>
          <a:xfrm>
            <a:off x="5145024" y="3487522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APROVADOR</a:t>
            </a:r>
            <a:endParaRPr lang="en-US" sz="700" dirty="0"/>
          </a:p>
        </p:txBody>
      </p:sp>
      <p:sp>
        <p:nvSpPr>
          <p:cNvPr id="75" name="Text 61"/>
          <p:cNvSpPr txBox="1"/>
          <p:nvPr/>
        </p:nvSpPr>
        <p:spPr>
          <a:xfrm>
            <a:off x="3334512" y="3708806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endParaRPr lang="en-US" sz="900" dirty="0"/>
          </a:p>
        </p:txBody>
      </p:sp>
      <p:pic>
        <p:nvPicPr>
          <p:cNvPr id="7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590544" y="3750869"/>
            <a:ext cx="182880" cy="182880"/>
          </a:xfrm>
          <a:prstGeom prst="rect">
            <a:avLst/>
          </a:prstGeom>
        </p:spPr>
      </p:pic>
      <p:sp>
        <p:nvSpPr>
          <p:cNvPr id="77" name="Text 62"/>
          <p:cNvSpPr txBox="1"/>
          <p:nvPr/>
        </p:nvSpPr>
        <p:spPr>
          <a:xfrm>
            <a:off x="3828288" y="3708806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TREINAMENTO</a:t>
            </a:r>
            <a:endParaRPr lang="en-US" sz="850" dirty="0"/>
          </a:p>
        </p:txBody>
      </p:sp>
      <p:sp>
        <p:nvSpPr>
          <p:cNvPr id="78" name="Text 63"/>
          <p:cNvSpPr txBox="1"/>
          <p:nvPr/>
        </p:nvSpPr>
        <p:spPr>
          <a:xfrm>
            <a:off x="5145024" y="3754526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APROVADOR</a:t>
            </a:r>
            <a:endParaRPr lang="en-US" sz="700" dirty="0"/>
          </a:p>
        </p:txBody>
      </p:sp>
      <p:sp>
        <p:nvSpPr>
          <p:cNvPr id="79" name="Text 64"/>
          <p:cNvSpPr txBox="1"/>
          <p:nvPr/>
        </p:nvSpPr>
        <p:spPr>
          <a:xfrm>
            <a:off x="3334512" y="3975811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</a:t>
            </a:r>
            <a:endParaRPr lang="en-US" sz="900" dirty="0"/>
          </a:p>
        </p:txBody>
      </p:sp>
      <p:pic>
        <p:nvPicPr>
          <p:cNvPr id="80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590544" y="4017874"/>
            <a:ext cx="182880" cy="182880"/>
          </a:xfrm>
          <a:prstGeom prst="rect">
            <a:avLst/>
          </a:prstGeom>
        </p:spPr>
      </p:pic>
      <p:sp>
        <p:nvSpPr>
          <p:cNvPr id="81" name="Text 65"/>
          <p:cNvSpPr txBox="1"/>
          <p:nvPr/>
        </p:nvSpPr>
        <p:spPr>
          <a:xfrm>
            <a:off x="3828288" y="3975811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MEDICINA</a:t>
            </a:r>
            <a:endParaRPr lang="en-US" sz="850" dirty="0"/>
          </a:p>
        </p:txBody>
      </p:sp>
      <p:sp>
        <p:nvSpPr>
          <p:cNvPr id="82" name="Text 66"/>
          <p:cNvSpPr txBox="1"/>
          <p:nvPr/>
        </p:nvSpPr>
        <p:spPr>
          <a:xfrm>
            <a:off x="5145024" y="4021531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APROVADOR</a:t>
            </a:r>
            <a:endParaRPr lang="en-US" sz="700" dirty="0"/>
          </a:p>
        </p:txBody>
      </p:sp>
      <p:sp>
        <p:nvSpPr>
          <p:cNvPr id="83" name="Text 67"/>
          <p:cNvSpPr txBox="1"/>
          <p:nvPr/>
        </p:nvSpPr>
        <p:spPr>
          <a:xfrm>
            <a:off x="3334512" y="4242816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</a:t>
            </a:r>
            <a:endParaRPr lang="en-US" sz="900" dirty="0"/>
          </a:p>
        </p:txBody>
      </p:sp>
      <p:pic>
        <p:nvPicPr>
          <p:cNvPr id="8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590544" y="4284878"/>
            <a:ext cx="182880" cy="182880"/>
          </a:xfrm>
          <a:prstGeom prst="rect">
            <a:avLst/>
          </a:prstGeom>
        </p:spPr>
      </p:pic>
      <p:sp>
        <p:nvSpPr>
          <p:cNvPr id="85" name="Text 68"/>
          <p:cNvSpPr txBox="1"/>
          <p:nvPr/>
        </p:nvSpPr>
        <p:spPr>
          <a:xfrm>
            <a:off x="3828288" y="4242816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DO TRABALHO</a:t>
            </a:r>
            <a:endParaRPr lang="en-US" sz="850" dirty="0"/>
          </a:p>
        </p:txBody>
      </p:sp>
      <p:sp>
        <p:nvSpPr>
          <p:cNvPr id="86" name="Text 69"/>
          <p:cNvSpPr txBox="1"/>
          <p:nvPr/>
        </p:nvSpPr>
        <p:spPr>
          <a:xfrm>
            <a:off x="5145024" y="4288536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APROVADOR</a:t>
            </a:r>
            <a:endParaRPr lang="en-US" sz="700" dirty="0"/>
          </a:p>
        </p:txBody>
      </p:sp>
      <p:sp>
        <p:nvSpPr>
          <p:cNvPr id="87" name="Text 70"/>
          <p:cNvSpPr txBox="1"/>
          <p:nvPr/>
        </p:nvSpPr>
        <p:spPr>
          <a:xfrm>
            <a:off x="3334512" y="4509821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</a:t>
            </a:r>
            <a:endParaRPr lang="en-US" sz="900" dirty="0"/>
          </a:p>
        </p:txBody>
      </p:sp>
      <p:pic>
        <p:nvPicPr>
          <p:cNvPr id="88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590544" y="4551883"/>
            <a:ext cx="182880" cy="182880"/>
          </a:xfrm>
          <a:prstGeom prst="rect">
            <a:avLst/>
          </a:prstGeom>
        </p:spPr>
      </p:pic>
      <p:sp>
        <p:nvSpPr>
          <p:cNvPr id="89" name="Text 71"/>
          <p:cNvSpPr txBox="1"/>
          <p:nvPr/>
        </p:nvSpPr>
        <p:spPr>
          <a:xfrm>
            <a:off x="3828288" y="4509821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GESTOR SOLICITANTE</a:t>
            </a:r>
            <a:endParaRPr lang="en-US" sz="850" dirty="0"/>
          </a:p>
        </p:txBody>
      </p:sp>
      <p:sp>
        <p:nvSpPr>
          <p:cNvPr id="90" name="Text 72"/>
          <p:cNvSpPr txBox="1"/>
          <p:nvPr/>
        </p:nvSpPr>
        <p:spPr>
          <a:xfrm>
            <a:off x="5145024" y="4555541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CONTRIBUINTE</a:t>
            </a:r>
            <a:endParaRPr lang="en-US" sz="700" dirty="0"/>
          </a:p>
        </p:txBody>
      </p:sp>
      <p:sp>
        <p:nvSpPr>
          <p:cNvPr id="91" name="Text 73"/>
          <p:cNvSpPr txBox="1"/>
          <p:nvPr/>
        </p:nvSpPr>
        <p:spPr>
          <a:xfrm>
            <a:off x="3334512" y="4776826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</a:t>
            </a:r>
            <a:endParaRPr lang="en-US" sz="900" dirty="0"/>
          </a:p>
        </p:txBody>
      </p:sp>
      <p:pic>
        <p:nvPicPr>
          <p:cNvPr id="92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590544" y="4818888"/>
            <a:ext cx="182880" cy="182880"/>
          </a:xfrm>
          <a:prstGeom prst="rect">
            <a:avLst/>
          </a:prstGeom>
        </p:spPr>
      </p:pic>
      <p:sp>
        <p:nvSpPr>
          <p:cNvPr id="93" name="Text 74"/>
          <p:cNvSpPr txBox="1"/>
          <p:nvPr/>
        </p:nvSpPr>
        <p:spPr>
          <a:xfrm>
            <a:off x="3828288" y="4776826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COLABORADOR</a:t>
            </a:r>
            <a:endParaRPr lang="en-US" sz="850" dirty="0"/>
          </a:p>
        </p:txBody>
      </p:sp>
      <p:sp>
        <p:nvSpPr>
          <p:cNvPr id="94" name="Text 75"/>
          <p:cNvSpPr txBox="1"/>
          <p:nvPr/>
        </p:nvSpPr>
        <p:spPr>
          <a:xfrm>
            <a:off x="5145024" y="4822546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APROVADOR</a:t>
            </a:r>
            <a:endParaRPr lang="en-US" sz="700" dirty="0"/>
          </a:p>
        </p:txBody>
      </p:sp>
      <p:sp>
        <p:nvSpPr>
          <p:cNvPr id="95" name="Text 76"/>
          <p:cNvSpPr txBox="1"/>
          <p:nvPr/>
        </p:nvSpPr>
        <p:spPr>
          <a:xfrm>
            <a:off x="3334512" y="5043830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</a:t>
            </a:r>
            <a:endParaRPr lang="en-US" sz="900" dirty="0"/>
          </a:p>
        </p:txBody>
      </p:sp>
      <p:pic>
        <p:nvPicPr>
          <p:cNvPr id="96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590544" y="5085893"/>
            <a:ext cx="182880" cy="182880"/>
          </a:xfrm>
          <a:prstGeom prst="rect">
            <a:avLst/>
          </a:prstGeom>
        </p:spPr>
      </p:pic>
      <p:sp>
        <p:nvSpPr>
          <p:cNvPr id="97" name="Text 77"/>
          <p:cNvSpPr txBox="1"/>
          <p:nvPr/>
        </p:nvSpPr>
        <p:spPr>
          <a:xfrm>
            <a:off x="3828288" y="5043830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CARREIRA E RECOMPENSA</a:t>
            </a:r>
            <a:endParaRPr lang="en-US" sz="850" dirty="0"/>
          </a:p>
        </p:txBody>
      </p:sp>
      <p:sp>
        <p:nvSpPr>
          <p:cNvPr id="98" name="Text 78"/>
          <p:cNvSpPr txBox="1"/>
          <p:nvPr/>
        </p:nvSpPr>
        <p:spPr>
          <a:xfrm>
            <a:off x="5145024" y="5089550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APROVADOR</a:t>
            </a:r>
            <a:endParaRPr lang="en-US" sz="700" dirty="0"/>
          </a:p>
        </p:txBody>
      </p:sp>
      <p:sp>
        <p:nvSpPr>
          <p:cNvPr id="99" name="Shape 79"/>
          <p:cNvSpPr/>
          <p:nvPr/>
        </p:nvSpPr>
        <p:spPr>
          <a:xfrm>
            <a:off x="3297936" y="5319979"/>
            <a:ext cx="2642616" cy="248717"/>
          </a:xfrm>
          <a:prstGeom prst="roundRect">
            <a:avLst>
              <a:gd name="adj" fmla="val 11029"/>
            </a:avLst>
          </a:prstGeom>
          <a:solidFill>
            <a:srgbClr val="FFF1CC"/>
          </a:solidFill>
          <a:ln w="6350">
            <a:solidFill>
              <a:srgbClr val="F2D27A"/>
            </a:solidFill>
            <a:prstDash val="solid"/>
          </a:ln>
        </p:spPr>
      </p:sp>
      <p:sp>
        <p:nvSpPr>
          <p:cNvPr id="100" name="Text 80"/>
          <p:cNvSpPr txBox="1"/>
          <p:nvPr/>
        </p:nvSpPr>
        <p:spPr>
          <a:xfrm>
            <a:off x="3334512" y="5310835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</a:t>
            </a:r>
            <a:endParaRPr lang="en-US" sz="900" dirty="0"/>
          </a:p>
        </p:txBody>
      </p:sp>
      <p:pic>
        <p:nvPicPr>
          <p:cNvPr id="101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590544" y="5352898"/>
            <a:ext cx="182880" cy="182880"/>
          </a:xfrm>
          <a:prstGeom prst="rect">
            <a:avLst/>
          </a:prstGeom>
        </p:spPr>
      </p:pic>
      <p:sp>
        <p:nvSpPr>
          <p:cNvPr id="102" name="Text 81"/>
          <p:cNvSpPr txBox="1"/>
          <p:nvPr/>
        </p:nvSpPr>
        <p:spPr>
          <a:xfrm>
            <a:off x="3828288" y="5310835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CONTROLADORIA</a:t>
            </a:r>
            <a:endParaRPr lang="en-US" sz="850" dirty="0"/>
          </a:p>
        </p:txBody>
      </p:sp>
      <p:sp>
        <p:nvSpPr>
          <p:cNvPr id="103" name="Text 82"/>
          <p:cNvSpPr txBox="1"/>
          <p:nvPr/>
        </p:nvSpPr>
        <p:spPr>
          <a:xfrm>
            <a:off x="5145024" y="5356555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CÓPIA</a:t>
            </a:r>
            <a:endParaRPr lang="en-US" sz="700" dirty="0"/>
          </a:p>
        </p:txBody>
      </p:sp>
      <p:sp>
        <p:nvSpPr>
          <p:cNvPr id="104" name="Shape 83"/>
          <p:cNvSpPr/>
          <p:nvPr/>
        </p:nvSpPr>
        <p:spPr>
          <a:xfrm>
            <a:off x="3297936" y="5586984"/>
            <a:ext cx="2642616" cy="248717"/>
          </a:xfrm>
          <a:prstGeom prst="roundRect">
            <a:avLst>
              <a:gd name="adj" fmla="val 11029"/>
            </a:avLst>
          </a:prstGeom>
          <a:solidFill>
            <a:srgbClr val="FFF1CC"/>
          </a:solidFill>
          <a:ln w="6350">
            <a:solidFill>
              <a:srgbClr val="F2D27A"/>
            </a:solidFill>
            <a:prstDash val="solid"/>
          </a:ln>
        </p:spPr>
      </p:sp>
      <p:sp>
        <p:nvSpPr>
          <p:cNvPr id="105" name="Text 84"/>
          <p:cNvSpPr txBox="1"/>
          <p:nvPr/>
        </p:nvSpPr>
        <p:spPr>
          <a:xfrm>
            <a:off x="3334512" y="5577840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</a:t>
            </a:r>
            <a:endParaRPr lang="en-US" sz="900" dirty="0"/>
          </a:p>
        </p:txBody>
      </p:sp>
      <p:pic>
        <p:nvPicPr>
          <p:cNvPr id="106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590544" y="5619902"/>
            <a:ext cx="182880" cy="182880"/>
          </a:xfrm>
          <a:prstGeom prst="rect">
            <a:avLst/>
          </a:prstGeom>
        </p:spPr>
      </p:pic>
      <p:sp>
        <p:nvSpPr>
          <p:cNvPr id="107" name="Text 85"/>
          <p:cNvSpPr txBox="1"/>
          <p:nvPr/>
        </p:nvSpPr>
        <p:spPr>
          <a:xfrm>
            <a:off x="3828288" y="5577840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FOLHA DE PAGAMENTO</a:t>
            </a:r>
            <a:endParaRPr lang="en-US" sz="850" dirty="0"/>
          </a:p>
        </p:txBody>
      </p:sp>
      <p:sp>
        <p:nvSpPr>
          <p:cNvPr id="108" name="Text 86"/>
          <p:cNvSpPr txBox="1"/>
          <p:nvPr/>
        </p:nvSpPr>
        <p:spPr>
          <a:xfrm>
            <a:off x="5145024" y="5623560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CÓPIA</a:t>
            </a:r>
            <a:endParaRPr lang="en-US" sz="700" dirty="0"/>
          </a:p>
        </p:txBody>
      </p:sp>
      <p:sp>
        <p:nvSpPr>
          <p:cNvPr id="109" name="Shape 87"/>
          <p:cNvSpPr/>
          <p:nvPr/>
        </p:nvSpPr>
        <p:spPr>
          <a:xfrm>
            <a:off x="6175248" y="1325880"/>
            <a:ext cx="2788920" cy="4818888"/>
          </a:xfrm>
          <a:prstGeom prst="roundRect">
            <a:avLst>
              <a:gd name="adj" fmla="val 1967"/>
            </a:avLst>
          </a:prstGeom>
          <a:solidFill>
            <a:srgbClr val="F0F7F1"/>
          </a:solidFill>
          <a:ln w="12700">
            <a:solidFill>
              <a:srgbClr val="A1CBA8"/>
            </a:solidFill>
            <a:prstDash val="solid"/>
          </a:ln>
        </p:spPr>
      </p:sp>
      <p:sp>
        <p:nvSpPr>
          <p:cNvPr id="110" name="Shape 88"/>
          <p:cNvSpPr/>
          <p:nvPr/>
        </p:nvSpPr>
        <p:spPr>
          <a:xfrm>
            <a:off x="6175248" y="1325880"/>
            <a:ext cx="2788920" cy="420624"/>
          </a:xfrm>
          <a:prstGeom prst="roundRect">
            <a:avLst>
              <a:gd name="adj" fmla="val 13043"/>
            </a:avLst>
          </a:prstGeom>
          <a:solidFill>
            <a:srgbClr val="2E8B3E"/>
          </a:solidFill>
          <a:ln w="12700">
            <a:solidFill>
              <a:srgbClr val="2E8B3E"/>
            </a:solidFill>
            <a:prstDash val="solid"/>
          </a:ln>
        </p:spPr>
      </p:sp>
      <p:sp>
        <p:nvSpPr>
          <p:cNvPr id="111" name="Shape 89"/>
          <p:cNvSpPr/>
          <p:nvPr/>
        </p:nvSpPr>
        <p:spPr>
          <a:xfrm>
            <a:off x="6175248" y="1600200"/>
            <a:ext cx="2788920" cy="146304"/>
          </a:xfrm>
          <a:prstGeom prst="rect">
            <a:avLst/>
          </a:prstGeom>
          <a:solidFill>
            <a:srgbClr val="2E8B3E"/>
          </a:solidFill>
          <a:ln w="12700">
            <a:solidFill>
              <a:srgbClr val="2E8B3E"/>
            </a:solidFill>
            <a:prstDash val="solid"/>
          </a:ln>
        </p:spPr>
      </p:sp>
      <p:sp>
        <p:nvSpPr>
          <p:cNvPr id="112" name="Shape 90"/>
          <p:cNvSpPr/>
          <p:nvPr/>
        </p:nvSpPr>
        <p:spPr>
          <a:xfrm>
            <a:off x="7322820" y="1005840"/>
            <a:ext cx="493776" cy="493776"/>
          </a:xfrm>
          <a:prstGeom prst="ellipse">
            <a:avLst/>
          </a:prstGeom>
          <a:solidFill>
            <a:srgbClr val="2E8B3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3" name="Text 91"/>
          <p:cNvSpPr txBox="1"/>
          <p:nvPr/>
        </p:nvSpPr>
        <p:spPr>
          <a:xfrm>
            <a:off x="7322820" y="100584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000" dirty="0"/>
          </a:p>
        </p:txBody>
      </p:sp>
      <p:sp>
        <p:nvSpPr>
          <p:cNvPr id="114" name="Text 92"/>
          <p:cNvSpPr txBox="1"/>
          <p:nvPr/>
        </p:nvSpPr>
        <p:spPr>
          <a:xfrm>
            <a:off x="6312408" y="1344168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 C</a:t>
            </a:r>
            <a:endParaRPr lang="en-US" sz="1400" dirty="0"/>
          </a:p>
        </p:txBody>
      </p:sp>
      <p:sp>
        <p:nvSpPr>
          <p:cNvPr id="115" name="Text 93"/>
          <p:cNvSpPr txBox="1"/>
          <p:nvPr/>
        </p:nvSpPr>
        <p:spPr>
          <a:xfrm>
            <a:off x="7912608" y="134416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regras</a:t>
            </a:r>
            <a:endParaRPr lang="en-US" sz="1000" dirty="0"/>
          </a:p>
        </p:txBody>
      </p:sp>
      <p:sp>
        <p:nvSpPr>
          <p:cNvPr id="116" name="Shape 94"/>
          <p:cNvSpPr/>
          <p:nvPr/>
        </p:nvSpPr>
        <p:spPr>
          <a:xfrm>
            <a:off x="6266688" y="1828800"/>
            <a:ext cx="2606040" cy="987552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ABD1B2"/>
            </a:solidFill>
            <a:prstDash val="solid"/>
          </a:ln>
        </p:spPr>
      </p:sp>
      <p:sp>
        <p:nvSpPr>
          <p:cNvPr id="117" name="Text 95"/>
          <p:cNvSpPr txBox="1"/>
          <p:nvPr/>
        </p:nvSpPr>
        <p:spPr>
          <a:xfrm>
            <a:off x="6339840" y="1865376"/>
            <a:ext cx="2459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2E8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SE APLICA</a:t>
            </a:r>
            <a:endParaRPr lang="en-US" sz="8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Evento: </a:t>
            </a:r>
            <a:pPr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Alteração de cargo · Promoção (Equipes)</a:t>
            </a:r>
            <a:endParaRPr lang="en-US" sz="8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Mão de obra destino: </a:t>
            </a:r>
            <a:pPr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</a:t>
            </a:r>
            <a:endParaRPr lang="en-US" sz="8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Altera gestor: </a:t>
            </a:r>
            <a:pPr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</a:t>
            </a:r>
            <a:endParaRPr lang="en-US" sz="850" dirty="0"/>
          </a:p>
        </p:txBody>
      </p:sp>
      <p:sp>
        <p:nvSpPr>
          <p:cNvPr id="118" name="Text 96"/>
          <p:cNvSpPr txBox="1"/>
          <p:nvPr/>
        </p:nvSpPr>
        <p:spPr>
          <a:xfrm>
            <a:off x="6284976" y="2907792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900" dirty="0"/>
          </a:p>
        </p:txBody>
      </p:sp>
      <p:pic>
        <p:nvPicPr>
          <p:cNvPr id="119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541008" y="2949854"/>
            <a:ext cx="182880" cy="182880"/>
          </a:xfrm>
          <a:prstGeom prst="rect">
            <a:avLst/>
          </a:prstGeom>
        </p:spPr>
      </p:pic>
      <p:sp>
        <p:nvSpPr>
          <p:cNvPr id="120" name="Text 97"/>
          <p:cNvSpPr txBox="1"/>
          <p:nvPr/>
        </p:nvSpPr>
        <p:spPr>
          <a:xfrm>
            <a:off x="6778752" y="2907792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CARREIRA E RECOMPENSA</a:t>
            </a:r>
            <a:endParaRPr lang="en-US" sz="850" dirty="0"/>
          </a:p>
        </p:txBody>
      </p:sp>
      <p:sp>
        <p:nvSpPr>
          <p:cNvPr id="121" name="Text 98"/>
          <p:cNvSpPr txBox="1"/>
          <p:nvPr/>
        </p:nvSpPr>
        <p:spPr>
          <a:xfrm>
            <a:off x="8095488" y="2953512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APROVADOR</a:t>
            </a:r>
            <a:endParaRPr lang="en-US" sz="700" dirty="0"/>
          </a:p>
        </p:txBody>
      </p:sp>
      <p:sp>
        <p:nvSpPr>
          <p:cNvPr id="122" name="Text 99"/>
          <p:cNvSpPr txBox="1"/>
          <p:nvPr/>
        </p:nvSpPr>
        <p:spPr>
          <a:xfrm>
            <a:off x="6284976" y="3174797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900" dirty="0"/>
          </a:p>
        </p:txBody>
      </p:sp>
      <p:pic>
        <p:nvPicPr>
          <p:cNvPr id="123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541008" y="3216859"/>
            <a:ext cx="182880" cy="182880"/>
          </a:xfrm>
          <a:prstGeom prst="rect">
            <a:avLst/>
          </a:prstGeom>
        </p:spPr>
      </p:pic>
      <p:sp>
        <p:nvSpPr>
          <p:cNvPr id="124" name="Text 100"/>
          <p:cNvSpPr txBox="1"/>
          <p:nvPr/>
        </p:nvSpPr>
        <p:spPr>
          <a:xfrm>
            <a:off x="6778752" y="3174797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TREINAMENTO</a:t>
            </a:r>
            <a:endParaRPr lang="en-US" sz="850" dirty="0"/>
          </a:p>
        </p:txBody>
      </p:sp>
      <p:sp>
        <p:nvSpPr>
          <p:cNvPr id="125" name="Text 101"/>
          <p:cNvSpPr txBox="1"/>
          <p:nvPr/>
        </p:nvSpPr>
        <p:spPr>
          <a:xfrm>
            <a:off x="8095488" y="3220517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APROVADOR</a:t>
            </a:r>
            <a:endParaRPr lang="en-US" sz="700" dirty="0"/>
          </a:p>
        </p:txBody>
      </p:sp>
      <p:sp>
        <p:nvSpPr>
          <p:cNvPr id="126" name="Text 102"/>
          <p:cNvSpPr txBox="1"/>
          <p:nvPr/>
        </p:nvSpPr>
        <p:spPr>
          <a:xfrm>
            <a:off x="6284976" y="3441802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900" dirty="0"/>
          </a:p>
        </p:txBody>
      </p:sp>
      <p:pic>
        <p:nvPicPr>
          <p:cNvPr id="127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541008" y="3483864"/>
            <a:ext cx="182880" cy="182880"/>
          </a:xfrm>
          <a:prstGeom prst="rect">
            <a:avLst/>
          </a:prstGeom>
        </p:spPr>
      </p:pic>
      <p:sp>
        <p:nvSpPr>
          <p:cNvPr id="128" name="Text 103"/>
          <p:cNvSpPr txBox="1"/>
          <p:nvPr/>
        </p:nvSpPr>
        <p:spPr>
          <a:xfrm>
            <a:off x="6778752" y="3441802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MEDICINA</a:t>
            </a:r>
            <a:endParaRPr lang="en-US" sz="850" dirty="0"/>
          </a:p>
        </p:txBody>
      </p:sp>
      <p:sp>
        <p:nvSpPr>
          <p:cNvPr id="129" name="Text 104"/>
          <p:cNvSpPr txBox="1"/>
          <p:nvPr/>
        </p:nvSpPr>
        <p:spPr>
          <a:xfrm>
            <a:off x="8095488" y="3487522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APROVADOR</a:t>
            </a:r>
            <a:endParaRPr lang="en-US" sz="700" dirty="0"/>
          </a:p>
        </p:txBody>
      </p:sp>
      <p:sp>
        <p:nvSpPr>
          <p:cNvPr id="130" name="Text 105"/>
          <p:cNvSpPr txBox="1"/>
          <p:nvPr/>
        </p:nvSpPr>
        <p:spPr>
          <a:xfrm>
            <a:off x="6284976" y="3708806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endParaRPr lang="en-US" sz="900" dirty="0"/>
          </a:p>
        </p:txBody>
      </p:sp>
      <p:pic>
        <p:nvPicPr>
          <p:cNvPr id="131" name="Image 23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541008" y="3750869"/>
            <a:ext cx="182880" cy="182880"/>
          </a:xfrm>
          <a:prstGeom prst="rect">
            <a:avLst/>
          </a:prstGeom>
        </p:spPr>
      </p:pic>
      <p:sp>
        <p:nvSpPr>
          <p:cNvPr id="132" name="Text 106"/>
          <p:cNvSpPr txBox="1"/>
          <p:nvPr/>
        </p:nvSpPr>
        <p:spPr>
          <a:xfrm>
            <a:off x="6778752" y="3708806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DO TRABALHO</a:t>
            </a:r>
            <a:endParaRPr lang="en-US" sz="850" dirty="0"/>
          </a:p>
        </p:txBody>
      </p:sp>
      <p:sp>
        <p:nvSpPr>
          <p:cNvPr id="133" name="Text 107"/>
          <p:cNvSpPr txBox="1"/>
          <p:nvPr/>
        </p:nvSpPr>
        <p:spPr>
          <a:xfrm>
            <a:off x="8095488" y="3754526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APROVADOR</a:t>
            </a:r>
            <a:endParaRPr lang="en-US" sz="700" dirty="0"/>
          </a:p>
        </p:txBody>
      </p:sp>
      <p:sp>
        <p:nvSpPr>
          <p:cNvPr id="134" name="Text 108"/>
          <p:cNvSpPr txBox="1"/>
          <p:nvPr/>
        </p:nvSpPr>
        <p:spPr>
          <a:xfrm>
            <a:off x="6284976" y="3975811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</a:t>
            </a:r>
            <a:endParaRPr lang="en-US" sz="900" dirty="0"/>
          </a:p>
        </p:txBody>
      </p:sp>
      <p:pic>
        <p:nvPicPr>
          <p:cNvPr id="135" name="Image 24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541008" y="4017874"/>
            <a:ext cx="182880" cy="182880"/>
          </a:xfrm>
          <a:prstGeom prst="rect">
            <a:avLst/>
          </a:prstGeom>
        </p:spPr>
      </p:pic>
      <p:sp>
        <p:nvSpPr>
          <p:cNvPr id="136" name="Text 109"/>
          <p:cNvSpPr txBox="1"/>
          <p:nvPr/>
        </p:nvSpPr>
        <p:spPr>
          <a:xfrm>
            <a:off x="6778752" y="3975811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GESTOR SOLICITANTE</a:t>
            </a:r>
            <a:endParaRPr lang="en-US" sz="850" dirty="0"/>
          </a:p>
        </p:txBody>
      </p:sp>
      <p:sp>
        <p:nvSpPr>
          <p:cNvPr id="137" name="Text 110"/>
          <p:cNvSpPr txBox="1"/>
          <p:nvPr/>
        </p:nvSpPr>
        <p:spPr>
          <a:xfrm>
            <a:off x="8095488" y="4021531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CONTRIBUINTE</a:t>
            </a:r>
            <a:endParaRPr lang="en-US" sz="700" dirty="0"/>
          </a:p>
        </p:txBody>
      </p:sp>
      <p:sp>
        <p:nvSpPr>
          <p:cNvPr id="138" name="Text 111"/>
          <p:cNvSpPr txBox="1"/>
          <p:nvPr/>
        </p:nvSpPr>
        <p:spPr>
          <a:xfrm>
            <a:off x="6284976" y="4242816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</a:t>
            </a:r>
            <a:endParaRPr lang="en-US" sz="900" dirty="0"/>
          </a:p>
        </p:txBody>
      </p:sp>
      <p:pic>
        <p:nvPicPr>
          <p:cNvPr id="139" name="Image 25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541008" y="4284878"/>
            <a:ext cx="182880" cy="182880"/>
          </a:xfrm>
          <a:prstGeom prst="rect">
            <a:avLst/>
          </a:prstGeom>
        </p:spPr>
      </p:pic>
      <p:sp>
        <p:nvSpPr>
          <p:cNvPr id="140" name="Text 112"/>
          <p:cNvSpPr txBox="1"/>
          <p:nvPr/>
        </p:nvSpPr>
        <p:spPr>
          <a:xfrm>
            <a:off x="6778752" y="4242816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COLABORADOR</a:t>
            </a:r>
            <a:endParaRPr lang="en-US" sz="850" dirty="0"/>
          </a:p>
        </p:txBody>
      </p:sp>
      <p:sp>
        <p:nvSpPr>
          <p:cNvPr id="141" name="Text 113"/>
          <p:cNvSpPr txBox="1"/>
          <p:nvPr/>
        </p:nvSpPr>
        <p:spPr>
          <a:xfrm>
            <a:off x="8095488" y="4288536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APROVADOR</a:t>
            </a:r>
            <a:endParaRPr lang="en-US" sz="700" dirty="0"/>
          </a:p>
        </p:txBody>
      </p:sp>
      <p:sp>
        <p:nvSpPr>
          <p:cNvPr id="142" name="Text 114"/>
          <p:cNvSpPr txBox="1"/>
          <p:nvPr/>
        </p:nvSpPr>
        <p:spPr>
          <a:xfrm>
            <a:off x="6284976" y="4509821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</a:t>
            </a:r>
            <a:endParaRPr lang="en-US" sz="900" dirty="0"/>
          </a:p>
        </p:txBody>
      </p:sp>
      <p:pic>
        <p:nvPicPr>
          <p:cNvPr id="143" name="Image 26" descr="preencode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541008" y="4551883"/>
            <a:ext cx="182880" cy="182880"/>
          </a:xfrm>
          <a:prstGeom prst="rect">
            <a:avLst/>
          </a:prstGeom>
        </p:spPr>
      </p:pic>
      <p:sp>
        <p:nvSpPr>
          <p:cNvPr id="144" name="Text 115"/>
          <p:cNvSpPr txBox="1"/>
          <p:nvPr/>
        </p:nvSpPr>
        <p:spPr>
          <a:xfrm>
            <a:off x="6778752" y="4509821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CARREIRA E RECOMPENSA</a:t>
            </a:r>
            <a:endParaRPr lang="en-US" sz="850" dirty="0"/>
          </a:p>
        </p:txBody>
      </p:sp>
      <p:sp>
        <p:nvSpPr>
          <p:cNvPr id="145" name="Text 116"/>
          <p:cNvSpPr txBox="1"/>
          <p:nvPr/>
        </p:nvSpPr>
        <p:spPr>
          <a:xfrm>
            <a:off x="8095488" y="4555541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APROVADOR</a:t>
            </a:r>
            <a:endParaRPr lang="en-US" sz="700" dirty="0"/>
          </a:p>
        </p:txBody>
      </p:sp>
      <p:sp>
        <p:nvSpPr>
          <p:cNvPr id="146" name="Shape 117"/>
          <p:cNvSpPr/>
          <p:nvPr/>
        </p:nvSpPr>
        <p:spPr>
          <a:xfrm>
            <a:off x="9125712" y="1325880"/>
            <a:ext cx="2788920" cy="4818888"/>
          </a:xfrm>
          <a:prstGeom prst="roundRect">
            <a:avLst>
              <a:gd name="adj" fmla="val 1967"/>
            </a:avLst>
          </a:prstGeom>
          <a:solidFill>
            <a:srgbClr val="F5F2F8"/>
          </a:solidFill>
          <a:ln w="12700">
            <a:solidFill>
              <a:srgbClr val="BCA9D4"/>
            </a:solidFill>
            <a:prstDash val="solid"/>
          </a:ln>
        </p:spPr>
      </p:sp>
      <p:sp>
        <p:nvSpPr>
          <p:cNvPr id="147" name="Shape 118"/>
          <p:cNvSpPr/>
          <p:nvPr/>
        </p:nvSpPr>
        <p:spPr>
          <a:xfrm>
            <a:off x="9125712" y="1325880"/>
            <a:ext cx="2788920" cy="420624"/>
          </a:xfrm>
          <a:prstGeom prst="roundRect">
            <a:avLst>
              <a:gd name="adj" fmla="val 13043"/>
            </a:avLst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48" name="Shape 119"/>
          <p:cNvSpPr/>
          <p:nvPr/>
        </p:nvSpPr>
        <p:spPr>
          <a:xfrm>
            <a:off x="9125712" y="1600200"/>
            <a:ext cx="2788920" cy="146304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49" name="Shape 120"/>
          <p:cNvSpPr/>
          <p:nvPr/>
        </p:nvSpPr>
        <p:spPr>
          <a:xfrm>
            <a:off x="10273284" y="1005840"/>
            <a:ext cx="493776" cy="493776"/>
          </a:xfrm>
          <a:prstGeom prst="ellipse">
            <a:avLst/>
          </a:prstGeom>
          <a:solidFill>
            <a:srgbClr val="6B3FA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0" name="Text 121"/>
          <p:cNvSpPr txBox="1"/>
          <p:nvPr/>
        </p:nvSpPr>
        <p:spPr>
          <a:xfrm>
            <a:off x="10273284" y="100584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000" dirty="0"/>
          </a:p>
        </p:txBody>
      </p:sp>
      <p:sp>
        <p:nvSpPr>
          <p:cNvPr id="151" name="Text 122"/>
          <p:cNvSpPr txBox="1"/>
          <p:nvPr/>
        </p:nvSpPr>
        <p:spPr>
          <a:xfrm>
            <a:off x="9262872" y="1344168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 D</a:t>
            </a:r>
            <a:endParaRPr lang="en-US" sz="1400" dirty="0"/>
          </a:p>
        </p:txBody>
      </p:sp>
      <p:sp>
        <p:nvSpPr>
          <p:cNvPr id="152" name="Text 123"/>
          <p:cNvSpPr txBox="1"/>
          <p:nvPr/>
        </p:nvSpPr>
        <p:spPr>
          <a:xfrm>
            <a:off x="10863072" y="134416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regras</a:t>
            </a:r>
            <a:endParaRPr lang="en-US" sz="1000" dirty="0"/>
          </a:p>
        </p:txBody>
      </p:sp>
      <p:sp>
        <p:nvSpPr>
          <p:cNvPr id="153" name="Shape 124"/>
          <p:cNvSpPr/>
          <p:nvPr/>
        </p:nvSpPr>
        <p:spPr>
          <a:xfrm>
            <a:off x="9217152" y="1828800"/>
            <a:ext cx="2606040" cy="987552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C4B2D9"/>
            </a:solidFill>
            <a:prstDash val="solid"/>
          </a:ln>
        </p:spPr>
      </p:sp>
      <p:sp>
        <p:nvSpPr>
          <p:cNvPr id="154" name="Text 125"/>
          <p:cNvSpPr txBox="1"/>
          <p:nvPr/>
        </p:nvSpPr>
        <p:spPr>
          <a:xfrm>
            <a:off x="9290304" y="1865376"/>
            <a:ext cx="2459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SE APLICA</a:t>
            </a:r>
            <a:endParaRPr lang="en-US" sz="8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Evento: </a:t>
            </a:r>
            <a:pPr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Alteração de cargo · Promoção (Equipes)</a:t>
            </a:r>
            <a:endParaRPr lang="en-US" sz="8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Mão de obra destino: </a:t>
            </a:r>
            <a:pPr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</a:t>
            </a:r>
            <a:endParaRPr lang="en-US" sz="8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Altera gestor: </a:t>
            </a:r>
            <a:pPr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</a:t>
            </a:r>
            <a:endParaRPr lang="en-US" sz="850" dirty="0"/>
          </a:p>
        </p:txBody>
      </p:sp>
      <p:sp>
        <p:nvSpPr>
          <p:cNvPr id="155" name="Text 126"/>
          <p:cNvSpPr txBox="1"/>
          <p:nvPr/>
        </p:nvSpPr>
        <p:spPr>
          <a:xfrm>
            <a:off x="9235440" y="2907792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900" dirty="0"/>
          </a:p>
        </p:txBody>
      </p:sp>
      <p:pic>
        <p:nvPicPr>
          <p:cNvPr id="156" name="Image 27" descr="preencode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9491472" y="2949854"/>
            <a:ext cx="182880" cy="182880"/>
          </a:xfrm>
          <a:prstGeom prst="rect">
            <a:avLst/>
          </a:prstGeom>
        </p:spPr>
      </p:pic>
      <p:sp>
        <p:nvSpPr>
          <p:cNvPr id="157" name="Text 127"/>
          <p:cNvSpPr txBox="1"/>
          <p:nvPr/>
        </p:nvSpPr>
        <p:spPr>
          <a:xfrm>
            <a:off x="9729216" y="2907792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CARREIRA E RECOMPENSA</a:t>
            </a:r>
            <a:endParaRPr lang="en-US" sz="850" dirty="0"/>
          </a:p>
        </p:txBody>
      </p:sp>
      <p:sp>
        <p:nvSpPr>
          <p:cNvPr id="158" name="Text 128"/>
          <p:cNvSpPr txBox="1"/>
          <p:nvPr/>
        </p:nvSpPr>
        <p:spPr>
          <a:xfrm>
            <a:off x="11045952" y="2953512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APROVADOR</a:t>
            </a:r>
            <a:endParaRPr lang="en-US" sz="700" dirty="0"/>
          </a:p>
        </p:txBody>
      </p:sp>
      <p:sp>
        <p:nvSpPr>
          <p:cNvPr id="159" name="Text 129"/>
          <p:cNvSpPr txBox="1"/>
          <p:nvPr/>
        </p:nvSpPr>
        <p:spPr>
          <a:xfrm>
            <a:off x="9235440" y="3174797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900" dirty="0"/>
          </a:p>
        </p:txBody>
      </p:sp>
      <p:pic>
        <p:nvPicPr>
          <p:cNvPr id="160" name="Image 28" descr="preencoded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9491472" y="3216859"/>
            <a:ext cx="182880" cy="182880"/>
          </a:xfrm>
          <a:prstGeom prst="rect">
            <a:avLst/>
          </a:prstGeom>
        </p:spPr>
      </p:pic>
      <p:sp>
        <p:nvSpPr>
          <p:cNvPr id="161" name="Text 130"/>
          <p:cNvSpPr txBox="1"/>
          <p:nvPr/>
        </p:nvSpPr>
        <p:spPr>
          <a:xfrm>
            <a:off x="9729216" y="3174797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TREINAMENTO</a:t>
            </a:r>
            <a:endParaRPr lang="en-US" sz="850" dirty="0"/>
          </a:p>
        </p:txBody>
      </p:sp>
      <p:sp>
        <p:nvSpPr>
          <p:cNvPr id="162" name="Text 131"/>
          <p:cNvSpPr txBox="1"/>
          <p:nvPr/>
        </p:nvSpPr>
        <p:spPr>
          <a:xfrm>
            <a:off x="11045952" y="3220517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APROVADOR</a:t>
            </a:r>
            <a:endParaRPr lang="en-US" sz="700" dirty="0"/>
          </a:p>
        </p:txBody>
      </p:sp>
      <p:sp>
        <p:nvSpPr>
          <p:cNvPr id="163" name="Text 132"/>
          <p:cNvSpPr txBox="1"/>
          <p:nvPr/>
        </p:nvSpPr>
        <p:spPr>
          <a:xfrm>
            <a:off x="9235440" y="3441802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900" dirty="0"/>
          </a:p>
        </p:txBody>
      </p:sp>
      <p:pic>
        <p:nvPicPr>
          <p:cNvPr id="164" name="Image 29" descr="preencoded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9491472" y="3483864"/>
            <a:ext cx="182880" cy="182880"/>
          </a:xfrm>
          <a:prstGeom prst="rect">
            <a:avLst/>
          </a:prstGeom>
        </p:spPr>
      </p:pic>
      <p:sp>
        <p:nvSpPr>
          <p:cNvPr id="165" name="Text 133"/>
          <p:cNvSpPr txBox="1"/>
          <p:nvPr/>
        </p:nvSpPr>
        <p:spPr>
          <a:xfrm>
            <a:off x="9729216" y="3441802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MEDICINA</a:t>
            </a:r>
            <a:endParaRPr lang="en-US" sz="850" dirty="0"/>
          </a:p>
        </p:txBody>
      </p:sp>
      <p:sp>
        <p:nvSpPr>
          <p:cNvPr id="166" name="Text 134"/>
          <p:cNvSpPr txBox="1"/>
          <p:nvPr/>
        </p:nvSpPr>
        <p:spPr>
          <a:xfrm>
            <a:off x="11045952" y="3487522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APROVADOR</a:t>
            </a:r>
            <a:endParaRPr lang="en-US" sz="700" dirty="0"/>
          </a:p>
        </p:txBody>
      </p:sp>
      <p:sp>
        <p:nvSpPr>
          <p:cNvPr id="167" name="Text 135"/>
          <p:cNvSpPr txBox="1"/>
          <p:nvPr/>
        </p:nvSpPr>
        <p:spPr>
          <a:xfrm>
            <a:off x="9235440" y="3708806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endParaRPr lang="en-US" sz="900" dirty="0"/>
          </a:p>
        </p:txBody>
      </p:sp>
      <p:pic>
        <p:nvPicPr>
          <p:cNvPr id="168" name="Image 30" descr="preencoded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9491472" y="3750869"/>
            <a:ext cx="182880" cy="182880"/>
          </a:xfrm>
          <a:prstGeom prst="rect">
            <a:avLst/>
          </a:prstGeom>
        </p:spPr>
      </p:pic>
      <p:sp>
        <p:nvSpPr>
          <p:cNvPr id="169" name="Text 136"/>
          <p:cNvSpPr txBox="1"/>
          <p:nvPr/>
        </p:nvSpPr>
        <p:spPr>
          <a:xfrm>
            <a:off x="9729216" y="3708806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DO TRABALHO</a:t>
            </a:r>
            <a:endParaRPr lang="en-US" sz="850" dirty="0"/>
          </a:p>
        </p:txBody>
      </p:sp>
      <p:sp>
        <p:nvSpPr>
          <p:cNvPr id="170" name="Text 137"/>
          <p:cNvSpPr txBox="1"/>
          <p:nvPr/>
        </p:nvSpPr>
        <p:spPr>
          <a:xfrm>
            <a:off x="11045952" y="3754526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APROVADOR</a:t>
            </a:r>
            <a:endParaRPr lang="en-US" sz="700" dirty="0"/>
          </a:p>
        </p:txBody>
      </p:sp>
      <p:sp>
        <p:nvSpPr>
          <p:cNvPr id="171" name="Text 138"/>
          <p:cNvSpPr txBox="1"/>
          <p:nvPr/>
        </p:nvSpPr>
        <p:spPr>
          <a:xfrm>
            <a:off x="9235440" y="3975811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</a:t>
            </a:r>
            <a:endParaRPr lang="en-US" sz="900" dirty="0"/>
          </a:p>
        </p:txBody>
      </p:sp>
      <p:pic>
        <p:nvPicPr>
          <p:cNvPr id="172" name="Image 31" descr="preencoded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9491472" y="4017874"/>
            <a:ext cx="182880" cy="182880"/>
          </a:xfrm>
          <a:prstGeom prst="rect">
            <a:avLst/>
          </a:prstGeom>
        </p:spPr>
      </p:pic>
      <p:sp>
        <p:nvSpPr>
          <p:cNvPr id="173" name="Text 139"/>
          <p:cNvSpPr txBox="1"/>
          <p:nvPr/>
        </p:nvSpPr>
        <p:spPr>
          <a:xfrm>
            <a:off x="9729216" y="3975811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GESTOR SOLICITANTE</a:t>
            </a:r>
            <a:endParaRPr lang="en-US" sz="850" dirty="0"/>
          </a:p>
        </p:txBody>
      </p:sp>
      <p:sp>
        <p:nvSpPr>
          <p:cNvPr id="174" name="Text 140"/>
          <p:cNvSpPr txBox="1"/>
          <p:nvPr/>
        </p:nvSpPr>
        <p:spPr>
          <a:xfrm>
            <a:off x="11045952" y="4021531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CONTRIBUINTE</a:t>
            </a:r>
            <a:endParaRPr lang="en-US" sz="700" dirty="0"/>
          </a:p>
        </p:txBody>
      </p:sp>
      <p:sp>
        <p:nvSpPr>
          <p:cNvPr id="175" name="Text 141"/>
          <p:cNvSpPr txBox="1"/>
          <p:nvPr/>
        </p:nvSpPr>
        <p:spPr>
          <a:xfrm>
            <a:off x="9235440" y="4242816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</a:t>
            </a:r>
            <a:endParaRPr lang="en-US" sz="900" dirty="0"/>
          </a:p>
        </p:txBody>
      </p:sp>
      <p:pic>
        <p:nvPicPr>
          <p:cNvPr id="176" name="Image 32" descr="preencoded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9491472" y="4284878"/>
            <a:ext cx="182880" cy="182880"/>
          </a:xfrm>
          <a:prstGeom prst="rect">
            <a:avLst/>
          </a:prstGeom>
        </p:spPr>
      </p:pic>
      <p:sp>
        <p:nvSpPr>
          <p:cNvPr id="177" name="Text 142"/>
          <p:cNvSpPr txBox="1"/>
          <p:nvPr/>
        </p:nvSpPr>
        <p:spPr>
          <a:xfrm>
            <a:off x="9729216" y="4242816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COLABORADOR</a:t>
            </a:r>
            <a:endParaRPr lang="en-US" sz="850" dirty="0"/>
          </a:p>
        </p:txBody>
      </p:sp>
      <p:sp>
        <p:nvSpPr>
          <p:cNvPr id="178" name="Text 143"/>
          <p:cNvSpPr txBox="1"/>
          <p:nvPr/>
        </p:nvSpPr>
        <p:spPr>
          <a:xfrm>
            <a:off x="11045952" y="4288536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APROVADOR</a:t>
            </a:r>
            <a:endParaRPr lang="en-US" sz="700" dirty="0"/>
          </a:p>
        </p:txBody>
      </p:sp>
      <p:sp>
        <p:nvSpPr>
          <p:cNvPr id="179" name="Text 144"/>
          <p:cNvSpPr txBox="1"/>
          <p:nvPr/>
        </p:nvSpPr>
        <p:spPr>
          <a:xfrm>
            <a:off x="9235440" y="4509821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</a:t>
            </a:r>
            <a:endParaRPr lang="en-US" sz="900" dirty="0"/>
          </a:p>
        </p:txBody>
      </p:sp>
      <p:pic>
        <p:nvPicPr>
          <p:cNvPr id="180" name="Image 33" descr="preencoded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9491472" y="4551883"/>
            <a:ext cx="182880" cy="182880"/>
          </a:xfrm>
          <a:prstGeom prst="rect">
            <a:avLst/>
          </a:prstGeom>
        </p:spPr>
      </p:pic>
      <p:sp>
        <p:nvSpPr>
          <p:cNvPr id="181" name="Text 145"/>
          <p:cNvSpPr txBox="1"/>
          <p:nvPr/>
        </p:nvSpPr>
        <p:spPr>
          <a:xfrm>
            <a:off x="9729216" y="4509821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CARREIRA E RECOMPENSA</a:t>
            </a:r>
            <a:endParaRPr lang="en-US" sz="850" dirty="0"/>
          </a:p>
        </p:txBody>
      </p:sp>
      <p:sp>
        <p:nvSpPr>
          <p:cNvPr id="182" name="Text 146"/>
          <p:cNvSpPr txBox="1"/>
          <p:nvPr/>
        </p:nvSpPr>
        <p:spPr>
          <a:xfrm>
            <a:off x="11045952" y="4555541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APROVADOR</a:t>
            </a:r>
            <a:endParaRPr lang="en-US" sz="700" dirty="0"/>
          </a:p>
        </p:txBody>
      </p:sp>
      <p:sp>
        <p:nvSpPr>
          <p:cNvPr id="183" name="Shape 147"/>
          <p:cNvSpPr/>
          <p:nvPr/>
        </p:nvSpPr>
        <p:spPr>
          <a:xfrm>
            <a:off x="9198864" y="4785970"/>
            <a:ext cx="2642616" cy="248717"/>
          </a:xfrm>
          <a:prstGeom prst="roundRect">
            <a:avLst>
              <a:gd name="adj" fmla="val 11029"/>
            </a:avLst>
          </a:prstGeom>
          <a:solidFill>
            <a:srgbClr val="FFF1CC"/>
          </a:solidFill>
          <a:ln w="6350">
            <a:solidFill>
              <a:srgbClr val="F2D27A"/>
            </a:solidFill>
            <a:prstDash val="solid"/>
          </a:ln>
        </p:spPr>
      </p:sp>
      <p:sp>
        <p:nvSpPr>
          <p:cNvPr id="184" name="Text 148"/>
          <p:cNvSpPr txBox="1"/>
          <p:nvPr/>
        </p:nvSpPr>
        <p:spPr>
          <a:xfrm>
            <a:off x="9235440" y="4776826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</a:t>
            </a:r>
            <a:endParaRPr lang="en-US" sz="900" dirty="0"/>
          </a:p>
        </p:txBody>
      </p:sp>
      <p:pic>
        <p:nvPicPr>
          <p:cNvPr id="185" name="Image 34" descr="preencoded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9491472" y="4818888"/>
            <a:ext cx="182880" cy="182880"/>
          </a:xfrm>
          <a:prstGeom prst="rect">
            <a:avLst/>
          </a:prstGeom>
        </p:spPr>
      </p:pic>
      <p:sp>
        <p:nvSpPr>
          <p:cNvPr id="186" name="Text 149"/>
          <p:cNvSpPr txBox="1"/>
          <p:nvPr/>
        </p:nvSpPr>
        <p:spPr>
          <a:xfrm>
            <a:off x="9729216" y="4776826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CONTROLADORIA</a:t>
            </a:r>
            <a:endParaRPr lang="en-US" sz="850" dirty="0"/>
          </a:p>
        </p:txBody>
      </p:sp>
      <p:sp>
        <p:nvSpPr>
          <p:cNvPr id="187" name="Text 150"/>
          <p:cNvSpPr txBox="1"/>
          <p:nvPr/>
        </p:nvSpPr>
        <p:spPr>
          <a:xfrm>
            <a:off x="11045952" y="4822546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CÓPIA</a:t>
            </a:r>
            <a:endParaRPr lang="en-US" sz="700" dirty="0"/>
          </a:p>
        </p:txBody>
      </p:sp>
      <p:sp>
        <p:nvSpPr>
          <p:cNvPr id="188" name="Shape 151"/>
          <p:cNvSpPr/>
          <p:nvPr/>
        </p:nvSpPr>
        <p:spPr>
          <a:xfrm>
            <a:off x="9198864" y="5052974"/>
            <a:ext cx="2642616" cy="248717"/>
          </a:xfrm>
          <a:prstGeom prst="roundRect">
            <a:avLst>
              <a:gd name="adj" fmla="val 11029"/>
            </a:avLst>
          </a:prstGeom>
          <a:solidFill>
            <a:srgbClr val="FFF1CC"/>
          </a:solidFill>
          <a:ln w="6350">
            <a:solidFill>
              <a:srgbClr val="F2D27A"/>
            </a:solidFill>
            <a:prstDash val="solid"/>
          </a:ln>
        </p:spPr>
      </p:sp>
      <p:sp>
        <p:nvSpPr>
          <p:cNvPr id="189" name="Text 152"/>
          <p:cNvSpPr txBox="1"/>
          <p:nvPr/>
        </p:nvSpPr>
        <p:spPr>
          <a:xfrm>
            <a:off x="9235440" y="5043830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</a:t>
            </a:r>
            <a:endParaRPr lang="en-US" sz="900" dirty="0"/>
          </a:p>
        </p:txBody>
      </p:sp>
      <p:pic>
        <p:nvPicPr>
          <p:cNvPr id="190" name="Image 35" descr="preencoded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9491472" y="5085893"/>
            <a:ext cx="182880" cy="182880"/>
          </a:xfrm>
          <a:prstGeom prst="rect">
            <a:avLst/>
          </a:prstGeom>
        </p:spPr>
      </p:pic>
      <p:sp>
        <p:nvSpPr>
          <p:cNvPr id="191" name="Text 153"/>
          <p:cNvSpPr txBox="1"/>
          <p:nvPr/>
        </p:nvSpPr>
        <p:spPr>
          <a:xfrm>
            <a:off x="9729216" y="5043830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FOLHA DE PAGAMENTO</a:t>
            </a:r>
            <a:endParaRPr lang="en-US" sz="850" dirty="0"/>
          </a:p>
        </p:txBody>
      </p:sp>
      <p:sp>
        <p:nvSpPr>
          <p:cNvPr id="192" name="Text 154"/>
          <p:cNvSpPr txBox="1"/>
          <p:nvPr/>
        </p:nvSpPr>
        <p:spPr>
          <a:xfrm>
            <a:off x="11045952" y="5089550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CÓPIA</a:t>
            </a:r>
            <a:endParaRPr lang="en-US" sz="700" dirty="0"/>
          </a:p>
        </p:txBody>
      </p:sp>
      <p:sp>
        <p:nvSpPr>
          <p:cNvPr id="193" name="Shape 155"/>
          <p:cNvSpPr/>
          <p:nvPr/>
        </p:nvSpPr>
        <p:spPr>
          <a:xfrm>
            <a:off x="274320" y="6263640"/>
            <a:ext cx="11640312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C9D6EA"/>
            </a:solidFill>
            <a:prstDash val="solid"/>
          </a:ln>
        </p:spPr>
      </p:sp>
      <p:sp>
        <p:nvSpPr>
          <p:cNvPr id="194" name="Shape 156"/>
          <p:cNvSpPr/>
          <p:nvPr/>
        </p:nvSpPr>
        <p:spPr>
          <a:xfrm>
            <a:off x="411480" y="6355080"/>
            <a:ext cx="365760" cy="228600"/>
          </a:xfrm>
          <a:prstGeom prst="roundRect">
            <a:avLst>
              <a:gd name="adj" fmla="val 12000"/>
            </a:avLst>
          </a:prstGeom>
          <a:solidFill>
            <a:srgbClr val="FFF1CC"/>
          </a:solidFill>
          <a:ln w="6350">
            <a:solidFill>
              <a:srgbClr val="F2D27A"/>
            </a:solidFill>
            <a:prstDash val="solid"/>
          </a:ln>
        </p:spPr>
      </p:sp>
      <p:sp>
        <p:nvSpPr>
          <p:cNvPr id="195" name="Text 157"/>
          <p:cNvSpPr txBox="1"/>
          <p:nvPr/>
        </p:nvSpPr>
        <p:spPr>
          <a:xfrm>
            <a:off x="868680" y="630936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acrescida pela condição (Gestor Atual · Compliance/DHO · Cópias Controladoria/Folha)</a:t>
            </a:r>
            <a:endParaRPr lang="en-US" sz="950" dirty="0"/>
          </a:p>
        </p:txBody>
      </p:sp>
      <p:sp>
        <p:nvSpPr>
          <p:cNvPr id="196" name="Text 158"/>
          <p:cNvSpPr txBox="1"/>
          <p:nvPr/>
        </p:nvSpPr>
        <p:spPr>
          <a:xfrm>
            <a:off x="6583680" y="630936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APROVADOR</a:t>
            </a:r>
            <a:pPr algn="r" indent="0" marL="0">
              <a:buNone/>
            </a:pPr>
            <a:r>
              <a:rPr lang="en-US" sz="9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aprova a etapa   ·   </a:t>
            </a:r>
            <a:pPr algn="r" indent="0" marL="0">
              <a:buNone/>
            </a:pPr>
            <a:r>
              <a:rPr lang="en-US" sz="950" b="1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CONTRIBUINTE</a:t>
            </a:r>
            <a:pPr algn="r" indent="0" marL="0">
              <a:buNone/>
            </a:pPr>
            <a:r>
              <a:rPr lang="en-US" sz="9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contribui sem aprovar   ·   </a:t>
            </a:r>
            <a:pPr algn="r" indent="0" marL="0">
              <a:buNone/>
            </a:pPr>
            <a:r>
              <a:rPr lang="en-US" sz="950" b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CÓPIA</a:t>
            </a:r>
            <a:pPr algn="r" indent="0" marL="0">
              <a:buNone/>
            </a:pPr>
            <a:r>
              <a:rPr lang="en-US" sz="9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recebe ciência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82880"/>
            <a:ext cx="11640312" cy="749808"/>
          </a:xfrm>
          <a:prstGeom prst="roundRect">
            <a:avLst>
              <a:gd name="adj" fmla="val 7317"/>
            </a:avLst>
          </a:prstGeom>
          <a:solidFill>
            <a:srgbClr val="123C7A"/>
          </a:solidFill>
          <a:ln w="12700">
            <a:solidFill>
              <a:srgbClr val="123C7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219456"/>
            <a:ext cx="116403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ROTAS DE APROVAÇÃO – COM ALTERAÇÃO DE GESTOR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274320" y="585216"/>
            <a:ext cx="11640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ROTAS E · F · G · H  =  ROTAS A · B · C · D + GESTOR ATUAL COMO 1º APROVADOR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325880"/>
            <a:ext cx="2788920" cy="4818888"/>
          </a:xfrm>
          <a:prstGeom prst="roundRect">
            <a:avLst>
              <a:gd name="adj" fmla="val 1967"/>
            </a:avLst>
          </a:prstGeom>
          <a:solidFill>
            <a:srgbClr val="FBF1F0"/>
          </a:solidFill>
          <a:ln w="12700">
            <a:solidFill>
              <a:srgbClr val="E3A6A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1325880"/>
            <a:ext cx="2788920" cy="420624"/>
          </a:xfrm>
          <a:prstGeom prst="roundRect">
            <a:avLst>
              <a:gd name="adj" fmla="val 13043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1600200"/>
            <a:ext cx="2788920" cy="14630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21892" y="1005840"/>
            <a:ext cx="493776" cy="493776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21892" y="100584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11480" y="1344168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 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011680" y="134416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regras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1828800"/>
            <a:ext cx="2606040" cy="987552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E6B0A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8912" y="1865376"/>
            <a:ext cx="2459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SE APLICA</a:t>
            </a:r>
            <a:endParaRPr lang="en-US" sz="8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Evento: </a:t>
            </a:r>
            <a:pPr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Promoção (Liderança)</a:t>
            </a:r>
            <a:endParaRPr lang="en-US" sz="8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Mão de obra destino: </a:t>
            </a:r>
            <a:pPr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</a:t>
            </a:r>
            <a:endParaRPr lang="en-US" sz="8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Altera gestor: </a:t>
            </a:r>
            <a:pPr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47472" y="2916936"/>
            <a:ext cx="2642616" cy="248717"/>
          </a:xfrm>
          <a:prstGeom prst="roundRect">
            <a:avLst>
              <a:gd name="adj" fmla="val 11029"/>
            </a:avLst>
          </a:prstGeom>
          <a:solidFill>
            <a:srgbClr val="FFF1CC"/>
          </a:solidFill>
          <a:ln w="6350">
            <a:solidFill>
              <a:srgbClr val="F2D27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84048" y="2907792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9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949854"/>
            <a:ext cx="182880" cy="18288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77824" y="2907792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GESTOR ATUAL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2194560" y="2953512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APROVADOR</a:t>
            </a:r>
            <a:endParaRPr lang="en-US" sz="700" dirty="0"/>
          </a:p>
        </p:txBody>
      </p:sp>
      <p:sp>
        <p:nvSpPr>
          <p:cNvPr id="19" name="Text 16"/>
          <p:cNvSpPr txBox="1"/>
          <p:nvPr/>
        </p:nvSpPr>
        <p:spPr>
          <a:xfrm>
            <a:off x="384048" y="3174797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9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16859"/>
            <a:ext cx="182880" cy="18288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877824" y="3174797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CARREIRA E RECOMPENSA</a:t>
            </a:r>
            <a:endParaRPr lang="en-US" sz="850" dirty="0"/>
          </a:p>
        </p:txBody>
      </p:sp>
      <p:sp>
        <p:nvSpPr>
          <p:cNvPr id="22" name="Text 18"/>
          <p:cNvSpPr txBox="1"/>
          <p:nvPr/>
        </p:nvSpPr>
        <p:spPr>
          <a:xfrm>
            <a:off x="2194560" y="3220517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APROVADOR</a:t>
            </a:r>
            <a:endParaRPr lang="en-US" sz="700" dirty="0"/>
          </a:p>
        </p:txBody>
      </p:sp>
      <p:sp>
        <p:nvSpPr>
          <p:cNvPr id="23" name="Shape 19"/>
          <p:cNvSpPr/>
          <p:nvPr/>
        </p:nvSpPr>
        <p:spPr>
          <a:xfrm>
            <a:off x="347472" y="3450946"/>
            <a:ext cx="2642616" cy="248717"/>
          </a:xfrm>
          <a:prstGeom prst="roundRect">
            <a:avLst>
              <a:gd name="adj" fmla="val 11029"/>
            </a:avLst>
          </a:prstGeom>
          <a:solidFill>
            <a:srgbClr val="FFF1CC"/>
          </a:solidFill>
          <a:ln w="6350">
            <a:solidFill>
              <a:srgbClr val="F2D27A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384048" y="3441802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900" dirty="0"/>
          </a:p>
        </p:txBody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483864"/>
            <a:ext cx="182880" cy="18288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877824" y="3441802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850" dirty="0"/>
          </a:p>
        </p:txBody>
      </p:sp>
      <p:sp>
        <p:nvSpPr>
          <p:cNvPr id="27" name="Text 22"/>
          <p:cNvSpPr txBox="1"/>
          <p:nvPr/>
        </p:nvSpPr>
        <p:spPr>
          <a:xfrm>
            <a:off x="2194560" y="3487522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APROVADOR</a:t>
            </a:r>
            <a:endParaRPr lang="en-US" sz="700" dirty="0"/>
          </a:p>
        </p:txBody>
      </p:sp>
      <p:sp>
        <p:nvSpPr>
          <p:cNvPr id="28" name="Shape 23"/>
          <p:cNvSpPr/>
          <p:nvPr/>
        </p:nvSpPr>
        <p:spPr>
          <a:xfrm>
            <a:off x="347472" y="3717950"/>
            <a:ext cx="2642616" cy="248717"/>
          </a:xfrm>
          <a:prstGeom prst="roundRect">
            <a:avLst>
              <a:gd name="adj" fmla="val 11029"/>
            </a:avLst>
          </a:prstGeom>
          <a:solidFill>
            <a:srgbClr val="FFF1CC"/>
          </a:solidFill>
          <a:ln w="6350">
            <a:solidFill>
              <a:srgbClr val="F2D27A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384048" y="3708806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endParaRPr lang="en-US" sz="900" dirty="0"/>
          </a:p>
        </p:txBody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750869"/>
            <a:ext cx="182880" cy="18288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877824" y="3708806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DESENV. HUMANO ORGANIZACIONAL</a:t>
            </a:r>
            <a:endParaRPr lang="en-US" sz="750" dirty="0"/>
          </a:p>
        </p:txBody>
      </p:sp>
      <p:sp>
        <p:nvSpPr>
          <p:cNvPr id="32" name="Text 26"/>
          <p:cNvSpPr txBox="1"/>
          <p:nvPr/>
        </p:nvSpPr>
        <p:spPr>
          <a:xfrm>
            <a:off x="2194560" y="3754526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APROVADOR</a:t>
            </a:r>
            <a:endParaRPr lang="en-US" sz="700" dirty="0"/>
          </a:p>
        </p:txBody>
      </p:sp>
      <p:sp>
        <p:nvSpPr>
          <p:cNvPr id="33" name="Text 27"/>
          <p:cNvSpPr txBox="1"/>
          <p:nvPr/>
        </p:nvSpPr>
        <p:spPr>
          <a:xfrm>
            <a:off x="384048" y="3975811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</a:t>
            </a:r>
            <a:endParaRPr lang="en-US" sz="900" dirty="0"/>
          </a:p>
        </p:txBody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017874"/>
            <a:ext cx="182880" cy="18288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877824" y="3975811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TREINAMENTO</a:t>
            </a:r>
            <a:endParaRPr lang="en-US" sz="850" dirty="0"/>
          </a:p>
        </p:txBody>
      </p:sp>
      <p:sp>
        <p:nvSpPr>
          <p:cNvPr id="36" name="Text 29"/>
          <p:cNvSpPr txBox="1"/>
          <p:nvPr/>
        </p:nvSpPr>
        <p:spPr>
          <a:xfrm>
            <a:off x="2194560" y="4021531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APROVADOR</a:t>
            </a:r>
            <a:endParaRPr lang="en-US" sz="700" dirty="0"/>
          </a:p>
        </p:txBody>
      </p:sp>
      <p:sp>
        <p:nvSpPr>
          <p:cNvPr id="37" name="Text 30"/>
          <p:cNvSpPr txBox="1"/>
          <p:nvPr/>
        </p:nvSpPr>
        <p:spPr>
          <a:xfrm>
            <a:off x="384048" y="4242816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</a:t>
            </a:r>
            <a:endParaRPr lang="en-US" sz="900" dirty="0"/>
          </a:p>
        </p:txBody>
      </p:sp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4284878"/>
            <a:ext cx="182880" cy="182880"/>
          </a:xfrm>
          <a:prstGeom prst="rect">
            <a:avLst/>
          </a:prstGeom>
        </p:spPr>
      </p:pic>
      <p:sp>
        <p:nvSpPr>
          <p:cNvPr id="39" name="Text 31"/>
          <p:cNvSpPr txBox="1"/>
          <p:nvPr/>
        </p:nvSpPr>
        <p:spPr>
          <a:xfrm>
            <a:off x="877824" y="4242816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MEDICINA</a:t>
            </a:r>
            <a:endParaRPr lang="en-US" sz="850" dirty="0"/>
          </a:p>
        </p:txBody>
      </p:sp>
      <p:sp>
        <p:nvSpPr>
          <p:cNvPr id="40" name="Text 32"/>
          <p:cNvSpPr txBox="1"/>
          <p:nvPr/>
        </p:nvSpPr>
        <p:spPr>
          <a:xfrm>
            <a:off x="2194560" y="4288536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APROVADOR</a:t>
            </a:r>
            <a:endParaRPr lang="en-US" sz="700" dirty="0"/>
          </a:p>
        </p:txBody>
      </p:sp>
      <p:sp>
        <p:nvSpPr>
          <p:cNvPr id="41" name="Text 33"/>
          <p:cNvSpPr txBox="1"/>
          <p:nvPr/>
        </p:nvSpPr>
        <p:spPr>
          <a:xfrm>
            <a:off x="384048" y="4509821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</a:t>
            </a:r>
            <a:endParaRPr lang="en-US" sz="900" dirty="0"/>
          </a:p>
        </p:txBody>
      </p:sp>
      <p:pic>
        <p:nvPicPr>
          <p:cNvPr id="4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4551883"/>
            <a:ext cx="182880" cy="182880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877824" y="4509821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DO TRABALHO</a:t>
            </a:r>
            <a:endParaRPr lang="en-US" sz="850" dirty="0"/>
          </a:p>
        </p:txBody>
      </p:sp>
      <p:sp>
        <p:nvSpPr>
          <p:cNvPr id="44" name="Text 35"/>
          <p:cNvSpPr txBox="1"/>
          <p:nvPr/>
        </p:nvSpPr>
        <p:spPr>
          <a:xfrm>
            <a:off x="2194560" y="4555541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APROVADOR</a:t>
            </a:r>
            <a:endParaRPr lang="en-US" sz="700" dirty="0"/>
          </a:p>
        </p:txBody>
      </p:sp>
      <p:sp>
        <p:nvSpPr>
          <p:cNvPr id="45" name="Text 36"/>
          <p:cNvSpPr txBox="1"/>
          <p:nvPr/>
        </p:nvSpPr>
        <p:spPr>
          <a:xfrm>
            <a:off x="384048" y="4776826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</a:t>
            </a:r>
            <a:endParaRPr lang="en-US" sz="900" dirty="0"/>
          </a:p>
        </p:txBody>
      </p:sp>
      <p:pic>
        <p:nvPicPr>
          <p:cNvPr id="4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" y="4818888"/>
            <a:ext cx="182880" cy="182880"/>
          </a:xfrm>
          <a:prstGeom prst="rect">
            <a:avLst/>
          </a:prstGeom>
        </p:spPr>
      </p:pic>
      <p:sp>
        <p:nvSpPr>
          <p:cNvPr id="47" name="Text 37"/>
          <p:cNvSpPr txBox="1"/>
          <p:nvPr/>
        </p:nvSpPr>
        <p:spPr>
          <a:xfrm>
            <a:off x="877824" y="4776826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GESTOR SOLICITANTE</a:t>
            </a:r>
            <a:endParaRPr lang="en-US" sz="850" dirty="0"/>
          </a:p>
        </p:txBody>
      </p:sp>
      <p:sp>
        <p:nvSpPr>
          <p:cNvPr id="48" name="Text 38"/>
          <p:cNvSpPr txBox="1"/>
          <p:nvPr/>
        </p:nvSpPr>
        <p:spPr>
          <a:xfrm>
            <a:off x="2194560" y="4822546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CONTRIBUINTE</a:t>
            </a:r>
            <a:endParaRPr lang="en-US" sz="700" dirty="0"/>
          </a:p>
        </p:txBody>
      </p:sp>
      <p:sp>
        <p:nvSpPr>
          <p:cNvPr id="49" name="Text 39"/>
          <p:cNvSpPr txBox="1"/>
          <p:nvPr/>
        </p:nvSpPr>
        <p:spPr>
          <a:xfrm>
            <a:off x="384048" y="5043830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</a:t>
            </a:r>
            <a:endParaRPr lang="en-US" sz="900" dirty="0"/>
          </a:p>
        </p:txBody>
      </p:sp>
      <p:pic>
        <p:nvPicPr>
          <p:cNvPr id="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080" y="5085893"/>
            <a:ext cx="182880" cy="182880"/>
          </a:xfrm>
          <a:prstGeom prst="rect">
            <a:avLst/>
          </a:prstGeom>
        </p:spPr>
      </p:pic>
      <p:sp>
        <p:nvSpPr>
          <p:cNvPr id="51" name="Text 40"/>
          <p:cNvSpPr txBox="1"/>
          <p:nvPr/>
        </p:nvSpPr>
        <p:spPr>
          <a:xfrm>
            <a:off x="877824" y="5043830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COLABORADOR</a:t>
            </a:r>
            <a:endParaRPr lang="en-US" sz="850" dirty="0"/>
          </a:p>
        </p:txBody>
      </p:sp>
      <p:sp>
        <p:nvSpPr>
          <p:cNvPr id="52" name="Text 41"/>
          <p:cNvSpPr txBox="1"/>
          <p:nvPr/>
        </p:nvSpPr>
        <p:spPr>
          <a:xfrm>
            <a:off x="2194560" y="5089550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APROVADOR</a:t>
            </a:r>
            <a:endParaRPr lang="en-US" sz="700" dirty="0"/>
          </a:p>
        </p:txBody>
      </p:sp>
      <p:sp>
        <p:nvSpPr>
          <p:cNvPr id="53" name="Text 42"/>
          <p:cNvSpPr txBox="1"/>
          <p:nvPr/>
        </p:nvSpPr>
        <p:spPr>
          <a:xfrm>
            <a:off x="384048" y="5310835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</a:t>
            </a:r>
            <a:endParaRPr lang="en-US" sz="900" dirty="0"/>
          </a:p>
        </p:txBody>
      </p:sp>
      <p:pic>
        <p:nvPicPr>
          <p:cNvPr id="5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0080" y="5352898"/>
            <a:ext cx="182880" cy="182880"/>
          </a:xfrm>
          <a:prstGeom prst="rect">
            <a:avLst/>
          </a:prstGeom>
        </p:spPr>
      </p:pic>
      <p:sp>
        <p:nvSpPr>
          <p:cNvPr id="55" name="Text 43"/>
          <p:cNvSpPr txBox="1"/>
          <p:nvPr/>
        </p:nvSpPr>
        <p:spPr>
          <a:xfrm>
            <a:off x="877824" y="5310835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CARREIRA E RECOMPENSA</a:t>
            </a:r>
            <a:endParaRPr lang="en-US" sz="850" dirty="0"/>
          </a:p>
        </p:txBody>
      </p:sp>
      <p:sp>
        <p:nvSpPr>
          <p:cNvPr id="56" name="Text 44"/>
          <p:cNvSpPr txBox="1"/>
          <p:nvPr/>
        </p:nvSpPr>
        <p:spPr>
          <a:xfrm>
            <a:off x="2194560" y="5356555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APROVADOR</a:t>
            </a:r>
            <a:endParaRPr lang="en-US" sz="700" dirty="0"/>
          </a:p>
        </p:txBody>
      </p:sp>
      <p:sp>
        <p:nvSpPr>
          <p:cNvPr id="57" name="Shape 45"/>
          <p:cNvSpPr/>
          <p:nvPr/>
        </p:nvSpPr>
        <p:spPr>
          <a:xfrm>
            <a:off x="3224784" y="1325880"/>
            <a:ext cx="2788920" cy="4818888"/>
          </a:xfrm>
          <a:prstGeom prst="roundRect">
            <a:avLst>
              <a:gd name="adj" fmla="val 1967"/>
            </a:avLst>
          </a:prstGeom>
          <a:solidFill>
            <a:srgbClr val="EEF7F7"/>
          </a:solidFill>
          <a:ln w="12700">
            <a:solidFill>
              <a:srgbClr val="93CBCB"/>
            </a:solidFill>
            <a:prstDash val="solid"/>
          </a:ln>
        </p:spPr>
      </p:sp>
      <p:sp>
        <p:nvSpPr>
          <p:cNvPr id="58" name="Shape 46"/>
          <p:cNvSpPr/>
          <p:nvPr/>
        </p:nvSpPr>
        <p:spPr>
          <a:xfrm>
            <a:off x="3224784" y="1325880"/>
            <a:ext cx="2788920" cy="420624"/>
          </a:xfrm>
          <a:prstGeom prst="roundRect">
            <a:avLst>
              <a:gd name="adj" fmla="val 13043"/>
            </a:avLst>
          </a:prstGeom>
          <a:solidFill>
            <a:srgbClr val="0E8C8C"/>
          </a:solidFill>
          <a:ln w="12700">
            <a:solidFill>
              <a:srgbClr val="0E8C8C"/>
            </a:solidFill>
            <a:prstDash val="solid"/>
          </a:ln>
        </p:spPr>
      </p:sp>
      <p:sp>
        <p:nvSpPr>
          <p:cNvPr id="59" name="Shape 47"/>
          <p:cNvSpPr/>
          <p:nvPr/>
        </p:nvSpPr>
        <p:spPr>
          <a:xfrm>
            <a:off x="3224784" y="1600200"/>
            <a:ext cx="2788920" cy="146304"/>
          </a:xfrm>
          <a:prstGeom prst="rect">
            <a:avLst/>
          </a:prstGeom>
          <a:solidFill>
            <a:srgbClr val="0E8C8C"/>
          </a:solidFill>
          <a:ln w="12700">
            <a:solidFill>
              <a:srgbClr val="0E8C8C"/>
            </a:solidFill>
            <a:prstDash val="solid"/>
          </a:ln>
        </p:spPr>
      </p:sp>
      <p:sp>
        <p:nvSpPr>
          <p:cNvPr id="60" name="Shape 48"/>
          <p:cNvSpPr/>
          <p:nvPr/>
        </p:nvSpPr>
        <p:spPr>
          <a:xfrm>
            <a:off x="4372356" y="1005840"/>
            <a:ext cx="493776" cy="493776"/>
          </a:xfrm>
          <a:prstGeom prst="ellipse">
            <a:avLst/>
          </a:prstGeom>
          <a:solidFill>
            <a:srgbClr val="0E8C8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1" name="Text 49"/>
          <p:cNvSpPr txBox="1"/>
          <p:nvPr/>
        </p:nvSpPr>
        <p:spPr>
          <a:xfrm>
            <a:off x="4372356" y="100584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2000" dirty="0"/>
          </a:p>
        </p:txBody>
      </p:sp>
      <p:sp>
        <p:nvSpPr>
          <p:cNvPr id="62" name="Text 50"/>
          <p:cNvSpPr txBox="1"/>
          <p:nvPr/>
        </p:nvSpPr>
        <p:spPr>
          <a:xfrm>
            <a:off x="3361944" y="1344168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 F</a:t>
            </a:r>
            <a:endParaRPr lang="en-US" sz="1400" dirty="0"/>
          </a:p>
        </p:txBody>
      </p:sp>
      <p:sp>
        <p:nvSpPr>
          <p:cNvPr id="63" name="Text 51"/>
          <p:cNvSpPr txBox="1"/>
          <p:nvPr/>
        </p:nvSpPr>
        <p:spPr>
          <a:xfrm>
            <a:off x="4962144" y="134416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regras</a:t>
            </a:r>
            <a:endParaRPr lang="en-US" sz="1000" dirty="0"/>
          </a:p>
        </p:txBody>
      </p:sp>
      <p:sp>
        <p:nvSpPr>
          <p:cNvPr id="64" name="Shape 52"/>
          <p:cNvSpPr/>
          <p:nvPr/>
        </p:nvSpPr>
        <p:spPr>
          <a:xfrm>
            <a:off x="3316224" y="1828800"/>
            <a:ext cx="2606040" cy="987552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9FD1D1"/>
            </a:solidFill>
            <a:prstDash val="solid"/>
          </a:ln>
        </p:spPr>
      </p:sp>
      <p:sp>
        <p:nvSpPr>
          <p:cNvPr id="65" name="Text 53"/>
          <p:cNvSpPr txBox="1"/>
          <p:nvPr/>
        </p:nvSpPr>
        <p:spPr>
          <a:xfrm>
            <a:off x="3389376" y="1865376"/>
            <a:ext cx="2459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SE APLICA</a:t>
            </a:r>
            <a:endParaRPr lang="en-US" sz="8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Evento: </a:t>
            </a:r>
            <a:pPr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Promoção (Cargo de confiança) · Promoção (Gestão / carreira y) · Promoção (Liderança)</a:t>
            </a:r>
            <a:endParaRPr lang="en-US" sz="8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Mão de obra destino: </a:t>
            </a:r>
            <a:pPr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</a:t>
            </a:r>
            <a:endParaRPr lang="en-US" sz="8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Altera gestor: </a:t>
            </a:r>
            <a:pPr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</a:t>
            </a:r>
            <a:endParaRPr lang="en-US" sz="850" dirty="0"/>
          </a:p>
        </p:txBody>
      </p:sp>
      <p:sp>
        <p:nvSpPr>
          <p:cNvPr id="66" name="Shape 54"/>
          <p:cNvSpPr/>
          <p:nvPr/>
        </p:nvSpPr>
        <p:spPr>
          <a:xfrm>
            <a:off x="3297936" y="2916936"/>
            <a:ext cx="2642616" cy="248717"/>
          </a:xfrm>
          <a:prstGeom prst="roundRect">
            <a:avLst>
              <a:gd name="adj" fmla="val 11029"/>
            </a:avLst>
          </a:prstGeom>
          <a:solidFill>
            <a:srgbClr val="FFF1CC"/>
          </a:solidFill>
          <a:ln w="6350">
            <a:solidFill>
              <a:srgbClr val="F2D27A"/>
            </a:solidFill>
            <a:prstDash val="solid"/>
          </a:ln>
        </p:spPr>
      </p:sp>
      <p:sp>
        <p:nvSpPr>
          <p:cNvPr id="67" name="Text 55"/>
          <p:cNvSpPr txBox="1"/>
          <p:nvPr/>
        </p:nvSpPr>
        <p:spPr>
          <a:xfrm>
            <a:off x="3334512" y="2907792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900" dirty="0"/>
          </a:p>
        </p:txBody>
      </p:sp>
      <p:pic>
        <p:nvPicPr>
          <p:cNvPr id="6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590544" y="2949854"/>
            <a:ext cx="182880" cy="182880"/>
          </a:xfrm>
          <a:prstGeom prst="rect">
            <a:avLst/>
          </a:prstGeom>
        </p:spPr>
      </p:pic>
      <p:sp>
        <p:nvSpPr>
          <p:cNvPr id="69" name="Text 56"/>
          <p:cNvSpPr txBox="1"/>
          <p:nvPr/>
        </p:nvSpPr>
        <p:spPr>
          <a:xfrm>
            <a:off x="3828288" y="2907792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GESTOR ATUAL</a:t>
            </a:r>
            <a:endParaRPr lang="en-US" sz="850" dirty="0"/>
          </a:p>
        </p:txBody>
      </p:sp>
      <p:sp>
        <p:nvSpPr>
          <p:cNvPr id="70" name="Text 57"/>
          <p:cNvSpPr txBox="1"/>
          <p:nvPr/>
        </p:nvSpPr>
        <p:spPr>
          <a:xfrm>
            <a:off x="5145024" y="2953512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APROVADOR</a:t>
            </a:r>
            <a:endParaRPr lang="en-US" sz="700" dirty="0"/>
          </a:p>
        </p:txBody>
      </p:sp>
      <p:sp>
        <p:nvSpPr>
          <p:cNvPr id="71" name="Text 58"/>
          <p:cNvSpPr txBox="1"/>
          <p:nvPr/>
        </p:nvSpPr>
        <p:spPr>
          <a:xfrm>
            <a:off x="3334512" y="3174797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900" dirty="0"/>
          </a:p>
        </p:txBody>
      </p:sp>
      <p:pic>
        <p:nvPicPr>
          <p:cNvPr id="72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590544" y="3216859"/>
            <a:ext cx="182880" cy="182880"/>
          </a:xfrm>
          <a:prstGeom prst="rect">
            <a:avLst/>
          </a:prstGeom>
        </p:spPr>
      </p:pic>
      <p:sp>
        <p:nvSpPr>
          <p:cNvPr id="73" name="Text 59"/>
          <p:cNvSpPr txBox="1"/>
          <p:nvPr/>
        </p:nvSpPr>
        <p:spPr>
          <a:xfrm>
            <a:off x="3828288" y="3174797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CARREIRA E RECOMPENSA</a:t>
            </a:r>
            <a:endParaRPr lang="en-US" sz="850" dirty="0"/>
          </a:p>
        </p:txBody>
      </p:sp>
      <p:sp>
        <p:nvSpPr>
          <p:cNvPr id="74" name="Text 60"/>
          <p:cNvSpPr txBox="1"/>
          <p:nvPr/>
        </p:nvSpPr>
        <p:spPr>
          <a:xfrm>
            <a:off x="5145024" y="3220517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APROVADOR</a:t>
            </a:r>
            <a:endParaRPr lang="en-US" sz="700" dirty="0"/>
          </a:p>
        </p:txBody>
      </p:sp>
      <p:sp>
        <p:nvSpPr>
          <p:cNvPr id="75" name="Shape 61"/>
          <p:cNvSpPr/>
          <p:nvPr/>
        </p:nvSpPr>
        <p:spPr>
          <a:xfrm>
            <a:off x="3297936" y="3450946"/>
            <a:ext cx="2642616" cy="248717"/>
          </a:xfrm>
          <a:prstGeom prst="roundRect">
            <a:avLst>
              <a:gd name="adj" fmla="val 11029"/>
            </a:avLst>
          </a:prstGeom>
          <a:solidFill>
            <a:srgbClr val="FFF1CC"/>
          </a:solidFill>
          <a:ln w="6350">
            <a:solidFill>
              <a:srgbClr val="F2D27A"/>
            </a:solidFill>
            <a:prstDash val="solid"/>
          </a:ln>
        </p:spPr>
      </p:sp>
      <p:sp>
        <p:nvSpPr>
          <p:cNvPr id="76" name="Text 62"/>
          <p:cNvSpPr txBox="1"/>
          <p:nvPr/>
        </p:nvSpPr>
        <p:spPr>
          <a:xfrm>
            <a:off x="3334512" y="3441802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900" dirty="0"/>
          </a:p>
        </p:txBody>
      </p:sp>
      <p:pic>
        <p:nvPicPr>
          <p:cNvPr id="77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590544" y="3483864"/>
            <a:ext cx="182880" cy="182880"/>
          </a:xfrm>
          <a:prstGeom prst="rect">
            <a:avLst/>
          </a:prstGeom>
        </p:spPr>
      </p:pic>
      <p:sp>
        <p:nvSpPr>
          <p:cNvPr id="78" name="Text 63"/>
          <p:cNvSpPr txBox="1"/>
          <p:nvPr/>
        </p:nvSpPr>
        <p:spPr>
          <a:xfrm>
            <a:off x="3828288" y="3441802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850" dirty="0"/>
          </a:p>
        </p:txBody>
      </p:sp>
      <p:sp>
        <p:nvSpPr>
          <p:cNvPr id="79" name="Text 64"/>
          <p:cNvSpPr txBox="1"/>
          <p:nvPr/>
        </p:nvSpPr>
        <p:spPr>
          <a:xfrm>
            <a:off x="5145024" y="3487522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APROVADOR</a:t>
            </a:r>
            <a:endParaRPr lang="en-US" sz="700" dirty="0"/>
          </a:p>
        </p:txBody>
      </p:sp>
      <p:sp>
        <p:nvSpPr>
          <p:cNvPr id="80" name="Shape 65"/>
          <p:cNvSpPr/>
          <p:nvPr/>
        </p:nvSpPr>
        <p:spPr>
          <a:xfrm>
            <a:off x="3297936" y="3717950"/>
            <a:ext cx="2642616" cy="248717"/>
          </a:xfrm>
          <a:prstGeom prst="roundRect">
            <a:avLst>
              <a:gd name="adj" fmla="val 11029"/>
            </a:avLst>
          </a:prstGeom>
          <a:solidFill>
            <a:srgbClr val="FFF1CC"/>
          </a:solidFill>
          <a:ln w="6350">
            <a:solidFill>
              <a:srgbClr val="F2D27A"/>
            </a:solidFill>
            <a:prstDash val="solid"/>
          </a:ln>
        </p:spPr>
      </p:sp>
      <p:sp>
        <p:nvSpPr>
          <p:cNvPr id="81" name="Text 66"/>
          <p:cNvSpPr txBox="1"/>
          <p:nvPr/>
        </p:nvSpPr>
        <p:spPr>
          <a:xfrm>
            <a:off x="3334512" y="3708806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endParaRPr lang="en-US" sz="900" dirty="0"/>
          </a:p>
        </p:txBody>
      </p:sp>
      <p:pic>
        <p:nvPicPr>
          <p:cNvPr id="82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590544" y="3750869"/>
            <a:ext cx="182880" cy="182880"/>
          </a:xfrm>
          <a:prstGeom prst="rect">
            <a:avLst/>
          </a:prstGeom>
        </p:spPr>
      </p:pic>
      <p:sp>
        <p:nvSpPr>
          <p:cNvPr id="83" name="Text 67"/>
          <p:cNvSpPr txBox="1"/>
          <p:nvPr/>
        </p:nvSpPr>
        <p:spPr>
          <a:xfrm>
            <a:off x="3828288" y="3708806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DESENV. HUMANO ORGANIZACIONAL</a:t>
            </a:r>
            <a:endParaRPr lang="en-US" sz="750" dirty="0"/>
          </a:p>
        </p:txBody>
      </p:sp>
      <p:sp>
        <p:nvSpPr>
          <p:cNvPr id="84" name="Text 68"/>
          <p:cNvSpPr txBox="1"/>
          <p:nvPr/>
        </p:nvSpPr>
        <p:spPr>
          <a:xfrm>
            <a:off x="5145024" y="3754526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APROVADOR</a:t>
            </a:r>
            <a:endParaRPr lang="en-US" sz="700" dirty="0"/>
          </a:p>
        </p:txBody>
      </p:sp>
      <p:sp>
        <p:nvSpPr>
          <p:cNvPr id="85" name="Text 69"/>
          <p:cNvSpPr txBox="1"/>
          <p:nvPr/>
        </p:nvSpPr>
        <p:spPr>
          <a:xfrm>
            <a:off x="3334512" y="3975811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</a:t>
            </a:r>
            <a:endParaRPr lang="en-US" sz="900" dirty="0"/>
          </a:p>
        </p:txBody>
      </p:sp>
      <p:pic>
        <p:nvPicPr>
          <p:cNvPr id="86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590544" y="4017874"/>
            <a:ext cx="182880" cy="182880"/>
          </a:xfrm>
          <a:prstGeom prst="rect">
            <a:avLst/>
          </a:prstGeom>
        </p:spPr>
      </p:pic>
      <p:sp>
        <p:nvSpPr>
          <p:cNvPr id="87" name="Text 70"/>
          <p:cNvSpPr txBox="1"/>
          <p:nvPr/>
        </p:nvSpPr>
        <p:spPr>
          <a:xfrm>
            <a:off x="3828288" y="3975811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TREINAMENTO</a:t>
            </a:r>
            <a:endParaRPr lang="en-US" sz="850" dirty="0"/>
          </a:p>
        </p:txBody>
      </p:sp>
      <p:sp>
        <p:nvSpPr>
          <p:cNvPr id="88" name="Text 71"/>
          <p:cNvSpPr txBox="1"/>
          <p:nvPr/>
        </p:nvSpPr>
        <p:spPr>
          <a:xfrm>
            <a:off x="5145024" y="4021531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APROVADOR</a:t>
            </a:r>
            <a:endParaRPr lang="en-US" sz="700" dirty="0"/>
          </a:p>
        </p:txBody>
      </p:sp>
      <p:sp>
        <p:nvSpPr>
          <p:cNvPr id="89" name="Text 72"/>
          <p:cNvSpPr txBox="1"/>
          <p:nvPr/>
        </p:nvSpPr>
        <p:spPr>
          <a:xfrm>
            <a:off x="3334512" y="4242816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</a:t>
            </a:r>
            <a:endParaRPr lang="en-US" sz="900" dirty="0"/>
          </a:p>
        </p:txBody>
      </p:sp>
      <p:pic>
        <p:nvPicPr>
          <p:cNvPr id="90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590544" y="4284878"/>
            <a:ext cx="182880" cy="182880"/>
          </a:xfrm>
          <a:prstGeom prst="rect">
            <a:avLst/>
          </a:prstGeom>
        </p:spPr>
      </p:pic>
      <p:sp>
        <p:nvSpPr>
          <p:cNvPr id="91" name="Text 73"/>
          <p:cNvSpPr txBox="1"/>
          <p:nvPr/>
        </p:nvSpPr>
        <p:spPr>
          <a:xfrm>
            <a:off x="3828288" y="4242816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MEDICINA</a:t>
            </a:r>
            <a:endParaRPr lang="en-US" sz="850" dirty="0"/>
          </a:p>
        </p:txBody>
      </p:sp>
      <p:sp>
        <p:nvSpPr>
          <p:cNvPr id="92" name="Text 74"/>
          <p:cNvSpPr txBox="1"/>
          <p:nvPr/>
        </p:nvSpPr>
        <p:spPr>
          <a:xfrm>
            <a:off x="5145024" y="4288536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APROVADOR</a:t>
            </a:r>
            <a:endParaRPr lang="en-US" sz="700" dirty="0"/>
          </a:p>
        </p:txBody>
      </p:sp>
      <p:sp>
        <p:nvSpPr>
          <p:cNvPr id="93" name="Text 75"/>
          <p:cNvSpPr txBox="1"/>
          <p:nvPr/>
        </p:nvSpPr>
        <p:spPr>
          <a:xfrm>
            <a:off x="3334512" y="4509821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</a:t>
            </a:r>
            <a:endParaRPr lang="en-US" sz="900" dirty="0"/>
          </a:p>
        </p:txBody>
      </p:sp>
      <p:pic>
        <p:nvPicPr>
          <p:cNvPr id="9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590544" y="4551883"/>
            <a:ext cx="182880" cy="182880"/>
          </a:xfrm>
          <a:prstGeom prst="rect">
            <a:avLst/>
          </a:prstGeom>
        </p:spPr>
      </p:pic>
      <p:sp>
        <p:nvSpPr>
          <p:cNvPr id="95" name="Text 76"/>
          <p:cNvSpPr txBox="1"/>
          <p:nvPr/>
        </p:nvSpPr>
        <p:spPr>
          <a:xfrm>
            <a:off x="3828288" y="4509821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DO TRABALHO</a:t>
            </a:r>
            <a:endParaRPr lang="en-US" sz="850" dirty="0"/>
          </a:p>
        </p:txBody>
      </p:sp>
      <p:sp>
        <p:nvSpPr>
          <p:cNvPr id="96" name="Text 77"/>
          <p:cNvSpPr txBox="1"/>
          <p:nvPr/>
        </p:nvSpPr>
        <p:spPr>
          <a:xfrm>
            <a:off x="5145024" y="4555541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APROVADOR</a:t>
            </a:r>
            <a:endParaRPr lang="en-US" sz="700" dirty="0"/>
          </a:p>
        </p:txBody>
      </p:sp>
      <p:sp>
        <p:nvSpPr>
          <p:cNvPr id="97" name="Text 78"/>
          <p:cNvSpPr txBox="1"/>
          <p:nvPr/>
        </p:nvSpPr>
        <p:spPr>
          <a:xfrm>
            <a:off x="3334512" y="4776826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</a:t>
            </a:r>
            <a:endParaRPr lang="en-US" sz="900" dirty="0"/>
          </a:p>
        </p:txBody>
      </p:sp>
      <p:pic>
        <p:nvPicPr>
          <p:cNvPr id="98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590544" y="4818888"/>
            <a:ext cx="182880" cy="182880"/>
          </a:xfrm>
          <a:prstGeom prst="rect">
            <a:avLst/>
          </a:prstGeom>
        </p:spPr>
      </p:pic>
      <p:sp>
        <p:nvSpPr>
          <p:cNvPr id="99" name="Text 79"/>
          <p:cNvSpPr txBox="1"/>
          <p:nvPr/>
        </p:nvSpPr>
        <p:spPr>
          <a:xfrm>
            <a:off x="3828288" y="4776826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GESTOR SOLICITANTE</a:t>
            </a:r>
            <a:endParaRPr lang="en-US" sz="850" dirty="0"/>
          </a:p>
        </p:txBody>
      </p:sp>
      <p:sp>
        <p:nvSpPr>
          <p:cNvPr id="100" name="Text 80"/>
          <p:cNvSpPr txBox="1"/>
          <p:nvPr/>
        </p:nvSpPr>
        <p:spPr>
          <a:xfrm>
            <a:off x="5145024" y="4822546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CONTRIBUINTE</a:t>
            </a:r>
            <a:endParaRPr lang="en-US" sz="700" dirty="0"/>
          </a:p>
        </p:txBody>
      </p:sp>
      <p:sp>
        <p:nvSpPr>
          <p:cNvPr id="101" name="Text 81"/>
          <p:cNvSpPr txBox="1"/>
          <p:nvPr/>
        </p:nvSpPr>
        <p:spPr>
          <a:xfrm>
            <a:off x="3334512" y="5043830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</a:t>
            </a:r>
            <a:endParaRPr lang="en-US" sz="900" dirty="0"/>
          </a:p>
        </p:txBody>
      </p:sp>
      <p:pic>
        <p:nvPicPr>
          <p:cNvPr id="102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590544" y="5085893"/>
            <a:ext cx="182880" cy="182880"/>
          </a:xfrm>
          <a:prstGeom prst="rect">
            <a:avLst/>
          </a:prstGeom>
        </p:spPr>
      </p:pic>
      <p:sp>
        <p:nvSpPr>
          <p:cNvPr id="103" name="Text 82"/>
          <p:cNvSpPr txBox="1"/>
          <p:nvPr/>
        </p:nvSpPr>
        <p:spPr>
          <a:xfrm>
            <a:off x="3828288" y="5043830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COLABORADOR</a:t>
            </a:r>
            <a:endParaRPr lang="en-US" sz="850" dirty="0"/>
          </a:p>
        </p:txBody>
      </p:sp>
      <p:sp>
        <p:nvSpPr>
          <p:cNvPr id="104" name="Text 83"/>
          <p:cNvSpPr txBox="1"/>
          <p:nvPr/>
        </p:nvSpPr>
        <p:spPr>
          <a:xfrm>
            <a:off x="5145024" y="5089550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APROVADOR</a:t>
            </a:r>
            <a:endParaRPr lang="en-US" sz="700" dirty="0"/>
          </a:p>
        </p:txBody>
      </p:sp>
      <p:sp>
        <p:nvSpPr>
          <p:cNvPr id="105" name="Text 84"/>
          <p:cNvSpPr txBox="1"/>
          <p:nvPr/>
        </p:nvSpPr>
        <p:spPr>
          <a:xfrm>
            <a:off x="3334512" y="5310835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</a:t>
            </a:r>
            <a:endParaRPr lang="en-US" sz="900" dirty="0"/>
          </a:p>
        </p:txBody>
      </p:sp>
      <p:pic>
        <p:nvPicPr>
          <p:cNvPr id="106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590544" y="5352898"/>
            <a:ext cx="182880" cy="182880"/>
          </a:xfrm>
          <a:prstGeom prst="rect">
            <a:avLst/>
          </a:prstGeom>
        </p:spPr>
      </p:pic>
      <p:sp>
        <p:nvSpPr>
          <p:cNvPr id="107" name="Text 85"/>
          <p:cNvSpPr txBox="1"/>
          <p:nvPr/>
        </p:nvSpPr>
        <p:spPr>
          <a:xfrm>
            <a:off x="3828288" y="5310835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CARREIRA E RECOMPENSA</a:t>
            </a:r>
            <a:endParaRPr lang="en-US" sz="850" dirty="0"/>
          </a:p>
        </p:txBody>
      </p:sp>
      <p:sp>
        <p:nvSpPr>
          <p:cNvPr id="108" name="Text 86"/>
          <p:cNvSpPr txBox="1"/>
          <p:nvPr/>
        </p:nvSpPr>
        <p:spPr>
          <a:xfrm>
            <a:off x="5145024" y="5356555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APROVADOR</a:t>
            </a:r>
            <a:endParaRPr lang="en-US" sz="700" dirty="0"/>
          </a:p>
        </p:txBody>
      </p:sp>
      <p:sp>
        <p:nvSpPr>
          <p:cNvPr id="109" name="Shape 87"/>
          <p:cNvSpPr/>
          <p:nvPr/>
        </p:nvSpPr>
        <p:spPr>
          <a:xfrm>
            <a:off x="3297936" y="5586984"/>
            <a:ext cx="2642616" cy="248717"/>
          </a:xfrm>
          <a:prstGeom prst="roundRect">
            <a:avLst>
              <a:gd name="adj" fmla="val 11029"/>
            </a:avLst>
          </a:prstGeom>
          <a:solidFill>
            <a:srgbClr val="FFF1CC"/>
          </a:solidFill>
          <a:ln w="6350">
            <a:solidFill>
              <a:srgbClr val="F2D27A"/>
            </a:solidFill>
            <a:prstDash val="solid"/>
          </a:ln>
        </p:spPr>
      </p:sp>
      <p:sp>
        <p:nvSpPr>
          <p:cNvPr id="110" name="Text 88"/>
          <p:cNvSpPr txBox="1"/>
          <p:nvPr/>
        </p:nvSpPr>
        <p:spPr>
          <a:xfrm>
            <a:off x="3334512" y="5577840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</a:t>
            </a:r>
            <a:endParaRPr lang="en-US" sz="900" dirty="0"/>
          </a:p>
        </p:txBody>
      </p:sp>
      <p:pic>
        <p:nvPicPr>
          <p:cNvPr id="111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590544" y="5619902"/>
            <a:ext cx="182880" cy="182880"/>
          </a:xfrm>
          <a:prstGeom prst="rect">
            <a:avLst/>
          </a:prstGeom>
        </p:spPr>
      </p:pic>
      <p:sp>
        <p:nvSpPr>
          <p:cNvPr id="112" name="Text 89"/>
          <p:cNvSpPr txBox="1"/>
          <p:nvPr/>
        </p:nvSpPr>
        <p:spPr>
          <a:xfrm>
            <a:off x="3828288" y="5577840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CONTROLADORIA</a:t>
            </a:r>
            <a:endParaRPr lang="en-US" sz="850" dirty="0"/>
          </a:p>
        </p:txBody>
      </p:sp>
      <p:sp>
        <p:nvSpPr>
          <p:cNvPr id="113" name="Text 90"/>
          <p:cNvSpPr txBox="1"/>
          <p:nvPr/>
        </p:nvSpPr>
        <p:spPr>
          <a:xfrm>
            <a:off x="5145024" y="5623560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CÓPIA</a:t>
            </a:r>
            <a:endParaRPr lang="en-US" sz="700" dirty="0"/>
          </a:p>
        </p:txBody>
      </p:sp>
      <p:sp>
        <p:nvSpPr>
          <p:cNvPr id="114" name="Shape 91"/>
          <p:cNvSpPr/>
          <p:nvPr/>
        </p:nvSpPr>
        <p:spPr>
          <a:xfrm>
            <a:off x="3297936" y="5853989"/>
            <a:ext cx="2642616" cy="248717"/>
          </a:xfrm>
          <a:prstGeom prst="roundRect">
            <a:avLst>
              <a:gd name="adj" fmla="val 11029"/>
            </a:avLst>
          </a:prstGeom>
          <a:solidFill>
            <a:srgbClr val="FFF1CC"/>
          </a:solidFill>
          <a:ln w="6350">
            <a:solidFill>
              <a:srgbClr val="F2D27A"/>
            </a:solidFill>
            <a:prstDash val="solid"/>
          </a:ln>
        </p:spPr>
      </p:sp>
      <p:sp>
        <p:nvSpPr>
          <p:cNvPr id="115" name="Text 92"/>
          <p:cNvSpPr txBox="1"/>
          <p:nvPr/>
        </p:nvSpPr>
        <p:spPr>
          <a:xfrm>
            <a:off x="3334512" y="5844845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</a:t>
            </a:r>
            <a:endParaRPr lang="en-US" sz="900" dirty="0"/>
          </a:p>
        </p:txBody>
      </p:sp>
      <p:pic>
        <p:nvPicPr>
          <p:cNvPr id="116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590544" y="5886907"/>
            <a:ext cx="182880" cy="182880"/>
          </a:xfrm>
          <a:prstGeom prst="rect">
            <a:avLst/>
          </a:prstGeom>
        </p:spPr>
      </p:pic>
      <p:sp>
        <p:nvSpPr>
          <p:cNvPr id="117" name="Text 93"/>
          <p:cNvSpPr txBox="1"/>
          <p:nvPr/>
        </p:nvSpPr>
        <p:spPr>
          <a:xfrm>
            <a:off x="3828288" y="5844845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FOLHA DE PAGAMENTO</a:t>
            </a:r>
            <a:endParaRPr lang="en-US" sz="850" dirty="0"/>
          </a:p>
        </p:txBody>
      </p:sp>
      <p:sp>
        <p:nvSpPr>
          <p:cNvPr id="118" name="Text 94"/>
          <p:cNvSpPr txBox="1"/>
          <p:nvPr/>
        </p:nvSpPr>
        <p:spPr>
          <a:xfrm>
            <a:off x="5145024" y="5890565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CÓPIA</a:t>
            </a:r>
            <a:endParaRPr lang="en-US" sz="700" dirty="0"/>
          </a:p>
        </p:txBody>
      </p:sp>
      <p:sp>
        <p:nvSpPr>
          <p:cNvPr id="119" name="Shape 95"/>
          <p:cNvSpPr/>
          <p:nvPr/>
        </p:nvSpPr>
        <p:spPr>
          <a:xfrm>
            <a:off x="6175248" y="1325880"/>
            <a:ext cx="2788920" cy="4818888"/>
          </a:xfrm>
          <a:prstGeom prst="roundRect">
            <a:avLst>
              <a:gd name="adj" fmla="val 1967"/>
            </a:avLst>
          </a:prstGeom>
          <a:solidFill>
            <a:srgbClr val="F5F7EF"/>
          </a:solidFill>
          <a:ln w="12700">
            <a:solidFill>
              <a:srgbClr val="BECA98"/>
            </a:solidFill>
            <a:prstDash val="solid"/>
          </a:ln>
        </p:spPr>
      </p:sp>
      <p:sp>
        <p:nvSpPr>
          <p:cNvPr id="120" name="Shape 96"/>
          <p:cNvSpPr/>
          <p:nvPr/>
        </p:nvSpPr>
        <p:spPr>
          <a:xfrm>
            <a:off x="6175248" y="1325880"/>
            <a:ext cx="2788920" cy="420624"/>
          </a:xfrm>
          <a:prstGeom prst="roundRect">
            <a:avLst>
              <a:gd name="adj" fmla="val 13043"/>
            </a:avLst>
          </a:prstGeom>
          <a:solidFill>
            <a:srgbClr val="6E8A1A"/>
          </a:solidFill>
          <a:ln w="12700">
            <a:solidFill>
              <a:srgbClr val="6E8A1A"/>
            </a:solidFill>
            <a:prstDash val="solid"/>
          </a:ln>
        </p:spPr>
      </p:sp>
      <p:sp>
        <p:nvSpPr>
          <p:cNvPr id="121" name="Shape 97"/>
          <p:cNvSpPr/>
          <p:nvPr/>
        </p:nvSpPr>
        <p:spPr>
          <a:xfrm>
            <a:off x="6175248" y="1600200"/>
            <a:ext cx="2788920" cy="146304"/>
          </a:xfrm>
          <a:prstGeom prst="rect">
            <a:avLst/>
          </a:prstGeom>
          <a:solidFill>
            <a:srgbClr val="6E8A1A"/>
          </a:solidFill>
          <a:ln w="12700">
            <a:solidFill>
              <a:srgbClr val="6E8A1A"/>
            </a:solidFill>
            <a:prstDash val="solid"/>
          </a:ln>
        </p:spPr>
      </p:sp>
      <p:sp>
        <p:nvSpPr>
          <p:cNvPr id="122" name="Shape 98"/>
          <p:cNvSpPr/>
          <p:nvPr/>
        </p:nvSpPr>
        <p:spPr>
          <a:xfrm>
            <a:off x="7322820" y="1005840"/>
            <a:ext cx="493776" cy="493776"/>
          </a:xfrm>
          <a:prstGeom prst="ellipse">
            <a:avLst/>
          </a:prstGeom>
          <a:solidFill>
            <a:srgbClr val="6E8A1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3" name="Text 99"/>
          <p:cNvSpPr txBox="1"/>
          <p:nvPr/>
        </p:nvSpPr>
        <p:spPr>
          <a:xfrm>
            <a:off x="7322820" y="100584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2000" dirty="0"/>
          </a:p>
        </p:txBody>
      </p:sp>
      <p:sp>
        <p:nvSpPr>
          <p:cNvPr id="124" name="Text 100"/>
          <p:cNvSpPr txBox="1"/>
          <p:nvPr/>
        </p:nvSpPr>
        <p:spPr>
          <a:xfrm>
            <a:off x="6312408" y="1344168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 G</a:t>
            </a:r>
            <a:endParaRPr lang="en-US" sz="1400" dirty="0"/>
          </a:p>
        </p:txBody>
      </p:sp>
      <p:sp>
        <p:nvSpPr>
          <p:cNvPr id="125" name="Text 101"/>
          <p:cNvSpPr txBox="1"/>
          <p:nvPr/>
        </p:nvSpPr>
        <p:spPr>
          <a:xfrm>
            <a:off x="7912608" y="134416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regras</a:t>
            </a:r>
            <a:endParaRPr lang="en-US" sz="1000" dirty="0"/>
          </a:p>
        </p:txBody>
      </p:sp>
      <p:sp>
        <p:nvSpPr>
          <p:cNvPr id="126" name="Shape 102"/>
          <p:cNvSpPr/>
          <p:nvPr/>
        </p:nvSpPr>
        <p:spPr>
          <a:xfrm>
            <a:off x="6266688" y="1828800"/>
            <a:ext cx="2606040" cy="987552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C5D0A3"/>
            </a:solidFill>
            <a:prstDash val="solid"/>
          </a:ln>
        </p:spPr>
      </p:sp>
      <p:sp>
        <p:nvSpPr>
          <p:cNvPr id="127" name="Text 103"/>
          <p:cNvSpPr txBox="1"/>
          <p:nvPr/>
        </p:nvSpPr>
        <p:spPr>
          <a:xfrm>
            <a:off x="6339840" y="1865376"/>
            <a:ext cx="2459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6E8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SE APLICA</a:t>
            </a:r>
            <a:endParaRPr lang="en-US" sz="8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Evento: </a:t>
            </a:r>
            <a:pPr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Alteração de cargo · Promoção (Equipes)</a:t>
            </a:r>
            <a:endParaRPr lang="en-US" sz="8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Mão de obra destino: </a:t>
            </a:r>
            <a:pPr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</a:t>
            </a:r>
            <a:endParaRPr lang="en-US" sz="8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Altera gestor: </a:t>
            </a:r>
            <a:pPr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</a:t>
            </a:r>
            <a:endParaRPr lang="en-US" sz="850" dirty="0"/>
          </a:p>
        </p:txBody>
      </p:sp>
      <p:sp>
        <p:nvSpPr>
          <p:cNvPr id="128" name="Shape 104"/>
          <p:cNvSpPr/>
          <p:nvPr/>
        </p:nvSpPr>
        <p:spPr>
          <a:xfrm>
            <a:off x="6248400" y="2916936"/>
            <a:ext cx="2642616" cy="248717"/>
          </a:xfrm>
          <a:prstGeom prst="roundRect">
            <a:avLst>
              <a:gd name="adj" fmla="val 11029"/>
            </a:avLst>
          </a:prstGeom>
          <a:solidFill>
            <a:srgbClr val="FFF1CC"/>
          </a:solidFill>
          <a:ln w="6350">
            <a:solidFill>
              <a:srgbClr val="F2D27A"/>
            </a:solidFill>
            <a:prstDash val="solid"/>
          </a:ln>
        </p:spPr>
      </p:sp>
      <p:sp>
        <p:nvSpPr>
          <p:cNvPr id="129" name="Text 105"/>
          <p:cNvSpPr txBox="1"/>
          <p:nvPr/>
        </p:nvSpPr>
        <p:spPr>
          <a:xfrm>
            <a:off x="6284976" y="2907792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900" dirty="0"/>
          </a:p>
        </p:txBody>
      </p:sp>
      <p:pic>
        <p:nvPicPr>
          <p:cNvPr id="130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541008" y="2949854"/>
            <a:ext cx="182880" cy="182880"/>
          </a:xfrm>
          <a:prstGeom prst="rect">
            <a:avLst/>
          </a:prstGeom>
        </p:spPr>
      </p:pic>
      <p:sp>
        <p:nvSpPr>
          <p:cNvPr id="131" name="Text 106"/>
          <p:cNvSpPr txBox="1"/>
          <p:nvPr/>
        </p:nvSpPr>
        <p:spPr>
          <a:xfrm>
            <a:off x="6778752" y="2907792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GESTOR ATUAL</a:t>
            </a:r>
            <a:endParaRPr lang="en-US" sz="850" dirty="0"/>
          </a:p>
        </p:txBody>
      </p:sp>
      <p:sp>
        <p:nvSpPr>
          <p:cNvPr id="132" name="Text 107"/>
          <p:cNvSpPr txBox="1"/>
          <p:nvPr/>
        </p:nvSpPr>
        <p:spPr>
          <a:xfrm>
            <a:off x="8095488" y="2953512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APROVADOR</a:t>
            </a:r>
            <a:endParaRPr lang="en-US" sz="700" dirty="0"/>
          </a:p>
        </p:txBody>
      </p:sp>
      <p:sp>
        <p:nvSpPr>
          <p:cNvPr id="133" name="Text 108"/>
          <p:cNvSpPr txBox="1"/>
          <p:nvPr/>
        </p:nvSpPr>
        <p:spPr>
          <a:xfrm>
            <a:off x="6284976" y="3174797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900" dirty="0"/>
          </a:p>
        </p:txBody>
      </p:sp>
      <p:pic>
        <p:nvPicPr>
          <p:cNvPr id="134" name="Image 23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541008" y="3216859"/>
            <a:ext cx="182880" cy="182880"/>
          </a:xfrm>
          <a:prstGeom prst="rect">
            <a:avLst/>
          </a:prstGeom>
        </p:spPr>
      </p:pic>
      <p:sp>
        <p:nvSpPr>
          <p:cNvPr id="135" name="Text 109"/>
          <p:cNvSpPr txBox="1"/>
          <p:nvPr/>
        </p:nvSpPr>
        <p:spPr>
          <a:xfrm>
            <a:off x="6778752" y="3174797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CARREIRA E RECOMPENSA</a:t>
            </a:r>
            <a:endParaRPr lang="en-US" sz="850" dirty="0"/>
          </a:p>
        </p:txBody>
      </p:sp>
      <p:sp>
        <p:nvSpPr>
          <p:cNvPr id="136" name="Text 110"/>
          <p:cNvSpPr txBox="1"/>
          <p:nvPr/>
        </p:nvSpPr>
        <p:spPr>
          <a:xfrm>
            <a:off x="8095488" y="3220517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APROVADOR</a:t>
            </a:r>
            <a:endParaRPr lang="en-US" sz="700" dirty="0"/>
          </a:p>
        </p:txBody>
      </p:sp>
      <p:sp>
        <p:nvSpPr>
          <p:cNvPr id="137" name="Text 111"/>
          <p:cNvSpPr txBox="1"/>
          <p:nvPr/>
        </p:nvSpPr>
        <p:spPr>
          <a:xfrm>
            <a:off x="6284976" y="3441802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900" dirty="0"/>
          </a:p>
        </p:txBody>
      </p:sp>
      <p:pic>
        <p:nvPicPr>
          <p:cNvPr id="138" name="Image 24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541008" y="3483864"/>
            <a:ext cx="182880" cy="182880"/>
          </a:xfrm>
          <a:prstGeom prst="rect">
            <a:avLst/>
          </a:prstGeom>
        </p:spPr>
      </p:pic>
      <p:sp>
        <p:nvSpPr>
          <p:cNvPr id="139" name="Text 112"/>
          <p:cNvSpPr txBox="1"/>
          <p:nvPr/>
        </p:nvSpPr>
        <p:spPr>
          <a:xfrm>
            <a:off x="6778752" y="3441802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TREINAMENTO</a:t>
            </a:r>
            <a:endParaRPr lang="en-US" sz="850" dirty="0"/>
          </a:p>
        </p:txBody>
      </p:sp>
      <p:sp>
        <p:nvSpPr>
          <p:cNvPr id="140" name="Text 113"/>
          <p:cNvSpPr txBox="1"/>
          <p:nvPr/>
        </p:nvSpPr>
        <p:spPr>
          <a:xfrm>
            <a:off x="8095488" y="3487522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APROVADOR</a:t>
            </a:r>
            <a:endParaRPr lang="en-US" sz="700" dirty="0"/>
          </a:p>
        </p:txBody>
      </p:sp>
      <p:sp>
        <p:nvSpPr>
          <p:cNvPr id="141" name="Text 114"/>
          <p:cNvSpPr txBox="1"/>
          <p:nvPr/>
        </p:nvSpPr>
        <p:spPr>
          <a:xfrm>
            <a:off x="6284976" y="3708806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endParaRPr lang="en-US" sz="900" dirty="0"/>
          </a:p>
        </p:txBody>
      </p:sp>
      <p:pic>
        <p:nvPicPr>
          <p:cNvPr id="142" name="Image 25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541008" y="3750869"/>
            <a:ext cx="182880" cy="182880"/>
          </a:xfrm>
          <a:prstGeom prst="rect">
            <a:avLst/>
          </a:prstGeom>
        </p:spPr>
      </p:pic>
      <p:sp>
        <p:nvSpPr>
          <p:cNvPr id="143" name="Text 115"/>
          <p:cNvSpPr txBox="1"/>
          <p:nvPr/>
        </p:nvSpPr>
        <p:spPr>
          <a:xfrm>
            <a:off x="6778752" y="3708806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MEDICINA</a:t>
            </a:r>
            <a:endParaRPr lang="en-US" sz="850" dirty="0"/>
          </a:p>
        </p:txBody>
      </p:sp>
      <p:sp>
        <p:nvSpPr>
          <p:cNvPr id="144" name="Text 116"/>
          <p:cNvSpPr txBox="1"/>
          <p:nvPr/>
        </p:nvSpPr>
        <p:spPr>
          <a:xfrm>
            <a:off x="8095488" y="3754526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APROVADOR</a:t>
            </a:r>
            <a:endParaRPr lang="en-US" sz="700" dirty="0"/>
          </a:p>
        </p:txBody>
      </p:sp>
      <p:sp>
        <p:nvSpPr>
          <p:cNvPr id="145" name="Text 117"/>
          <p:cNvSpPr txBox="1"/>
          <p:nvPr/>
        </p:nvSpPr>
        <p:spPr>
          <a:xfrm>
            <a:off x="6284976" y="3975811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</a:t>
            </a:r>
            <a:endParaRPr lang="en-US" sz="900" dirty="0"/>
          </a:p>
        </p:txBody>
      </p:sp>
      <p:pic>
        <p:nvPicPr>
          <p:cNvPr id="146" name="Image 26" descr="preencode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541008" y="4017874"/>
            <a:ext cx="182880" cy="182880"/>
          </a:xfrm>
          <a:prstGeom prst="rect">
            <a:avLst/>
          </a:prstGeom>
        </p:spPr>
      </p:pic>
      <p:sp>
        <p:nvSpPr>
          <p:cNvPr id="147" name="Text 118"/>
          <p:cNvSpPr txBox="1"/>
          <p:nvPr/>
        </p:nvSpPr>
        <p:spPr>
          <a:xfrm>
            <a:off x="6778752" y="3975811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DO TRABALHO</a:t>
            </a:r>
            <a:endParaRPr lang="en-US" sz="850" dirty="0"/>
          </a:p>
        </p:txBody>
      </p:sp>
      <p:sp>
        <p:nvSpPr>
          <p:cNvPr id="148" name="Text 119"/>
          <p:cNvSpPr txBox="1"/>
          <p:nvPr/>
        </p:nvSpPr>
        <p:spPr>
          <a:xfrm>
            <a:off x="8095488" y="4021531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APROVADOR</a:t>
            </a:r>
            <a:endParaRPr lang="en-US" sz="700" dirty="0"/>
          </a:p>
        </p:txBody>
      </p:sp>
      <p:sp>
        <p:nvSpPr>
          <p:cNvPr id="149" name="Text 120"/>
          <p:cNvSpPr txBox="1"/>
          <p:nvPr/>
        </p:nvSpPr>
        <p:spPr>
          <a:xfrm>
            <a:off x="6284976" y="4242816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</a:t>
            </a:r>
            <a:endParaRPr lang="en-US" sz="900" dirty="0"/>
          </a:p>
        </p:txBody>
      </p:sp>
      <p:pic>
        <p:nvPicPr>
          <p:cNvPr id="150" name="Image 27" descr="preencode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541008" y="4284878"/>
            <a:ext cx="182880" cy="182880"/>
          </a:xfrm>
          <a:prstGeom prst="rect">
            <a:avLst/>
          </a:prstGeom>
        </p:spPr>
      </p:pic>
      <p:sp>
        <p:nvSpPr>
          <p:cNvPr id="151" name="Text 121"/>
          <p:cNvSpPr txBox="1"/>
          <p:nvPr/>
        </p:nvSpPr>
        <p:spPr>
          <a:xfrm>
            <a:off x="6778752" y="4242816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GESTOR SOLICITANTE</a:t>
            </a:r>
            <a:endParaRPr lang="en-US" sz="850" dirty="0"/>
          </a:p>
        </p:txBody>
      </p:sp>
      <p:sp>
        <p:nvSpPr>
          <p:cNvPr id="152" name="Text 122"/>
          <p:cNvSpPr txBox="1"/>
          <p:nvPr/>
        </p:nvSpPr>
        <p:spPr>
          <a:xfrm>
            <a:off x="8095488" y="4288536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CONTRIBUINTE</a:t>
            </a:r>
            <a:endParaRPr lang="en-US" sz="700" dirty="0"/>
          </a:p>
        </p:txBody>
      </p:sp>
      <p:sp>
        <p:nvSpPr>
          <p:cNvPr id="153" name="Text 123"/>
          <p:cNvSpPr txBox="1"/>
          <p:nvPr/>
        </p:nvSpPr>
        <p:spPr>
          <a:xfrm>
            <a:off x="6284976" y="4509821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</a:t>
            </a:r>
            <a:endParaRPr lang="en-US" sz="900" dirty="0"/>
          </a:p>
        </p:txBody>
      </p:sp>
      <p:pic>
        <p:nvPicPr>
          <p:cNvPr id="154" name="Image 28" descr="preencoded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6541008" y="4551883"/>
            <a:ext cx="182880" cy="182880"/>
          </a:xfrm>
          <a:prstGeom prst="rect">
            <a:avLst/>
          </a:prstGeom>
        </p:spPr>
      </p:pic>
      <p:sp>
        <p:nvSpPr>
          <p:cNvPr id="155" name="Text 124"/>
          <p:cNvSpPr txBox="1"/>
          <p:nvPr/>
        </p:nvSpPr>
        <p:spPr>
          <a:xfrm>
            <a:off x="6778752" y="4509821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COLABORADOR</a:t>
            </a:r>
            <a:endParaRPr lang="en-US" sz="850" dirty="0"/>
          </a:p>
        </p:txBody>
      </p:sp>
      <p:sp>
        <p:nvSpPr>
          <p:cNvPr id="156" name="Text 125"/>
          <p:cNvSpPr txBox="1"/>
          <p:nvPr/>
        </p:nvSpPr>
        <p:spPr>
          <a:xfrm>
            <a:off x="8095488" y="4555541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APROVADOR</a:t>
            </a:r>
            <a:endParaRPr lang="en-US" sz="700" dirty="0"/>
          </a:p>
        </p:txBody>
      </p:sp>
      <p:sp>
        <p:nvSpPr>
          <p:cNvPr id="157" name="Text 126"/>
          <p:cNvSpPr txBox="1"/>
          <p:nvPr/>
        </p:nvSpPr>
        <p:spPr>
          <a:xfrm>
            <a:off x="6284976" y="4776826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</a:t>
            </a:r>
            <a:endParaRPr lang="en-US" sz="900" dirty="0"/>
          </a:p>
        </p:txBody>
      </p:sp>
      <p:pic>
        <p:nvPicPr>
          <p:cNvPr id="158" name="Image 29" descr="preencoded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541008" y="4818888"/>
            <a:ext cx="182880" cy="182880"/>
          </a:xfrm>
          <a:prstGeom prst="rect">
            <a:avLst/>
          </a:prstGeom>
        </p:spPr>
      </p:pic>
      <p:sp>
        <p:nvSpPr>
          <p:cNvPr id="159" name="Text 127"/>
          <p:cNvSpPr txBox="1"/>
          <p:nvPr/>
        </p:nvSpPr>
        <p:spPr>
          <a:xfrm>
            <a:off x="6778752" y="4776826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CARREIRA E RECOMPENSA</a:t>
            </a:r>
            <a:endParaRPr lang="en-US" sz="850" dirty="0"/>
          </a:p>
        </p:txBody>
      </p:sp>
      <p:sp>
        <p:nvSpPr>
          <p:cNvPr id="160" name="Text 128"/>
          <p:cNvSpPr txBox="1"/>
          <p:nvPr/>
        </p:nvSpPr>
        <p:spPr>
          <a:xfrm>
            <a:off x="8095488" y="4822546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APROVADOR</a:t>
            </a:r>
            <a:endParaRPr lang="en-US" sz="700" dirty="0"/>
          </a:p>
        </p:txBody>
      </p:sp>
      <p:sp>
        <p:nvSpPr>
          <p:cNvPr id="161" name="Shape 129"/>
          <p:cNvSpPr/>
          <p:nvPr/>
        </p:nvSpPr>
        <p:spPr>
          <a:xfrm>
            <a:off x="9125712" y="1325880"/>
            <a:ext cx="2788920" cy="4818888"/>
          </a:xfrm>
          <a:prstGeom prst="roundRect">
            <a:avLst>
              <a:gd name="adj" fmla="val 1967"/>
            </a:avLst>
          </a:prstGeom>
          <a:solidFill>
            <a:srgbClr val="F9F1F6"/>
          </a:solidFill>
          <a:ln w="12700">
            <a:solidFill>
              <a:srgbClr val="D8A3C5"/>
            </a:solidFill>
            <a:prstDash val="solid"/>
          </a:ln>
        </p:spPr>
      </p:sp>
      <p:sp>
        <p:nvSpPr>
          <p:cNvPr id="162" name="Shape 130"/>
          <p:cNvSpPr/>
          <p:nvPr/>
        </p:nvSpPr>
        <p:spPr>
          <a:xfrm>
            <a:off x="9125712" y="1325880"/>
            <a:ext cx="2788920" cy="420624"/>
          </a:xfrm>
          <a:prstGeom prst="roundRect">
            <a:avLst>
              <a:gd name="adj" fmla="val 13043"/>
            </a:avLst>
          </a:prstGeom>
          <a:solidFill>
            <a:srgbClr val="A8327F"/>
          </a:solidFill>
          <a:ln w="12700">
            <a:solidFill>
              <a:srgbClr val="A8327F"/>
            </a:solidFill>
            <a:prstDash val="solid"/>
          </a:ln>
        </p:spPr>
      </p:sp>
      <p:sp>
        <p:nvSpPr>
          <p:cNvPr id="163" name="Shape 131"/>
          <p:cNvSpPr/>
          <p:nvPr/>
        </p:nvSpPr>
        <p:spPr>
          <a:xfrm>
            <a:off x="9125712" y="1600200"/>
            <a:ext cx="2788920" cy="146304"/>
          </a:xfrm>
          <a:prstGeom prst="rect">
            <a:avLst/>
          </a:prstGeom>
          <a:solidFill>
            <a:srgbClr val="A8327F"/>
          </a:solidFill>
          <a:ln w="12700">
            <a:solidFill>
              <a:srgbClr val="A8327F"/>
            </a:solidFill>
            <a:prstDash val="solid"/>
          </a:ln>
        </p:spPr>
      </p:sp>
      <p:sp>
        <p:nvSpPr>
          <p:cNvPr id="164" name="Shape 132"/>
          <p:cNvSpPr/>
          <p:nvPr/>
        </p:nvSpPr>
        <p:spPr>
          <a:xfrm>
            <a:off x="10273284" y="1005840"/>
            <a:ext cx="493776" cy="493776"/>
          </a:xfrm>
          <a:prstGeom prst="ellipse">
            <a:avLst/>
          </a:prstGeom>
          <a:solidFill>
            <a:srgbClr val="A8327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5" name="Text 133"/>
          <p:cNvSpPr txBox="1"/>
          <p:nvPr/>
        </p:nvSpPr>
        <p:spPr>
          <a:xfrm>
            <a:off x="10273284" y="100584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endParaRPr lang="en-US" sz="2000" dirty="0"/>
          </a:p>
        </p:txBody>
      </p:sp>
      <p:sp>
        <p:nvSpPr>
          <p:cNvPr id="166" name="Text 134"/>
          <p:cNvSpPr txBox="1"/>
          <p:nvPr/>
        </p:nvSpPr>
        <p:spPr>
          <a:xfrm>
            <a:off x="9262872" y="1344168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 H</a:t>
            </a:r>
            <a:endParaRPr lang="en-US" sz="1400" dirty="0"/>
          </a:p>
        </p:txBody>
      </p:sp>
      <p:sp>
        <p:nvSpPr>
          <p:cNvPr id="167" name="Text 135"/>
          <p:cNvSpPr txBox="1"/>
          <p:nvPr/>
        </p:nvSpPr>
        <p:spPr>
          <a:xfrm>
            <a:off x="10863072" y="134416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regras</a:t>
            </a:r>
            <a:endParaRPr lang="en-US" sz="1000" dirty="0"/>
          </a:p>
        </p:txBody>
      </p:sp>
      <p:sp>
        <p:nvSpPr>
          <p:cNvPr id="168" name="Shape 136"/>
          <p:cNvSpPr/>
          <p:nvPr/>
        </p:nvSpPr>
        <p:spPr>
          <a:xfrm>
            <a:off x="9217152" y="1828800"/>
            <a:ext cx="2606040" cy="987552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DCADCC"/>
            </a:solidFill>
            <a:prstDash val="solid"/>
          </a:ln>
        </p:spPr>
      </p:sp>
      <p:sp>
        <p:nvSpPr>
          <p:cNvPr id="169" name="Text 137"/>
          <p:cNvSpPr txBox="1"/>
          <p:nvPr/>
        </p:nvSpPr>
        <p:spPr>
          <a:xfrm>
            <a:off x="9290304" y="1865376"/>
            <a:ext cx="2459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A83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SE APLICA</a:t>
            </a:r>
            <a:endParaRPr lang="en-US" sz="8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Evento: </a:t>
            </a:r>
            <a:pPr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Alteração de cargo · Promoção (Equipes)</a:t>
            </a:r>
            <a:endParaRPr lang="en-US" sz="8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Mão de obra destino: </a:t>
            </a:r>
            <a:pPr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</a:t>
            </a:r>
            <a:endParaRPr lang="en-US" sz="8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Altera gestor: </a:t>
            </a:r>
            <a:pPr indent="0" marL="0">
              <a:spcAft>
                <a:spcPts val="100"/>
              </a:spcAft>
              <a:buNone/>
            </a:pPr>
            <a:r>
              <a:rPr lang="en-US" sz="8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</a:t>
            </a:r>
            <a:endParaRPr lang="en-US" sz="850" dirty="0"/>
          </a:p>
        </p:txBody>
      </p:sp>
      <p:sp>
        <p:nvSpPr>
          <p:cNvPr id="170" name="Shape 138"/>
          <p:cNvSpPr/>
          <p:nvPr/>
        </p:nvSpPr>
        <p:spPr>
          <a:xfrm>
            <a:off x="9198864" y="2916936"/>
            <a:ext cx="2642616" cy="248717"/>
          </a:xfrm>
          <a:prstGeom prst="roundRect">
            <a:avLst>
              <a:gd name="adj" fmla="val 11029"/>
            </a:avLst>
          </a:prstGeom>
          <a:solidFill>
            <a:srgbClr val="FFF1CC"/>
          </a:solidFill>
          <a:ln w="6350">
            <a:solidFill>
              <a:srgbClr val="F2D27A"/>
            </a:solidFill>
            <a:prstDash val="solid"/>
          </a:ln>
        </p:spPr>
      </p:sp>
      <p:sp>
        <p:nvSpPr>
          <p:cNvPr id="171" name="Text 139"/>
          <p:cNvSpPr txBox="1"/>
          <p:nvPr/>
        </p:nvSpPr>
        <p:spPr>
          <a:xfrm>
            <a:off x="9235440" y="2907792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900" dirty="0"/>
          </a:p>
        </p:txBody>
      </p:sp>
      <p:pic>
        <p:nvPicPr>
          <p:cNvPr id="172" name="Image 30" descr="preencoded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9491472" y="2949854"/>
            <a:ext cx="182880" cy="182880"/>
          </a:xfrm>
          <a:prstGeom prst="rect">
            <a:avLst/>
          </a:prstGeom>
        </p:spPr>
      </p:pic>
      <p:sp>
        <p:nvSpPr>
          <p:cNvPr id="173" name="Text 140"/>
          <p:cNvSpPr txBox="1"/>
          <p:nvPr/>
        </p:nvSpPr>
        <p:spPr>
          <a:xfrm>
            <a:off x="9729216" y="2907792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GESTOR ATUAL</a:t>
            </a:r>
            <a:endParaRPr lang="en-US" sz="850" dirty="0"/>
          </a:p>
        </p:txBody>
      </p:sp>
      <p:sp>
        <p:nvSpPr>
          <p:cNvPr id="174" name="Text 141"/>
          <p:cNvSpPr txBox="1"/>
          <p:nvPr/>
        </p:nvSpPr>
        <p:spPr>
          <a:xfrm>
            <a:off x="11045952" y="2953512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APROVADOR</a:t>
            </a:r>
            <a:endParaRPr lang="en-US" sz="700" dirty="0"/>
          </a:p>
        </p:txBody>
      </p:sp>
      <p:sp>
        <p:nvSpPr>
          <p:cNvPr id="175" name="Text 142"/>
          <p:cNvSpPr txBox="1"/>
          <p:nvPr/>
        </p:nvSpPr>
        <p:spPr>
          <a:xfrm>
            <a:off x="9235440" y="3174797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900" dirty="0"/>
          </a:p>
        </p:txBody>
      </p:sp>
      <p:pic>
        <p:nvPicPr>
          <p:cNvPr id="176" name="Image 31" descr="preencoded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9491472" y="3216859"/>
            <a:ext cx="182880" cy="182880"/>
          </a:xfrm>
          <a:prstGeom prst="rect">
            <a:avLst/>
          </a:prstGeom>
        </p:spPr>
      </p:pic>
      <p:sp>
        <p:nvSpPr>
          <p:cNvPr id="177" name="Text 143"/>
          <p:cNvSpPr txBox="1"/>
          <p:nvPr/>
        </p:nvSpPr>
        <p:spPr>
          <a:xfrm>
            <a:off x="9729216" y="3174797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CARREIRA E RECOMPENSA</a:t>
            </a:r>
            <a:endParaRPr lang="en-US" sz="850" dirty="0"/>
          </a:p>
        </p:txBody>
      </p:sp>
      <p:sp>
        <p:nvSpPr>
          <p:cNvPr id="178" name="Text 144"/>
          <p:cNvSpPr txBox="1"/>
          <p:nvPr/>
        </p:nvSpPr>
        <p:spPr>
          <a:xfrm>
            <a:off x="11045952" y="3220517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APROVADOR</a:t>
            </a:r>
            <a:endParaRPr lang="en-US" sz="700" dirty="0"/>
          </a:p>
        </p:txBody>
      </p:sp>
      <p:sp>
        <p:nvSpPr>
          <p:cNvPr id="179" name="Text 145"/>
          <p:cNvSpPr txBox="1"/>
          <p:nvPr/>
        </p:nvSpPr>
        <p:spPr>
          <a:xfrm>
            <a:off x="9235440" y="3441802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900" dirty="0"/>
          </a:p>
        </p:txBody>
      </p:sp>
      <p:pic>
        <p:nvPicPr>
          <p:cNvPr id="180" name="Image 32" descr="preencoded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9491472" y="3483864"/>
            <a:ext cx="182880" cy="182880"/>
          </a:xfrm>
          <a:prstGeom prst="rect">
            <a:avLst/>
          </a:prstGeom>
        </p:spPr>
      </p:pic>
      <p:sp>
        <p:nvSpPr>
          <p:cNvPr id="181" name="Text 146"/>
          <p:cNvSpPr txBox="1"/>
          <p:nvPr/>
        </p:nvSpPr>
        <p:spPr>
          <a:xfrm>
            <a:off x="9729216" y="3441802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TREINAMENTO</a:t>
            </a:r>
            <a:endParaRPr lang="en-US" sz="850" dirty="0"/>
          </a:p>
        </p:txBody>
      </p:sp>
      <p:sp>
        <p:nvSpPr>
          <p:cNvPr id="182" name="Text 147"/>
          <p:cNvSpPr txBox="1"/>
          <p:nvPr/>
        </p:nvSpPr>
        <p:spPr>
          <a:xfrm>
            <a:off x="11045952" y="3487522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APROVADOR</a:t>
            </a:r>
            <a:endParaRPr lang="en-US" sz="700" dirty="0"/>
          </a:p>
        </p:txBody>
      </p:sp>
      <p:sp>
        <p:nvSpPr>
          <p:cNvPr id="183" name="Text 148"/>
          <p:cNvSpPr txBox="1"/>
          <p:nvPr/>
        </p:nvSpPr>
        <p:spPr>
          <a:xfrm>
            <a:off x="9235440" y="3708806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endParaRPr lang="en-US" sz="900" dirty="0"/>
          </a:p>
        </p:txBody>
      </p:sp>
      <p:pic>
        <p:nvPicPr>
          <p:cNvPr id="184" name="Image 33" descr="preencoded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9491472" y="3750869"/>
            <a:ext cx="182880" cy="182880"/>
          </a:xfrm>
          <a:prstGeom prst="rect">
            <a:avLst/>
          </a:prstGeom>
        </p:spPr>
      </p:pic>
      <p:sp>
        <p:nvSpPr>
          <p:cNvPr id="185" name="Text 149"/>
          <p:cNvSpPr txBox="1"/>
          <p:nvPr/>
        </p:nvSpPr>
        <p:spPr>
          <a:xfrm>
            <a:off x="9729216" y="3708806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MEDICINA</a:t>
            </a:r>
            <a:endParaRPr lang="en-US" sz="850" dirty="0"/>
          </a:p>
        </p:txBody>
      </p:sp>
      <p:sp>
        <p:nvSpPr>
          <p:cNvPr id="186" name="Text 150"/>
          <p:cNvSpPr txBox="1"/>
          <p:nvPr/>
        </p:nvSpPr>
        <p:spPr>
          <a:xfrm>
            <a:off x="11045952" y="3754526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APROVADOR</a:t>
            </a:r>
            <a:endParaRPr lang="en-US" sz="700" dirty="0"/>
          </a:p>
        </p:txBody>
      </p:sp>
      <p:sp>
        <p:nvSpPr>
          <p:cNvPr id="187" name="Text 151"/>
          <p:cNvSpPr txBox="1"/>
          <p:nvPr/>
        </p:nvSpPr>
        <p:spPr>
          <a:xfrm>
            <a:off x="9235440" y="3975811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</a:t>
            </a:r>
            <a:endParaRPr lang="en-US" sz="900" dirty="0"/>
          </a:p>
        </p:txBody>
      </p:sp>
      <p:pic>
        <p:nvPicPr>
          <p:cNvPr id="188" name="Image 34" descr="preencoded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9491472" y="4017874"/>
            <a:ext cx="182880" cy="182880"/>
          </a:xfrm>
          <a:prstGeom prst="rect">
            <a:avLst/>
          </a:prstGeom>
        </p:spPr>
      </p:pic>
      <p:sp>
        <p:nvSpPr>
          <p:cNvPr id="189" name="Text 152"/>
          <p:cNvSpPr txBox="1"/>
          <p:nvPr/>
        </p:nvSpPr>
        <p:spPr>
          <a:xfrm>
            <a:off x="9729216" y="3975811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DO TRABALHO</a:t>
            </a:r>
            <a:endParaRPr lang="en-US" sz="850" dirty="0"/>
          </a:p>
        </p:txBody>
      </p:sp>
      <p:sp>
        <p:nvSpPr>
          <p:cNvPr id="190" name="Text 153"/>
          <p:cNvSpPr txBox="1"/>
          <p:nvPr/>
        </p:nvSpPr>
        <p:spPr>
          <a:xfrm>
            <a:off x="11045952" y="4021531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APROVADOR</a:t>
            </a:r>
            <a:endParaRPr lang="en-US" sz="700" dirty="0"/>
          </a:p>
        </p:txBody>
      </p:sp>
      <p:sp>
        <p:nvSpPr>
          <p:cNvPr id="191" name="Text 154"/>
          <p:cNvSpPr txBox="1"/>
          <p:nvPr/>
        </p:nvSpPr>
        <p:spPr>
          <a:xfrm>
            <a:off x="9235440" y="4242816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</a:t>
            </a:r>
            <a:endParaRPr lang="en-US" sz="900" dirty="0"/>
          </a:p>
        </p:txBody>
      </p:sp>
      <p:pic>
        <p:nvPicPr>
          <p:cNvPr id="192" name="Image 35" descr="preencoded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9491472" y="4284878"/>
            <a:ext cx="182880" cy="182880"/>
          </a:xfrm>
          <a:prstGeom prst="rect">
            <a:avLst/>
          </a:prstGeom>
        </p:spPr>
      </p:pic>
      <p:sp>
        <p:nvSpPr>
          <p:cNvPr id="193" name="Text 155"/>
          <p:cNvSpPr txBox="1"/>
          <p:nvPr/>
        </p:nvSpPr>
        <p:spPr>
          <a:xfrm>
            <a:off x="9729216" y="4242816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GESTOR SOLICITANTE</a:t>
            </a:r>
            <a:endParaRPr lang="en-US" sz="850" dirty="0"/>
          </a:p>
        </p:txBody>
      </p:sp>
      <p:sp>
        <p:nvSpPr>
          <p:cNvPr id="194" name="Text 156"/>
          <p:cNvSpPr txBox="1"/>
          <p:nvPr/>
        </p:nvSpPr>
        <p:spPr>
          <a:xfrm>
            <a:off x="11045952" y="4288536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CONTRIBUINTE</a:t>
            </a:r>
            <a:endParaRPr lang="en-US" sz="700" dirty="0"/>
          </a:p>
        </p:txBody>
      </p:sp>
      <p:sp>
        <p:nvSpPr>
          <p:cNvPr id="195" name="Text 157"/>
          <p:cNvSpPr txBox="1"/>
          <p:nvPr/>
        </p:nvSpPr>
        <p:spPr>
          <a:xfrm>
            <a:off x="9235440" y="4509821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</a:t>
            </a:r>
            <a:endParaRPr lang="en-US" sz="900" dirty="0"/>
          </a:p>
        </p:txBody>
      </p:sp>
      <p:pic>
        <p:nvPicPr>
          <p:cNvPr id="196" name="Image 36" descr="preencoded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9491472" y="4551883"/>
            <a:ext cx="182880" cy="182880"/>
          </a:xfrm>
          <a:prstGeom prst="rect">
            <a:avLst/>
          </a:prstGeom>
        </p:spPr>
      </p:pic>
      <p:sp>
        <p:nvSpPr>
          <p:cNvPr id="197" name="Text 158"/>
          <p:cNvSpPr txBox="1"/>
          <p:nvPr/>
        </p:nvSpPr>
        <p:spPr>
          <a:xfrm>
            <a:off x="9729216" y="4509821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COLABORADOR</a:t>
            </a:r>
            <a:endParaRPr lang="en-US" sz="850" dirty="0"/>
          </a:p>
        </p:txBody>
      </p:sp>
      <p:sp>
        <p:nvSpPr>
          <p:cNvPr id="198" name="Text 159"/>
          <p:cNvSpPr txBox="1"/>
          <p:nvPr/>
        </p:nvSpPr>
        <p:spPr>
          <a:xfrm>
            <a:off x="11045952" y="4555541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APROVADOR</a:t>
            </a:r>
            <a:endParaRPr lang="en-US" sz="700" dirty="0"/>
          </a:p>
        </p:txBody>
      </p:sp>
      <p:sp>
        <p:nvSpPr>
          <p:cNvPr id="199" name="Text 160"/>
          <p:cNvSpPr txBox="1"/>
          <p:nvPr/>
        </p:nvSpPr>
        <p:spPr>
          <a:xfrm>
            <a:off x="9235440" y="4776826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</a:t>
            </a:r>
            <a:endParaRPr lang="en-US" sz="900" dirty="0"/>
          </a:p>
        </p:txBody>
      </p:sp>
      <p:pic>
        <p:nvPicPr>
          <p:cNvPr id="200" name="Image 37" descr="preencoded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9491472" y="4818888"/>
            <a:ext cx="182880" cy="182880"/>
          </a:xfrm>
          <a:prstGeom prst="rect">
            <a:avLst/>
          </a:prstGeom>
        </p:spPr>
      </p:pic>
      <p:sp>
        <p:nvSpPr>
          <p:cNvPr id="201" name="Text 161"/>
          <p:cNvSpPr txBox="1"/>
          <p:nvPr/>
        </p:nvSpPr>
        <p:spPr>
          <a:xfrm>
            <a:off x="9729216" y="4776826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CARREIRA E RECOMPENSA</a:t>
            </a:r>
            <a:endParaRPr lang="en-US" sz="850" dirty="0"/>
          </a:p>
        </p:txBody>
      </p:sp>
      <p:sp>
        <p:nvSpPr>
          <p:cNvPr id="202" name="Text 162"/>
          <p:cNvSpPr txBox="1"/>
          <p:nvPr/>
        </p:nvSpPr>
        <p:spPr>
          <a:xfrm>
            <a:off x="11045952" y="4822546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APROVADOR</a:t>
            </a:r>
            <a:endParaRPr lang="en-US" sz="700" dirty="0"/>
          </a:p>
        </p:txBody>
      </p:sp>
      <p:sp>
        <p:nvSpPr>
          <p:cNvPr id="203" name="Shape 163"/>
          <p:cNvSpPr/>
          <p:nvPr/>
        </p:nvSpPr>
        <p:spPr>
          <a:xfrm>
            <a:off x="9198864" y="5052974"/>
            <a:ext cx="2642616" cy="248717"/>
          </a:xfrm>
          <a:prstGeom prst="roundRect">
            <a:avLst>
              <a:gd name="adj" fmla="val 11029"/>
            </a:avLst>
          </a:prstGeom>
          <a:solidFill>
            <a:srgbClr val="FFF1CC"/>
          </a:solidFill>
          <a:ln w="6350">
            <a:solidFill>
              <a:srgbClr val="F2D27A"/>
            </a:solidFill>
            <a:prstDash val="solid"/>
          </a:ln>
        </p:spPr>
      </p:sp>
      <p:sp>
        <p:nvSpPr>
          <p:cNvPr id="204" name="Text 164"/>
          <p:cNvSpPr txBox="1"/>
          <p:nvPr/>
        </p:nvSpPr>
        <p:spPr>
          <a:xfrm>
            <a:off x="9235440" y="5043830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</a:t>
            </a:r>
            <a:endParaRPr lang="en-US" sz="900" dirty="0"/>
          </a:p>
        </p:txBody>
      </p:sp>
      <p:pic>
        <p:nvPicPr>
          <p:cNvPr id="205" name="Image 38" descr="preencoded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9491472" y="5085893"/>
            <a:ext cx="182880" cy="182880"/>
          </a:xfrm>
          <a:prstGeom prst="rect">
            <a:avLst/>
          </a:prstGeom>
        </p:spPr>
      </p:pic>
      <p:sp>
        <p:nvSpPr>
          <p:cNvPr id="206" name="Text 165"/>
          <p:cNvSpPr txBox="1"/>
          <p:nvPr/>
        </p:nvSpPr>
        <p:spPr>
          <a:xfrm>
            <a:off x="9729216" y="5043830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CONTROLADORIA</a:t>
            </a:r>
            <a:endParaRPr lang="en-US" sz="850" dirty="0"/>
          </a:p>
        </p:txBody>
      </p:sp>
      <p:sp>
        <p:nvSpPr>
          <p:cNvPr id="207" name="Text 166"/>
          <p:cNvSpPr txBox="1"/>
          <p:nvPr/>
        </p:nvSpPr>
        <p:spPr>
          <a:xfrm>
            <a:off x="11045952" y="5089550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CÓPIA</a:t>
            </a:r>
            <a:endParaRPr lang="en-US" sz="700" dirty="0"/>
          </a:p>
        </p:txBody>
      </p:sp>
      <p:sp>
        <p:nvSpPr>
          <p:cNvPr id="208" name="Shape 167"/>
          <p:cNvSpPr/>
          <p:nvPr/>
        </p:nvSpPr>
        <p:spPr>
          <a:xfrm>
            <a:off x="9198864" y="5319979"/>
            <a:ext cx="2642616" cy="248717"/>
          </a:xfrm>
          <a:prstGeom prst="roundRect">
            <a:avLst>
              <a:gd name="adj" fmla="val 11029"/>
            </a:avLst>
          </a:prstGeom>
          <a:solidFill>
            <a:srgbClr val="FFF1CC"/>
          </a:solidFill>
          <a:ln w="6350">
            <a:solidFill>
              <a:srgbClr val="F2D27A"/>
            </a:solidFill>
            <a:prstDash val="solid"/>
          </a:ln>
        </p:spPr>
      </p:sp>
      <p:sp>
        <p:nvSpPr>
          <p:cNvPr id="209" name="Text 168"/>
          <p:cNvSpPr txBox="1"/>
          <p:nvPr/>
        </p:nvSpPr>
        <p:spPr>
          <a:xfrm>
            <a:off x="9235440" y="5310835"/>
            <a:ext cx="23774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</a:t>
            </a:r>
            <a:endParaRPr lang="en-US" sz="900" dirty="0"/>
          </a:p>
        </p:txBody>
      </p:sp>
      <p:pic>
        <p:nvPicPr>
          <p:cNvPr id="210" name="Image 39" descr="preencoded.png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9491472" y="5352898"/>
            <a:ext cx="182880" cy="182880"/>
          </a:xfrm>
          <a:prstGeom prst="rect">
            <a:avLst/>
          </a:prstGeom>
        </p:spPr>
      </p:pic>
      <p:sp>
        <p:nvSpPr>
          <p:cNvPr id="211" name="Text 169"/>
          <p:cNvSpPr txBox="1"/>
          <p:nvPr/>
        </p:nvSpPr>
        <p:spPr>
          <a:xfrm>
            <a:off x="9729216" y="5310835"/>
            <a:ext cx="1371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FOLHA DE PAGAMENTO</a:t>
            </a:r>
            <a:endParaRPr lang="en-US" sz="850" dirty="0"/>
          </a:p>
        </p:txBody>
      </p:sp>
      <p:sp>
        <p:nvSpPr>
          <p:cNvPr id="212" name="Text 170"/>
          <p:cNvSpPr txBox="1"/>
          <p:nvPr/>
        </p:nvSpPr>
        <p:spPr>
          <a:xfrm>
            <a:off x="11045952" y="5356555"/>
            <a:ext cx="7315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CÓPIA</a:t>
            </a:r>
            <a:endParaRPr lang="en-US" sz="700" dirty="0"/>
          </a:p>
        </p:txBody>
      </p:sp>
      <p:sp>
        <p:nvSpPr>
          <p:cNvPr id="213" name="Shape 171"/>
          <p:cNvSpPr/>
          <p:nvPr/>
        </p:nvSpPr>
        <p:spPr>
          <a:xfrm>
            <a:off x="274320" y="6263640"/>
            <a:ext cx="11640312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C9D6EA"/>
            </a:solidFill>
            <a:prstDash val="solid"/>
          </a:ln>
        </p:spPr>
      </p:sp>
      <p:sp>
        <p:nvSpPr>
          <p:cNvPr id="214" name="Shape 172"/>
          <p:cNvSpPr/>
          <p:nvPr/>
        </p:nvSpPr>
        <p:spPr>
          <a:xfrm>
            <a:off x="411480" y="6355080"/>
            <a:ext cx="365760" cy="228600"/>
          </a:xfrm>
          <a:prstGeom prst="roundRect">
            <a:avLst>
              <a:gd name="adj" fmla="val 12000"/>
            </a:avLst>
          </a:prstGeom>
          <a:solidFill>
            <a:srgbClr val="FFF1CC"/>
          </a:solidFill>
          <a:ln w="6350">
            <a:solidFill>
              <a:srgbClr val="F2D27A"/>
            </a:solidFill>
            <a:prstDash val="solid"/>
          </a:ln>
        </p:spPr>
      </p:sp>
      <p:sp>
        <p:nvSpPr>
          <p:cNvPr id="215" name="Text 173"/>
          <p:cNvSpPr txBox="1"/>
          <p:nvPr/>
        </p:nvSpPr>
        <p:spPr>
          <a:xfrm>
            <a:off x="868680" y="630936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acrescida pela condição (Gestor Atual · Compliance/DHO · Cópias Controladoria/Folha)</a:t>
            </a:r>
            <a:endParaRPr lang="en-US" sz="950" dirty="0"/>
          </a:p>
        </p:txBody>
      </p:sp>
      <p:sp>
        <p:nvSpPr>
          <p:cNvPr id="216" name="Text 174"/>
          <p:cNvSpPr txBox="1"/>
          <p:nvPr/>
        </p:nvSpPr>
        <p:spPr>
          <a:xfrm>
            <a:off x="6583680" y="630936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APROVADOR</a:t>
            </a:r>
            <a:pPr algn="r" indent="0" marL="0">
              <a:buNone/>
            </a:pPr>
            <a:r>
              <a:rPr lang="en-US" sz="9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aprova a etapa   ·   </a:t>
            </a:r>
            <a:pPr algn="r" indent="0" marL="0">
              <a:buNone/>
            </a:pPr>
            <a:r>
              <a:rPr lang="en-US" sz="950" b="1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CONTRIBUINTE</a:t>
            </a:r>
            <a:pPr algn="r" indent="0" marL="0">
              <a:buNone/>
            </a:pPr>
            <a:r>
              <a:rPr lang="en-US" sz="9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contribui sem aprovar   ·   </a:t>
            </a:r>
            <a:pPr algn="r" indent="0" marL="0">
              <a:buNone/>
            </a:pPr>
            <a:r>
              <a:rPr lang="en-US" sz="950" b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CÓPIA</a:t>
            </a:r>
            <a:pPr algn="r" indent="0" marL="0">
              <a:buNone/>
            </a:pPr>
            <a:r>
              <a:rPr lang="en-US" sz="9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recebe ciência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82880"/>
            <a:ext cx="11640312" cy="749808"/>
          </a:xfrm>
          <a:prstGeom prst="roundRect">
            <a:avLst>
              <a:gd name="adj" fmla="val 7317"/>
            </a:avLst>
          </a:prstGeom>
          <a:solidFill>
            <a:srgbClr val="123C7A"/>
          </a:solidFill>
          <a:ln w="12700">
            <a:solidFill>
              <a:srgbClr val="123C7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219456"/>
            <a:ext cx="116403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CONSOLIDAÇÃO – REGRAS × ROTAS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274320" y="585216"/>
            <a:ext cx="11640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AS 84 REGRAS DA PLANILHA CONVERGEM PARA 8 ROTAS DE APROVAÇÃO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188720"/>
            <a:ext cx="22860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C9D6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74320" y="12801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23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365760" y="19659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na matriz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2606040"/>
            <a:ext cx="22860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C9D6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74320" y="26974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07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365760" y="3383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rotas de aprovação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4023360"/>
            <a:ext cx="22860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C9D6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74320" y="411480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E8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" y="48006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condições que definem a rota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88920" y="1188720"/>
          <a:ext cx="9125712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931920"/>
                <a:gridCol w="1463040"/>
                <a:gridCol w="1280160"/>
                <a:gridCol w="896112"/>
                <a:gridCol w="91440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C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EVENTO (C&amp;R)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C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MÃO DE OBRA DESTINO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C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ALTERA GESTOR?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C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REGRAS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C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ETAPAS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C7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7A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PROMOÇÃO (LIDERANÇA)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2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2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2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2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2E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A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PROMOÇÃO (CARGO DE CONFIANÇA)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PROMOÇÃO (GESTÃO / CARREIRA Y)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PROMOÇÃO (LIDERANÇA)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F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F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F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F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F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ALTERAÇÃO DE CARGO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PROMOÇÃO (EQUIPES)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3F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ALTERAÇÃO DE CARGO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PROMOÇÃO (EQUIPES)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C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C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C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C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C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PROMOÇÃO (LIDERANÇA)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B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B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B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B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B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C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PROMOÇÃO (CARGO DE CONFIANÇA)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PROMOÇÃO (GESTÃO / CARREIRA Y)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PROMOÇÃO (LIDERANÇA)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4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4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8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ALTERAÇÃO DE CARGO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PROMOÇÃO (EQUIPES)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32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ALTERAÇÃO DE CARGO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PROMOÇÃO (EQUIPES)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BF2"/>
                    </a:solidFill>
                  </a:tcPr>
                </a:tc>
              </a:tr>
              <a:tr h="274320">
                <a:tc gridSpan="4"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23C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9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23C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9"/>
                    </a:solidFill>
                  </a:tcPr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274320" y="5486400"/>
            <a:ext cx="11640312" cy="1188720"/>
          </a:xfrm>
          <a:prstGeom prst="roundRect">
            <a:avLst>
              <a:gd name="adj" fmla="val 3846"/>
            </a:avLst>
          </a:prstGeom>
          <a:solidFill>
            <a:srgbClr val="E9F0F9"/>
          </a:solidFill>
          <a:ln w="12700">
            <a:solidFill>
              <a:srgbClr val="C9D6E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7200" y="553212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3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CONDIÇÕES QUE DEFINEM A ROTA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 de promoção de gestão/liderança</a:t>
            </a:r>
            <a:pPr indent="0" marL="0">
              <a:buNone/>
            </a:pPr>
            <a:r>
              <a:rPr lang="en-US" sz="9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(Cargo de confiança, Gestão/Carreira Y, Liderança) acrescenta Compliance e DHO.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Mão de obra de destino MOI</a:t>
            </a:r>
            <a:pPr indent="0" marL="0">
              <a:buNone/>
            </a:pPr>
            <a:r>
              <a:rPr lang="en-US" sz="9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acrescenta cópia para Controladoria e Folha de Pagamento.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Altera gestor = SIM</a:t>
            </a:r>
            <a:pPr indent="0" marL="0">
              <a:buNone/>
            </a:pPr>
            <a:r>
              <a:rPr lang="en-US" sz="9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inclui o Gestor Atual como primeiro aprovador.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675120" y="553212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3C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CONDIÇÕES QUE NÃO ALTERAM A ROTA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 filial?  ·  Muda setor?  ·  Natureza do cargo atual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Cargo "de" diferente do "para" = SIM em todas as regras.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Promoções de Cargo de confiança e Gestão/Carreira Y ocorrem apenas com destino MOI.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Fluxo de Aprovação – Movimentação de Pessoas</dc:title>
  <dc:subject>PptxGenJS Presentation</dc:subject>
  <dc:creator>PptxGenJS</dc:creator>
  <cp:lastModifiedBy>PptxGenJS</cp:lastModifiedBy>
  <cp:revision>1</cp:revision>
  <dcterms:created xsi:type="dcterms:W3CDTF">2026-09-25T11:55:58Z</dcterms:created>
  <dcterms:modified xsi:type="dcterms:W3CDTF">2026-09-25T11:55:58Z</dcterms:modified>
</cp:coreProperties>
</file>