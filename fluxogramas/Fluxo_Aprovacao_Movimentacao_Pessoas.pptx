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png"/><Relationship Id="rId16" Type="http://schemas.openxmlformats.org/officeDocument/2006/relationships/image" Target="../media/image-2-16.png"/><Relationship Id="rId17" Type="http://schemas.openxmlformats.org/officeDocument/2006/relationships/image" Target="../media/image-2-17.png"/><Relationship Id="rId18" Type="http://schemas.openxmlformats.org/officeDocument/2006/relationships/image" Target="../media/image-2-18.png"/><Relationship Id="rId19" Type="http://schemas.openxmlformats.org/officeDocument/2006/relationships/image" Target="../media/image-2-19.png"/><Relationship Id="rId20" Type="http://schemas.openxmlformats.org/officeDocument/2006/relationships/image" Target="../media/image-2-20.png"/><Relationship Id="rId21" Type="http://schemas.openxmlformats.org/officeDocument/2006/relationships/image" Target="../media/image-2-21.png"/><Relationship Id="rId22" Type="http://schemas.openxmlformats.org/officeDocument/2006/relationships/image" Target="../media/image-2-22.png"/><Relationship Id="rId23" Type="http://schemas.openxmlformats.org/officeDocument/2006/relationships/image" Target="../media/image-2-23.png"/><Relationship Id="rId24" Type="http://schemas.openxmlformats.org/officeDocument/2006/relationships/image" Target="../media/image-2-24.png"/><Relationship Id="rId25" Type="http://schemas.openxmlformats.org/officeDocument/2006/relationships/image" Target="../media/image-2-25.png"/><Relationship Id="rId26" Type="http://schemas.openxmlformats.org/officeDocument/2006/relationships/image" Target="../media/image-2-26.png"/><Relationship Id="rId27" Type="http://schemas.openxmlformats.org/officeDocument/2006/relationships/image" Target="../media/image-2-27.png"/><Relationship Id="rId28" Type="http://schemas.openxmlformats.org/officeDocument/2006/relationships/image" Target="../media/image-2-28.png"/><Relationship Id="rId29" Type="http://schemas.openxmlformats.org/officeDocument/2006/relationships/image" Target="../media/image-2-29.png"/><Relationship Id="rId30" Type="http://schemas.openxmlformats.org/officeDocument/2006/relationships/image" Target="../media/image-2-30.png"/><Relationship Id="rId31" Type="http://schemas.openxmlformats.org/officeDocument/2006/relationships/image" Target="../media/image-2-31.png"/><Relationship Id="rId32" Type="http://schemas.openxmlformats.org/officeDocument/2006/relationships/image" Target="../media/image-2-32.png"/><Relationship Id="rId33" Type="http://schemas.openxmlformats.org/officeDocument/2006/relationships/image" Target="../media/image-2-33.png"/><Relationship Id="rId34" Type="http://schemas.openxmlformats.org/officeDocument/2006/relationships/image" Target="../media/image-2-34.png"/><Relationship Id="rId35" Type="http://schemas.openxmlformats.org/officeDocument/2006/relationships/image" Target="../media/image-2-35.png"/><Relationship Id="rId36" Type="http://schemas.openxmlformats.org/officeDocument/2006/relationships/image" Target="../media/image-2-36.png"/><Relationship Id="rId37" Type="http://schemas.openxmlformats.org/officeDocument/2006/relationships/image" Target="../media/image-2-37.png"/><Relationship Id="rId38" Type="http://schemas.openxmlformats.org/officeDocument/2006/relationships/slideLayout" Target="../slideLayouts/slideLayout1.xml"/><Relationship Id="rId3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image" Target="../media/image-3-16.png"/><Relationship Id="rId17" Type="http://schemas.openxmlformats.org/officeDocument/2006/relationships/image" Target="../media/image-3-17.png"/><Relationship Id="rId18" Type="http://schemas.openxmlformats.org/officeDocument/2006/relationships/image" Target="../media/image-3-18.png"/><Relationship Id="rId19" Type="http://schemas.openxmlformats.org/officeDocument/2006/relationships/image" Target="../media/image-3-19.png"/><Relationship Id="rId20" Type="http://schemas.openxmlformats.org/officeDocument/2006/relationships/image" Target="../media/image-3-20.png"/><Relationship Id="rId21" Type="http://schemas.openxmlformats.org/officeDocument/2006/relationships/image" Target="../media/image-3-21.png"/><Relationship Id="rId22" Type="http://schemas.openxmlformats.org/officeDocument/2006/relationships/image" Target="../media/image-3-22.png"/><Relationship Id="rId23" Type="http://schemas.openxmlformats.org/officeDocument/2006/relationships/image" Target="../media/image-3-23.png"/><Relationship Id="rId24" Type="http://schemas.openxmlformats.org/officeDocument/2006/relationships/image" Target="../media/image-3-24.png"/><Relationship Id="rId25" Type="http://schemas.openxmlformats.org/officeDocument/2006/relationships/image" Target="../media/image-3-25.png"/><Relationship Id="rId26" Type="http://schemas.openxmlformats.org/officeDocument/2006/relationships/image" Target="../media/image-3-26.png"/><Relationship Id="rId27" Type="http://schemas.openxmlformats.org/officeDocument/2006/relationships/slideLayout" Target="../slideLayouts/slideLayout1.xml"/><Relationship Id="rId2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image" Target="../media/image-4-15.png"/><Relationship Id="rId16" Type="http://schemas.openxmlformats.org/officeDocument/2006/relationships/image" Target="../media/image-4-16.png"/><Relationship Id="rId17" Type="http://schemas.openxmlformats.org/officeDocument/2006/relationships/image" Target="../media/image-4-17.png"/><Relationship Id="rId18" Type="http://schemas.openxmlformats.org/officeDocument/2006/relationships/image" Target="../media/image-4-18.png"/><Relationship Id="rId19" Type="http://schemas.openxmlformats.org/officeDocument/2006/relationships/image" Target="../media/image-4-19.png"/><Relationship Id="rId20" Type="http://schemas.openxmlformats.org/officeDocument/2006/relationships/image" Target="../media/image-4-20.png"/><Relationship Id="rId21" Type="http://schemas.openxmlformats.org/officeDocument/2006/relationships/image" Target="../media/image-4-21.png"/><Relationship Id="rId22" Type="http://schemas.openxmlformats.org/officeDocument/2006/relationships/image" Target="../media/image-4-22.png"/><Relationship Id="rId23" Type="http://schemas.openxmlformats.org/officeDocument/2006/relationships/image" Target="../media/image-4-23.png"/><Relationship Id="rId24" Type="http://schemas.openxmlformats.org/officeDocument/2006/relationships/image" Target="../media/image-4-24.png"/><Relationship Id="rId25" Type="http://schemas.openxmlformats.org/officeDocument/2006/relationships/image" Target="../media/image-4-25.png"/><Relationship Id="rId26" Type="http://schemas.openxmlformats.org/officeDocument/2006/relationships/image" Target="../media/image-4-26.png"/><Relationship Id="rId27" Type="http://schemas.openxmlformats.org/officeDocument/2006/relationships/image" Target="../media/image-4-27.png"/><Relationship Id="rId28" Type="http://schemas.openxmlformats.org/officeDocument/2006/relationships/image" Target="../media/image-4-28.png"/><Relationship Id="rId29" Type="http://schemas.openxmlformats.org/officeDocument/2006/relationships/image" Target="../media/image-4-29.png"/><Relationship Id="rId30" Type="http://schemas.openxmlformats.org/officeDocument/2006/relationships/image" Target="../media/image-4-30.png"/><Relationship Id="rId31" Type="http://schemas.openxmlformats.org/officeDocument/2006/relationships/image" Target="../media/image-4-31.png"/><Relationship Id="rId32" Type="http://schemas.openxmlformats.org/officeDocument/2006/relationships/image" Target="../media/image-4-32.png"/><Relationship Id="rId33" Type="http://schemas.openxmlformats.org/officeDocument/2006/relationships/image" Target="../media/image-4-33.png"/><Relationship Id="rId34" Type="http://schemas.openxmlformats.org/officeDocument/2006/relationships/image" Target="../media/image-4-34.png"/><Relationship Id="rId35" Type="http://schemas.openxmlformats.org/officeDocument/2006/relationships/image" Target="../media/image-4-35.png"/><Relationship Id="rId36" Type="http://schemas.openxmlformats.org/officeDocument/2006/relationships/image" Target="../media/image-4-36.png"/><Relationship Id="rId37" Type="http://schemas.openxmlformats.org/officeDocument/2006/relationships/image" Target="../media/image-4-37.png"/><Relationship Id="rId38" Type="http://schemas.openxmlformats.org/officeDocument/2006/relationships/slideLayout" Target="../slideLayouts/slideLayout1.xml"/><Relationship Id="rId3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image" Target="../media/image-5-15.png"/><Relationship Id="rId16" Type="http://schemas.openxmlformats.org/officeDocument/2006/relationships/image" Target="../media/image-5-16.png"/><Relationship Id="rId17" Type="http://schemas.openxmlformats.org/officeDocument/2006/relationships/image" Target="../media/image-5-17.png"/><Relationship Id="rId18" Type="http://schemas.openxmlformats.org/officeDocument/2006/relationships/image" Target="../media/image-5-18.png"/><Relationship Id="rId19" Type="http://schemas.openxmlformats.org/officeDocument/2006/relationships/image" Target="../media/image-5-19.png"/><Relationship Id="rId20" Type="http://schemas.openxmlformats.org/officeDocument/2006/relationships/image" Target="../media/image-5-20.png"/><Relationship Id="rId21" Type="http://schemas.openxmlformats.org/officeDocument/2006/relationships/image" Target="../media/image-5-21.png"/><Relationship Id="rId22" Type="http://schemas.openxmlformats.org/officeDocument/2006/relationships/image" Target="../media/image-5-22.png"/><Relationship Id="rId23" Type="http://schemas.openxmlformats.org/officeDocument/2006/relationships/image" Target="../media/image-5-23.png"/><Relationship Id="rId24" Type="http://schemas.openxmlformats.org/officeDocument/2006/relationships/image" Target="../media/image-5-24.png"/><Relationship Id="rId25" Type="http://schemas.openxmlformats.org/officeDocument/2006/relationships/image" Target="../media/image-5-25.png"/><Relationship Id="rId26" Type="http://schemas.openxmlformats.org/officeDocument/2006/relationships/image" Target="../media/image-5-26.png"/><Relationship Id="rId27" Type="http://schemas.openxmlformats.org/officeDocument/2006/relationships/slideLayout" Target="../slideLayouts/slideLayout1.xml"/><Relationship Id="rId2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image" Target="../media/image-6-15.png"/><Relationship Id="rId16" Type="http://schemas.openxmlformats.org/officeDocument/2006/relationships/image" Target="../media/image-6-16.png"/><Relationship Id="rId17" Type="http://schemas.openxmlformats.org/officeDocument/2006/relationships/image" Target="../media/image-6-17.png"/><Relationship Id="rId18" Type="http://schemas.openxmlformats.org/officeDocument/2006/relationships/image" Target="../media/image-6-18.png"/><Relationship Id="rId19" Type="http://schemas.openxmlformats.org/officeDocument/2006/relationships/image" Target="../media/image-6-19.png"/><Relationship Id="rId20" Type="http://schemas.openxmlformats.org/officeDocument/2006/relationships/image" Target="../media/image-6-20.png"/><Relationship Id="rId21" Type="http://schemas.openxmlformats.org/officeDocument/2006/relationships/image" Target="../media/image-6-21.png"/><Relationship Id="rId22" Type="http://schemas.openxmlformats.org/officeDocument/2006/relationships/image" Target="../media/image-6-22.png"/><Relationship Id="rId23" Type="http://schemas.openxmlformats.org/officeDocument/2006/relationships/image" Target="../media/image-6-23.png"/><Relationship Id="rId24" Type="http://schemas.openxmlformats.org/officeDocument/2006/relationships/image" Target="../media/image-6-24.png"/><Relationship Id="rId25" Type="http://schemas.openxmlformats.org/officeDocument/2006/relationships/image" Target="../media/image-6-25.png"/><Relationship Id="rId26" Type="http://schemas.openxmlformats.org/officeDocument/2006/relationships/image" Target="../media/image-6-26.png"/><Relationship Id="rId27" Type="http://schemas.openxmlformats.org/officeDocument/2006/relationships/image" Target="../media/image-6-27.png"/><Relationship Id="rId28" Type="http://schemas.openxmlformats.org/officeDocument/2006/relationships/image" Target="../media/image-6-28.png"/><Relationship Id="rId29" Type="http://schemas.openxmlformats.org/officeDocument/2006/relationships/image" Target="../media/image-6-29.png"/><Relationship Id="rId30" Type="http://schemas.openxmlformats.org/officeDocument/2006/relationships/image" Target="../media/image-6-30.png"/><Relationship Id="rId31" Type="http://schemas.openxmlformats.org/officeDocument/2006/relationships/image" Target="../media/image-6-31.png"/><Relationship Id="rId32" Type="http://schemas.openxmlformats.org/officeDocument/2006/relationships/image" Target="../media/image-6-32.png"/><Relationship Id="rId33" Type="http://schemas.openxmlformats.org/officeDocument/2006/relationships/image" Target="../media/image-6-33.png"/><Relationship Id="rId34" Type="http://schemas.openxmlformats.org/officeDocument/2006/relationships/image" Target="../media/image-6-34.png"/><Relationship Id="rId35" Type="http://schemas.openxmlformats.org/officeDocument/2006/relationships/image" Target="../media/image-6-35.png"/><Relationship Id="rId36" Type="http://schemas.openxmlformats.org/officeDocument/2006/relationships/image" Target="../media/image-6-36.png"/><Relationship Id="rId37" Type="http://schemas.openxmlformats.org/officeDocument/2006/relationships/image" Target="../media/image-6-37.png"/><Relationship Id="rId38" Type="http://schemas.openxmlformats.org/officeDocument/2006/relationships/image" Target="../media/image-6-38.png"/><Relationship Id="rId39" Type="http://schemas.openxmlformats.org/officeDocument/2006/relationships/image" Target="../media/image-6-39.png"/><Relationship Id="rId40" Type="http://schemas.openxmlformats.org/officeDocument/2006/relationships/image" Target="../media/image-6-40.png"/><Relationship Id="rId41" Type="http://schemas.openxmlformats.org/officeDocument/2006/relationships/image" Target="../media/image-6-41.png"/><Relationship Id="rId42" Type="http://schemas.openxmlformats.org/officeDocument/2006/relationships/image" Target="../media/image-6-42.png"/><Relationship Id="rId43" Type="http://schemas.openxmlformats.org/officeDocument/2006/relationships/image" Target="../media/image-6-43.png"/><Relationship Id="rId44" Type="http://schemas.openxmlformats.org/officeDocument/2006/relationships/image" Target="../media/image-6-44.png"/><Relationship Id="rId45" Type="http://schemas.openxmlformats.org/officeDocument/2006/relationships/image" Target="../media/image-6-45.png"/><Relationship Id="rId46" Type="http://schemas.openxmlformats.org/officeDocument/2006/relationships/slideLayout" Target="../slideLayouts/slideLayout1.xml"/><Relationship Id="rId47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11640312" cy="749808"/>
          </a:xfrm>
          <a:prstGeom prst="roundRect">
            <a:avLst>
              <a:gd name="adj" fmla="val 7317"/>
            </a:avLst>
          </a:prstGeom>
          <a:solidFill>
            <a:srgbClr val="123C7A"/>
          </a:solidFill>
          <a:ln w="12700">
            <a:solidFill>
              <a:srgbClr val="123C7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219456"/>
            <a:ext cx="116403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FLUXOS DE APROVAÇÃO – MOVIMENTAÇÃO DE PESSOAS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274320" y="585216"/>
            <a:ext cx="11640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 · 84 REGRAS · 5 EVENTOS C&amp;R · 8 ROTAS DE APROVAÇÃO</a:t>
            </a:r>
            <a:endParaRPr lang="en-US" sz="12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143000"/>
          <a:ext cx="11640312" cy="914400"/>
        </p:xfrm>
        <a:graphic>
          <a:graphicData uri="http://schemas.openxmlformats.org/drawingml/2006/table">
            <a:tbl>
              <a:tblPr/>
              <a:tblGrid>
                <a:gridCol w="3465576"/>
                <a:gridCol w="841248"/>
                <a:gridCol w="841248"/>
                <a:gridCol w="841248"/>
                <a:gridCol w="841248"/>
                <a:gridCol w="841248"/>
                <a:gridCol w="841248"/>
                <a:gridCol w="841248"/>
                <a:gridCol w="841248"/>
                <a:gridCol w="749808"/>
                <a:gridCol w="694944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EVENTO (C&amp;R)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AA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B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3F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8C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8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327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7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ALTERAÇÃO DE CARGO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B0B8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B0B8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8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E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2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B0B8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B0B8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6E8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A832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0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23C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PROMOÇÃO DE CARGO – CARGO DE CONFIANÇA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B0B8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5A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B0B8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B0B8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B0B8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E8C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B0B8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B0B8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23C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PROMOÇÃO DE CARGO – EQUIPES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B0B8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B0B8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8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E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2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B0B8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B0B8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6E8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A832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0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23C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PROMOÇÃO DE CARGO – GESTÃO / CARREIRA 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B0B8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5A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B0B8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B0B8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B0B8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E8C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B0B8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B0B8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23C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PROMOÇÃO DE CARGO – LIDERANÇA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07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B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5A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B0B8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B0B8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1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E8C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B0B8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B0B8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23C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23C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DE REGRAS POR ROTA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23C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23C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23C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23C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23C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23C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23C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23C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23C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9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274320" y="3977640"/>
            <a:ext cx="11640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COMPOSIÇÃO DAS ROTAS – O QUE CADA CONDIÇÃO ACRESCENTA À ROTA BASE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74320" y="4343400"/>
            <a:ext cx="2772918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97C59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11480" y="4434840"/>
            <a:ext cx="24985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8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 BASE (C)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11480" y="4727448"/>
            <a:ext cx="249859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Carreira e Recompensa → Treinamento → Medicina → Segurança do Trabalho → Gestor Solicitante (contribuinte) → Colaborador → Carreira e Recompensa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30118" y="4343400"/>
            <a:ext cx="2772918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F0BD8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367278" y="4434840"/>
            <a:ext cx="24985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PROMOÇÃO DE GESTÃO / LIDERANÇA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3367278" y="4727448"/>
            <a:ext cx="249859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Acrescenta Compliance e DHO – Desenvolvimento Humano Organizacional (rotas A, B, E, F)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185916" y="4343400"/>
            <a:ext cx="2772918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B59FD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323076" y="4434840"/>
            <a:ext cx="24985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MÃO DE OBRA DE DESTINO MOI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6323076" y="4727448"/>
            <a:ext cx="249859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Acrescenta cópia para Controladoria e Folha de Pagamento (rotas B, D, F, H)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9141714" y="4343400"/>
            <a:ext cx="2772918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09C9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278874" y="4434840"/>
            <a:ext cx="24985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ALTERA GESTOR = SIM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9278874" y="4727448"/>
            <a:ext cx="249859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Inclui o Gestor Atual como 1º aprovador (rotas E, F, G, H)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274320" y="5943600"/>
            <a:ext cx="11640312" cy="731520"/>
          </a:xfrm>
          <a:prstGeom prst="roundRect">
            <a:avLst>
              <a:gd name="adj" fmla="val 6250"/>
            </a:avLst>
          </a:prstGeom>
          <a:solidFill>
            <a:srgbClr val="E9F0F9"/>
          </a:solidFill>
          <a:ln w="12700">
            <a:solidFill>
              <a:srgbClr val="C9D6E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11480" y="6071616"/>
            <a:ext cx="475488" cy="475488"/>
          </a:xfrm>
          <a:prstGeom prst="ellipse">
            <a:avLst/>
          </a:prstGeom>
          <a:solidFill>
            <a:srgbClr val="123C7A"/>
          </a:solidFill>
          <a:ln w="12700">
            <a:solidFill>
              <a:srgbClr val="123C7A"/>
            </a:solidFill>
            <a:prstDash val="solid"/>
          </a:ln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208776"/>
            <a:ext cx="201168" cy="201168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1005840" y="5961888"/>
            <a:ext cx="10789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3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IMPORTANTE: </a:t>
            </a:r>
            <a:pPr indent="0" marL="0">
              <a:buNone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evento C&amp;R tem seu próprio fluxo (slides seguintes). Dentro de um evento, as regras com a mesma letra seguem a mesma rota de aprovação, </a:t>
            </a:r>
            <a:pPr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a mesma letra em eventos diferentes representa exatamente a mesma sequência de aprovadores.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11640312" cy="749808"/>
          </a:xfrm>
          <a:prstGeom prst="roundRect">
            <a:avLst>
              <a:gd name="adj" fmla="val 7317"/>
            </a:avLst>
          </a:prstGeom>
          <a:solidFill>
            <a:srgbClr val="123C7A"/>
          </a:solidFill>
          <a:ln w="12700">
            <a:solidFill>
              <a:srgbClr val="123C7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219456"/>
            <a:ext cx="116403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DE APROVAÇÃO – ALTERAÇÃO DE CARGO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274320" y="585216"/>
            <a:ext cx="11640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MOVIMENTAÇÃO DE PESSOAS  ·  EVENTO 1 DE 5  ·  36 REGRAS CONSOLIDADAS EM 4 ROTAS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20040" y="1280160"/>
            <a:ext cx="914400" cy="402336"/>
          </a:xfrm>
          <a:prstGeom prst="roundRect">
            <a:avLst>
              <a:gd name="adj" fmla="val 50000"/>
            </a:avLst>
          </a:prstGeom>
          <a:solidFill>
            <a:srgbClr val="2E8B3E"/>
          </a:solidFill>
          <a:ln w="12700">
            <a:solidFill>
              <a:srgbClr val="2E8B3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20040" y="1280160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INÍCIO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234440" y="1481328"/>
            <a:ext cx="182880" cy="0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417320" y="1115568"/>
            <a:ext cx="1874520" cy="731520"/>
          </a:xfrm>
          <a:prstGeom prst="roundRect">
            <a:avLst>
              <a:gd name="adj" fmla="val 6250"/>
            </a:avLst>
          </a:prstGeom>
          <a:solidFill>
            <a:srgbClr val="E9F0F9"/>
          </a:solidFill>
          <a:ln w="12700">
            <a:solidFill>
              <a:srgbClr val="C9D6EA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1325880"/>
            <a:ext cx="310896" cy="310896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892808" y="1115568"/>
            <a:ext cx="1353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3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MOTIVO (GESTOR)</a:t>
            </a:r>
            <a:endParaRPr lang="en-US" sz="1050" dirty="0"/>
          </a:p>
          <a:p>
            <a:pPr indent="0" marL="0">
              <a:buNone/>
            </a:pPr>
            <a:r>
              <a:rPr lang="en-US" sz="9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MOVIMENTAÇÃO DE PESSOAS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291840" y="1481328"/>
            <a:ext cx="182880" cy="0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3474720" y="1115568"/>
            <a:ext cx="2331720" cy="731520"/>
          </a:xfrm>
          <a:prstGeom prst="roundRect">
            <a:avLst>
              <a:gd name="adj" fmla="val 6250"/>
            </a:avLst>
          </a:prstGeom>
          <a:solidFill>
            <a:srgbClr val="E9F0F9"/>
          </a:solidFill>
          <a:ln w="12700">
            <a:solidFill>
              <a:srgbClr val="C9D6EA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325880"/>
            <a:ext cx="310896" cy="31089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950208" y="1115568"/>
            <a:ext cx="1810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3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EVENTO (C&amp;R)</a:t>
            </a:r>
            <a:endParaRPr lang="en-US" sz="1050" dirty="0"/>
          </a:p>
          <a:p>
            <a:pPr indent="0" marL="0">
              <a:buNone/>
            </a:pPr>
            <a:r>
              <a:rPr lang="en-US" sz="9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ALTERAÇÃO DE CARGO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806440" y="1481328"/>
            <a:ext cx="182880" cy="0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5989320" y="1115568"/>
            <a:ext cx="1783080" cy="731520"/>
          </a:xfrm>
          <a:prstGeom prst="roundRect">
            <a:avLst>
              <a:gd name="adj" fmla="val 6250"/>
            </a:avLst>
          </a:prstGeom>
          <a:solidFill>
            <a:srgbClr val="E3F1E4"/>
          </a:solidFill>
          <a:ln w="12700">
            <a:solidFill>
              <a:srgbClr val="A8D1A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071616" y="1307592"/>
            <a:ext cx="347472" cy="347472"/>
          </a:xfrm>
          <a:prstGeom prst="ellipse">
            <a:avLst/>
          </a:prstGeom>
          <a:solidFill>
            <a:srgbClr val="2E8B3E"/>
          </a:solidFill>
          <a:ln w="12700">
            <a:solidFill>
              <a:srgbClr val="2E8B3E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3912" y="1389888"/>
            <a:ext cx="182880" cy="18288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492240" y="1115568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INICIAR ANÁLISE DAS CONDIÇÕES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10287000" y="1115568"/>
            <a:ext cx="162763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9D6EA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10287000" y="1115568"/>
            <a:ext cx="1627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3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regras</a:t>
            </a:r>
            <a:endParaRPr lang="en-US" sz="15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4 rotas de aprovação</a:t>
            </a:r>
            <a:endParaRPr lang="en-US" sz="1500" dirty="0"/>
          </a:p>
        </p:txBody>
      </p:sp>
      <p:sp>
        <p:nvSpPr>
          <p:cNvPr id="22" name="Shape 17"/>
          <p:cNvSpPr/>
          <p:nvPr/>
        </p:nvSpPr>
        <p:spPr>
          <a:xfrm>
            <a:off x="7772400" y="1481328"/>
            <a:ext cx="381076" cy="0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  <a:tailEnd type="triangle"/>
          </a:ln>
        </p:spPr>
      </p:sp>
      <p:sp>
        <p:nvSpPr>
          <p:cNvPr id="23" name="Shape 18"/>
          <p:cNvSpPr/>
          <p:nvPr/>
        </p:nvSpPr>
        <p:spPr>
          <a:xfrm>
            <a:off x="8153476" y="1024128"/>
            <a:ext cx="1828800" cy="914400"/>
          </a:xfrm>
          <a:prstGeom prst="diamond">
            <a:avLst/>
          </a:prstGeom>
          <a:solidFill>
            <a:srgbClr val="D6E4F5"/>
          </a:solidFill>
          <a:ln w="19050">
            <a:solidFill>
              <a:srgbClr val="2B4F8C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8409508" y="1207008"/>
            <a:ext cx="1316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23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MÃO DE OBRA DE DESTINO É MOD?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9067876" y="1938528"/>
            <a:ext cx="0" cy="109728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3166796" y="2048256"/>
            <a:ext cx="5901080" cy="0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3166796" y="2048256"/>
            <a:ext cx="0" cy="164592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  <a:tailEnd type="triangle"/>
          </a:ln>
        </p:spPr>
      </p:sp>
      <p:sp>
        <p:nvSpPr>
          <p:cNvPr id="28" name="Shape 23"/>
          <p:cNvSpPr/>
          <p:nvPr/>
        </p:nvSpPr>
        <p:spPr>
          <a:xfrm>
            <a:off x="9067876" y="2048256"/>
            <a:ext cx="0" cy="164592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  <a:tailEnd type="triangle"/>
          </a:ln>
        </p:spPr>
      </p:sp>
      <p:sp>
        <p:nvSpPr>
          <p:cNvPr id="29" name="Text 24"/>
          <p:cNvSpPr txBox="1"/>
          <p:nvPr/>
        </p:nvSpPr>
        <p:spPr>
          <a:xfrm>
            <a:off x="3239948" y="18470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 (MOD)</a:t>
            </a:r>
            <a:endParaRPr lang="en-US" sz="1000" dirty="0"/>
          </a:p>
        </p:txBody>
      </p:sp>
      <p:sp>
        <p:nvSpPr>
          <p:cNvPr id="30" name="Text 25"/>
          <p:cNvSpPr txBox="1"/>
          <p:nvPr/>
        </p:nvSpPr>
        <p:spPr>
          <a:xfrm>
            <a:off x="9141028" y="202996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(MOI)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2366696" y="2212848"/>
            <a:ext cx="1600200" cy="658368"/>
          </a:xfrm>
          <a:prstGeom prst="diamond">
            <a:avLst/>
          </a:prstGeom>
          <a:solidFill>
            <a:srgbClr val="D6E4F5"/>
          </a:solidFill>
          <a:ln w="19050">
            <a:solidFill>
              <a:srgbClr val="2B4F8C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2590724" y="2344522"/>
            <a:ext cx="1152144" cy="395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23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ALTERA GESTOR?</a:t>
            </a:r>
            <a:endParaRPr lang="en-US" sz="950" dirty="0"/>
          </a:p>
        </p:txBody>
      </p:sp>
      <p:sp>
        <p:nvSpPr>
          <p:cNvPr id="33" name="Shape 28"/>
          <p:cNvSpPr/>
          <p:nvPr/>
        </p:nvSpPr>
        <p:spPr>
          <a:xfrm flipH="1">
            <a:off x="1691526" y="2542032"/>
            <a:ext cx="675170" cy="0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1691526" y="2542032"/>
            <a:ext cx="0" cy="310896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  <a:tailEnd type="triangle"/>
          </a:ln>
        </p:spPr>
      </p:sp>
      <p:sp>
        <p:nvSpPr>
          <p:cNvPr id="35" name="Shape 30"/>
          <p:cNvSpPr/>
          <p:nvPr/>
        </p:nvSpPr>
        <p:spPr>
          <a:xfrm>
            <a:off x="3966896" y="2542032"/>
            <a:ext cx="675170" cy="0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4642066" y="2542032"/>
            <a:ext cx="0" cy="310896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  <a:tailEnd type="triangle"/>
          </a:ln>
        </p:spPr>
      </p:sp>
      <p:sp>
        <p:nvSpPr>
          <p:cNvPr id="37" name="Text 32"/>
          <p:cNvSpPr txBox="1"/>
          <p:nvPr/>
        </p:nvSpPr>
        <p:spPr>
          <a:xfrm>
            <a:off x="1764678" y="232257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endParaRPr lang="en-US" sz="1000" dirty="0"/>
          </a:p>
        </p:txBody>
      </p:sp>
      <p:sp>
        <p:nvSpPr>
          <p:cNvPr id="38" name="Text 33"/>
          <p:cNvSpPr txBox="1"/>
          <p:nvPr/>
        </p:nvSpPr>
        <p:spPr>
          <a:xfrm>
            <a:off x="4203154" y="232257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</a:t>
            </a:r>
            <a:endParaRPr lang="en-US" sz="1000" dirty="0"/>
          </a:p>
        </p:txBody>
      </p:sp>
      <p:sp>
        <p:nvSpPr>
          <p:cNvPr id="39" name="Shape 34"/>
          <p:cNvSpPr/>
          <p:nvPr/>
        </p:nvSpPr>
        <p:spPr>
          <a:xfrm>
            <a:off x="8267776" y="2212848"/>
            <a:ext cx="1600200" cy="658368"/>
          </a:xfrm>
          <a:prstGeom prst="diamond">
            <a:avLst/>
          </a:prstGeom>
          <a:solidFill>
            <a:srgbClr val="D6E4F5"/>
          </a:solidFill>
          <a:ln w="19050">
            <a:solidFill>
              <a:srgbClr val="2B4F8C"/>
            </a:solidFill>
            <a:prstDash val="solid"/>
          </a:ln>
        </p:spPr>
      </p:sp>
      <p:sp>
        <p:nvSpPr>
          <p:cNvPr id="40" name="Text 35"/>
          <p:cNvSpPr txBox="1"/>
          <p:nvPr/>
        </p:nvSpPr>
        <p:spPr>
          <a:xfrm>
            <a:off x="8491804" y="2344522"/>
            <a:ext cx="1152144" cy="395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23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ALTERA GESTOR?</a:t>
            </a:r>
            <a:endParaRPr lang="en-US" sz="950" dirty="0"/>
          </a:p>
        </p:txBody>
      </p:sp>
      <p:sp>
        <p:nvSpPr>
          <p:cNvPr id="41" name="Shape 36"/>
          <p:cNvSpPr/>
          <p:nvPr/>
        </p:nvSpPr>
        <p:spPr>
          <a:xfrm flipH="1">
            <a:off x="7592606" y="2542032"/>
            <a:ext cx="675170" cy="0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7592606" y="2542032"/>
            <a:ext cx="0" cy="310896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  <a:tailEnd type="triangle"/>
          </a:ln>
        </p:spPr>
      </p:sp>
      <p:sp>
        <p:nvSpPr>
          <p:cNvPr id="43" name="Shape 38"/>
          <p:cNvSpPr/>
          <p:nvPr/>
        </p:nvSpPr>
        <p:spPr>
          <a:xfrm>
            <a:off x="9867976" y="2542032"/>
            <a:ext cx="675170" cy="0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10543146" y="2542032"/>
            <a:ext cx="0" cy="310896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  <a:tailEnd type="triangle"/>
          </a:ln>
        </p:spPr>
      </p:sp>
      <p:sp>
        <p:nvSpPr>
          <p:cNvPr id="45" name="Text 40"/>
          <p:cNvSpPr txBox="1"/>
          <p:nvPr/>
        </p:nvSpPr>
        <p:spPr>
          <a:xfrm>
            <a:off x="7665758" y="232257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endParaRPr lang="en-US" sz="1000" dirty="0"/>
          </a:p>
        </p:txBody>
      </p:sp>
      <p:sp>
        <p:nvSpPr>
          <p:cNvPr id="46" name="Text 41"/>
          <p:cNvSpPr txBox="1"/>
          <p:nvPr/>
        </p:nvSpPr>
        <p:spPr>
          <a:xfrm>
            <a:off x="10104234" y="232257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</a:t>
            </a:r>
            <a:endParaRPr lang="en-US" sz="1000" dirty="0"/>
          </a:p>
        </p:txBody>
      </p:sp>
      <p:sp>
        <p:nvSpPr>
          <p:cNvPr id="47" name="Shape 42"/>
          <p:cNvSpPr/>
          <p:nvPr/>
        </p:nvSpPr>
        <p:spPr>
          <a:xfrm>
            <a:off x="320040" y="3127248"/>
            <a:ext cx="2742971" cy="3145536"/>
          </a:xfrm>
          <a:prstGeom prst="roundRect">
            <a:avLst>
              <a:gd name="adj" fmla="val 2000"/>
            </a:avLst>
          </a:prstGeom>
          <a:solidFill>
            <a:srgbClr val="F0F7F1"/>
          </a:solidFill>
          <a:ln w="12700">
            <a:solidFill>
              <a:srgbClr val="A1CBA8"/>
            </a:solidFill>
            <a:prstDash val="solid"/>
          </a:ln>
        </p:spPr>
      </p:sp>
      <p:sp>
        <p:nvSpPr>
          <p:cNvPr id="48" name="Shape 43"/>
          <p:cNvSpPr/>
          <p:nvPr/>
        </p:nvSpPr>
        <p:spPr>
          <a:xfrm>
            <a:off x="320040" y="3127248"/>
            <a:ext cx="2742971" cy="365760"/>
          </a:xfrm>
          <a:prstGeom prst="roundRect">
            <a:avLst>
              <a:gd name="adj" fmla="val 15000"/>
            </a:avLst>
          </a:prstGeom>
          <a:solidFill>
            <a:srgbClr val="2E8B3E"/>
          </a:solidFill>
          <a:ln w="12700">
            <a:solidFill>
              <a:srgbClr val="2E8B3E"/>
            </a:solidFill>
            <a:prstDash val="solid"/>
          </a:ln>
        </p:spPr>
      </p:sp>
      <p:sp>
        <p:nvSpPr>
          <p:cNvPr id="49" name="Shape 44"/>
          <p:cNvSpPr/>
          <p:nvPr/>
        </p:nvSpPr>
        <p:spPr>
          <a:xfrm>
            <a:off x="320040" y="3355848"/>
            <a:ext cx="2742971" cy="137160"/>
          </a:xfrm>
          <a:prstGeom prst="rect">
            <a:avLst/>
          </a:prstGeom>
          <a:solidFill>
            <a:srgbClr val="2E8B3E"/>
          </a:solidFill>
          <a:ln w="12700">
            <a:solidFill>
              <a:srgbClr val="2E8B3E"/>
            </a:solidFill>
            <a:prstDash val="solid"/>
          </a:ln>
        </p:spPr>
      </p:sp>
      <p:sp>
        <p:nvSpPr>
          <p:cNvPr id="50" name="Shape 45"/>
          <p:cNvSpPr/>
          <p:nvPr/>
        </p:nvSpPr>
        <p:spPr>
          <a:xfrm>
            <a:off x="1462926" y="2852928"/>
            <a:ext cx="457200" cy="457200"/>
          </a:xfrm>
          <a:prstGeom prst="ellipse">
            <a:avLst/>
          </a:prstGeom>
          <a:solidFill>
            <a:srgbClr val="2E8B3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1" name="Text 46"/>
          <p:cNvSpPr txBox="1"/>
          <p:nvPr/>
        </p:nvSpPr>
        <p:spPr>
          <a:xfrm>
            <a:off x="1462926" y="2852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52" name="Text 47"/>
          <p:cNvSpPr txBox="1"/>
          <p:nvPr/>
        </p:nvSpPr>
        <p:spPr>
          <a:xfrm>
            <a:off x="429768" y="31272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 C</a:t>
            </a:r>
            <a:endParaRPr lang="en-US" sz="1300" dirty="0"/>
          </a:p>
        </p:txBody>
      </p:sp>
      <p:sp>
        <p:nvSpPr>
          <p:cNvPr id="53" name="Text 48"/>
          <p:cNvSpPr txBox="1"/>
          <p:nvPr/>
        </p:nvSpPr>
        <p:spPr>
          <a:xfrm>
            <a:off x="1737131" y="3127248"/>
            <a:ext cx="1216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regras · 7 etapas</a:t>
            </a:r>
            <a:endParaRPr lang="en-US" sz="950" dirty="0"/>
          </a:p>
        </p:txBody>
      </p:sp>
      <p:sp>
        <p:nvSpPr>
          <p:cNvPr id="54" name="Text 49"/>
          <p:cNvSpPr txBox="1"/>
          <p:nvPr/>
        </p:nvSpPr>
        <p:spPr>
          <a:xfrm>
            <a:off x="411480" y="3584448"/>
            <a:ext cx="237744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850" dirty="0"/>
          </a:p>
        </p:txBody>
      </p:sp>
      <p:pic>
        <p:nvPicPr>
          <p:cNvPr id="5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3629711"/>
            <a:ext cx="173736" cy="173736"/>
          </a:xfrm>
          <a:prstGeom prst="rect">
            <a:avLst/>
          </a:prstGeom>
        </p:spPr>
      </p:pic>
      <p:sp>
        <p:nvSpPr>
          <p:cNvPr id="56" name="Text 50"/>
          <p:cNvSpPr txBox="1"/>
          <p:nvPr/>
        </p:nvSpPr>
        <p:spPr>
          <a:xfrm>
            <a:off x="886968" y="3584448"/>
            <a:ext cx="1417091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CARREIRA E RECOMPENSA</a:t>
            </a:r>
            <a:endParaRPr lang="en-US" sz="850" dirty="0"/>
          </a:p>
        </p:txBody>
      </p:sp>
      <p:sp>
        <p:nvSpPr>
          <p:cNvPr id="57" name="Text 51"/>
          <p:cNvSpPr txBox="1"/>
          <p:nvPr/>
        </p:nvSpPr>
        <p:spPr>
          <a:xfrm>
            <a:off x="2294915" y="3584448"/>
            <a:ext cx="676656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58" name="Text 52"/>
          <p:cNvSpPr txBox="1"/>
          <p:nvPr/>
        </p:nvSpPr>
        <p:spPr>
          <a:xfrm>
            <a:off x="411480" y="3848710"/>
            <a:ext cx="237744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850" dirty="0"/>
          </a:p>
        </p:txBody>
      </p:sp>
      <p:pic>
        <p:nvPicPr>
          <p:cNvPr id="5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3893972"/>
            <a:ext cx="173736" cy="173736"/>
          </a:xfrm>
          <a:prstGeom prst="rect">
            <a:avLst/>
          </a:prstGeom>
        </p:spPr>
      </p:pic>
      <p:sp>
        <p:nvSpPr>
          <p:cNvPr id="60" name="Text 53"/>
          <p:cNvSpPr txBox="1"/>
          <p:nvPr/>
        </p:nvSpPr>
        <p:spPr>
          <a:xfrm>
            <a:off x="886968" y="3848710"/>
            <a:ext cx="1417091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TREINAMENTO</a:t>
            </a:r>
            <a:endParaRPr lang="en-US" sz="850" dirty="0"/>
          </a:p>
        </p:txBody>
      </p:sp>
      <p:sp>
        <p:nvSpPr>
          <p:cNvPr id="61" name="Text 54"/>
          <p:cNvSpPr txBox="1"/>
          <p:nvPr/>
        </p:nvSpPr>
        <p:spPr>
          <a:xfrm>
            <a:off x="2294915" y="3848710"/>
            <a:ext cx="676656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62" name="Text 55"/>
          <p:cNvSpPr txBox="1"/>
          <p:nvPr/>
        </p:nvSpPr>
        <p:spPr>
          <a:xfrm>
            <a:off x="411480" y="4112971"/>
            <a:ext cx="237744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850" dirty="0"/>
          </a:p>
        </p:txBody>
      </p:sp>
      <p:pic>
        <p:nvPicPr>
          <p:cNvPr id="6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" y="4158234"/>
            <a:ext cx="173736" cy="173736"/>
          </a:xfrm>
          <a:prstGeom prst="rect">
            <a:avLst/>
          </a:prstGeom>
        </p:spPr>
      </p:pic>
      <p:sp>
        <p:nvSpPr>
          <p:cNvPr id="64" name="Text 56"/>
          <p:cNvSpPr txBox="1"/>
          <p:nvPr/>
        </p:nvSpPr>
        <p:spPr>
          <a:xfrm>
            <a:off x="886968" y="4112971"/>
            <a:ext cx="1417091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MEDICINA</a:t>
            </a:r>
            <a:endParaRPr lang="en-US" sz="850" dirty="0"/>
          </a:p>
        </p:txBody>
      </p:sp>
      <p:sp>
        <p:nvSpPr>
          <p:cNvPr id="65" name="Text 57"/>
          <p:cNvSpPr txBox="1"/>
          <p:nvPr/>
        </p:nvSpPr>
        <p:spPr>
          <a:xfrm>
            <a:off x="2294915" y="4112971"/>
            <a:ext cx="676656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66" name="Text 58"/>
          <p:cNvSpPr txBox="1"/>
          <p:nvPr/>
        </p:nvSpPr>
        <p:spPr>
          <a:xfrm>
            <a:off x="411480" y="4377233"/>
            <a:ext cx="237744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850" dirty="0"/>
          </a:p>
        </p:txBody>
      </p:sp>
      <p:pic>
        <p:nvPicPr>
          <p:cNvPr id="6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368" y="4422496"/>
            <a:ext cx="173736" cy="173736"/>
          </a:xfrm>
          <a:prstGeom prst="rect">
            <a:avLst/>
          </a:prstGeom>
        </p:spPr>
      </p:pic>
      <p:sp>
        <p:nvSpPr>
          <p:cNvPr id="68" name="Text 59"/>
          <p:cNvSpPr txBox="1"/>
          <p:nvPr/>
        </p:nvSpPr>
        <p:spPr>
          <a:xfrm>
            <a:off x="886968" y="4377233"/>
            <a:ext cx="1417091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DO TRABALHO</a:t>
            </a:r>
            <a:endParaRPr lang="en-US" sz="850" dirty="0"/>
          </a:p>
        </p:txBody>
      </p:sp>
      <p:sp>
        <p:nvSpPr>
          <p:cNvPr id="69" name="Text 60"/>
          <p:cNvSpPr txBox="1"/>
          <p:nvPr/>
        </p:nvSpPr>
        <p:spPr>
          <a:xfrm>
            <a:off x="2294915" y="4377233"/>
            <a:ext cx="676656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70" name="Text 61"/>
          <p:cNvSpPr txBox="1"/>
          <p:nvPr/>
        </p:nvSpPr>
        <p:spPr>
          <a:xfrm>
            <a:off x="411480" y="4641494"/>
            <a:ext cx="237744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850" dirty="0"/>
          </a:p>
        </p:txBody>
      </p:sp>
      <p:pic>
        <p:nvPicPr>
          <p:cNvPr id="7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368" y="4686757"/>
            <a:ext cx="173736" cy="173736"/>
          </a:xfrm>
          <a:prstGeom prst="rect">
            <a:avLst/>
          </a:prstGeom>
        </p:spPr>
      </p:pic>
      <p:sp>
        <p:nvSpPr>
          <p:cNvPr id="72" name="Text 62"/>
          <p:cNvSpPr txBox="1"/>
          <p:nvPr/>
        </p:nvSpPr>
        <p:spPr>
          <a:xfrm>
            <a:off x="886968" y="4641494"/>
            <a:ext cx="1417091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 SOLICITANTE</a:t>
            </a:r>
            <a:endParaRPr lang="en-US" sz="850" dirty="0"/>
          </a:p>
        </p:txBody>
      </p:sp>
      <p:sp>
        <p:nvSpPr>
          <p:cNvPr id="73" name="Text 63"/>
          <p:cNvSpPr txBox="1"/>
          <p:nvPr/>
        </p:nvSpPr>
        <p:spPr>
          <a:xfrm>
            <a:off x="2294915" y="4641494"/>
            <a:ext cx="676656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8A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CONTRIBUINTE</a:t>
            </a:r>
            <a:endParaRPr lang="en-US" sz="700" dirty="0"/>
          </a:p>
        </p:txBody>
      </p:sp>
      <p:sp>
        <p:nvSpPr>
          <p:cNvPr id="74" name="Text 64"/>
          <p:cNvSpPr txBox="1"/>
          <p:nvPr/>
        </p:nvSpPr>
        <p:spPr>
          <a:xfrm>
            <a:off x="411480" y="4905756"/>
            <a:ext cx="237744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</a:t>
            </a:r>
            <a:endParaRPr lang="en-US" sz="850" dirty="0"/>
          </a:p>
        </p:txBody>
      </p:sp>
      <p:pic>
        <p:nvPicPr>
          <p:cNvPr id="7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8368" y="4951019"/>
            <a:ext cx="173736" cy="173736"/>
          </a:xfrm>
          <a:prstGeom prst="rect">
            <a:avLst/>
          </a:prstGeom>
        </p:spPr>
      </p:pic>
      <p:sp>
        <p:nvSpPr>
          <p:cNvPr id="76" name="Text 65"/>
          <p:cNvSpPr txBox="1"/>
          <p:nvPr/>
        </p:nvSpPr>
        <p:spPr>
          <a:xfrm>
            <a:off x="886968" y="4905756"/>
            <a:ext cx="1417091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COLABORADOR</a:t>
            </a:r>
            <a:endParaRPr lang="en-US" sz="850" dirty="0"/>
          </a:p>
        </p:txBody>
      </p:sp>
      <p:sp>
        <p:nvSpPr>
          <p:cNvPr id="77" name="Text 66"/>
          <p:cNvSpPr txBox="1"/>
          <p:nvPr/>
        </p:nvSpPr>
        <p:spPr>
          <a:xfrm>
            <a:off x="2294915" y="4905756"/>
            <a:ext cx="676656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78" name="Text 67"/>
          <p:cNvSpPr txBox="1"/>
          <p:nvPr/>
        </p:nvSpPr>
        <p:spPr>
          <a:xfrm>
            <a:off x="411480" y="5170018"/>
            <a:ext cx="237744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</a:t>
            </a:r>
            <a:endParaRPr lang="en-US" sz="850" dirty="0"/>
          </a:p>
        </p:txBody>
      </p:sp>
      <p:pic>
        <p:nvPicPr>
          <p:cNvPr id="7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8368" y="5215280"/>
            <a:ext cx="173736" cy="173736"/>
          </a:xfrm>
          <a:prstGeom prst="rect">
            <a:avLst/>
          </a:prstGeom>
        </p:spPr>
      </p:pic>
      <p:sp>
        <p:nvSpPr>
          <p:cNvPr id="80" name="Text 68"/>
          <p:cNvSpPr txBox="1"/>
          <p:nvPr/>
        </p:nvSpPr>
        <p:spPr>
          <a:xfrm>
            <a:off x="886968" y="5170018"/>
            <a:ext cx="1417091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CARREIRA E RECOMPENSA</a:t>
            </a:r>
            <a:endParaRPr lang="en-US" sz="850" dirty="0"/>
          </a:p>
        </p:txBody>
      </p:sp>
      <p:sp>
        <p:nvSpPr>
          <p:cNvPr id="81" name="Text 69"/>
          <p:cNvSpPr txBox="1"/>
          <p:nvPr/>
        </p:nvSpPr>
        <p:spPr>
          <a:xfrm>
            <a:off x="2294915" y="5170018"/>
            <a:ext cx="676656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82" name="Shape 70"/>
          <p:cNvSpPr/>
          <p:nvPr/>
        </p:nvSpPr>
        <p:spPr>
          <a:xfrm>
            <a:off x="3270580" y="3127248"/>
            <a:ext cx="2742971" cy="3145536"/>
          </a:xfrm>
          <a:prstGeom prst="roundRect">
            <a:avLst>
              <a:gd name="adj" fmla="val 2000"/>
            </a:avLst>
          </a:prstGeom>
          <a:solidFill>
            <a:srgbClr val="F5F7EF"/>
          </a:solidFill>
          <a:ln w="12700">
            <a:solidFill>
              <a:srgbClr val="BECA98"/>
            </a:solidFill>
            <a:prstDash val="solid"/>
          </a:ln>
        </p:spPr>
      </p:sp>
      <p:sp>
        <p:nvSpPr>
          <p:cNvPr id="83" name="Shape 71"/>
          <p:cNvSpPr/>
          <p:nvPr/>
        </p:nvSpPr>
        <p:spPr>
          <a:xfrm>
            <a:off x="3270580" y="3127248"/>
            <a:ext cx="2742971" cy="365760"/>
          </a:xfrm>
          <a:prstGeom prst="roundRect">
            <a:avLst>
              <a:gd name="adj" fmla="val 15000"/>
            </a:avLst>
          </a:prstGeom>
          <a:solidFill>
            <a:srgbClr val="6E8A1A"/>
          </a:solidFill>
          <a:ln w="12700">
            <a:solidFill>
              <a:srgbClr val="6E8A1A"/>
            </a:solidFill>
            <a:prstDash val="solid"/>
          </a:ln>
        </p:spPr>
      </p:sp>
      <p:sp>
        <p:nvSpPr>
          <p:cNvPr id="84" name="Shape 72"/>
          <p:cNvSpPr/>
          <p:nvPr/>
        </p:nvSpPr>
        <p:spPr>
          <a:xfrm>
            <a:off x="3270580" y="3355848"/>
            <a:ext cx="2742971" cy="137160"/>
          </a:xfrm>
          <a:prstGeom prst="rect">
            <a:avLst/>
          </a:prstGeom>
          <a:solidFill>
            <a:srgbClr val="6E8A1A"/>
          </a:solidFill>
          <a:ln w="12700">
            <a:solidFill>
              <a:srgbClr val="6E8A1A"/>
            </a:solidFill>
            <a:prstDash val="solid"/>
          </a:ln>
        </p:spPr>
      </p:sp>
      <p:sp>
        <p:nvSpPr>
          <p:cNvPr id="85" name="Shape 73"/>
          <p:cNvSpPr/>
          <p:nvPr/>
        </p:nvSpPr>
        <p:spPr>
          <a:xfrm>
            <a:off x="4413466" y="2852928"/>
            <a:ext cx="457200" cy="457200"/>
          </a:xfrm>
          <a:prstGeom prst="ellipse">
            <a:avLst/>
          </a:prstGeom>
          <a:solidFill>
            <a:srgbClr val="6E8A1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6" name="Text 74"/>
          <p:cNvSpPr txBox="1"/>
          <p:nvPr/>
        </p:nvSpPr>
        <p:spPr>
          <a:xfrm>
            <a:off x="4413466" y="2852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800" dirty="0"/>
          </a:p>
        </p:txBody>
      </p:sp>
      <p:sp>
        <p:nvSpPr>
          <p:cNvPr id="87" name="Text 75"/>
          <p:cNvSpPr txBox="1"/>
          <p:nvPr/>
        </p:nvSpPr>
        <p:spPr>
          <a:xfrm>
            <a:off x="3380308" y="31272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 G</a:t>
            </a:r>
            <a:endParaRPr lang="en-US" sz="1300" dirty="0"/>
          </a:p>
        </p:txBody>
      </p:sp>
      <p:sp>
        <p:nvSpPr>
          <p:cNvPr id="88" name="Text 76"/>
          <p:cNvSpPr txBox="1"/>
          <p:nvPr/>
        </p:nvSpPr>
        <p:spPr>
          <a:xfrm>
            <a:off x="4687672" y="3127248"/>
            <a:ext cx="1216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regras · 8 etapas</a:t>
            </a:r>
            <a:endParaRPr lang="en-US" sz="950" dirty="0"/>
          </a:p>
        </p:txBody>
      </p:sp>
      <p:sp>
        <p:nvSpPr>
          <p:cNvPr id="89" name="Shape 77"/>
          <p:cNvSpPr/>
          <p:nvPr/>
        </p:nvSpPr>
        <p:spPr>
          <a:xfrm>
            <a:off x="3325444" y="3593592"/>
            <a:ext cx="2633243" cy="245974"/>
          </a:xfrm>
          <a:prstGeom prst="roundRect">
            <a:avLst>
              <a:gd name="adj" fmla="val 11152"/>
            </a:avLst>
          </a:prstGeom>
          <a:solidFill>
            <a:srgbClr val="FFF1CC"/>
          </a:solidFill>
          <a:ln w="6350">
            <a:solidFill>
              <a:srgbClr val="F2D27A"/>
            </a:solidFill>
            <a:prstDash val="solid"/>
          </a:ln>
        </p:spPr>
      </p:sp>
      <p:sp>
        <p:nvSpPr>
          <p:cNvPr id="90" name="Text 78"/>
          <p:cNvSpPr txBox="1"/>
          <p:nvPr/>
        </p:nvSpPr>
        <p:spPr>
          <a:xfrm>
            <a:off x="3362020" y="3584448"/>
            <a:ext cx="237744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850" dirty="0"/>
          </a:p>
        </p:txBody>
      </p:sp>
      <p:pic>
        <p:nvPicPr>
          <p:cNvPr id="9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608908" y="3629711"/>
            <a:ext cx="173736" cy="173736"/>
          </a:xfrm>
          <a:prstGeom prst="rect">
            <a:avLst/>
          </a:prstGeom>
        </p:spPr>
      </p:pic>
      <p:sp>
        <p:nvSpPr>
          <p:cNvPr id="92" name="Text 79"/>
          <p:cNvSpPr txBox="1"/>
          <p:nvPr/>
        </p:nvSpPr>
        <p:spPr>
          <a:xfrm>
            <a:off x="3837508" y="3584448"/>
            <a:ext cx="1417091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 ATUAL</a:t>
            </a:r>
            <a:endParaRPr lang="en-US" sz="850" dirty="0"/>
          </a:p>
        </p:txBody>
      </p:sp>
      <p:sp>
        <p:nvSpPr>
          <p:cNvPr id="93" name="Text 80"/>
          <p:cNvSpPr txBox="1"/>
          <p:nvPr/>
        </p:nvSpPr>
        <p:spPr>
          <a:xfrm>
            <a:off x="5245456" y="3584448"/>
            <a:ext cx="676656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94" name="Text 81"/>
          <p:cNvSpPr txBox="1"/>
          <p:nvPr/>
        </p:nvSpPr>
        <p:spPr>
          <a:xfrm>
            <a:off x="3362020" y="3848710"/>
            <a:ext cx="237744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850" dirty="0"/>
          </a:p>
        </p:txBody>
      </p:sp>
      <p:pic>
        <p:nvPicPr>
          <p:cNvPr id="95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608908" y="3893972"/>
            <a:ext cx="173736" cy="173736"/>
          </a:xfrm>
          <a:prstGeom prst="rect">
            <a:avLst/>
          </a:prstGeom>
        </p:spPr>
      </p:pic>
      <p:sp>
        <p:nvSpPr>
          <p:cNvPr id="96" name="Text 82"/>
          <p:cNvSpPr txBox="1"/>
          <p:nvPr/>
        </p:nvSpPr>
        <p:spPr>
          <a:xfrm>
            <a:off x="3837508" y="3848710"/>
            <a:ext cx="1417091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CARREIRA E RECOMPENSA</a:t>
            </a:r>
            <a:endParaRPr lang="en-US" sz="850" dirty="0"/>
          </a:p>
        </p:txBody>
      </p:sp>
      <p:sp>
        <p:nvSpPr>
          <p:cNvPr id="97" name="Text 83"/>
          <p:cNvSpPr txBox="1"/>
          <p:nvPr/>
        </p:nvSpPr>
        <p:spPr>
          <a:xfrm>
            <a:off x="5245456" y="3848710"/>
            <a:ext cx="676656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98" name="Text 84"/>
          <p:cNvSpPr txBox="1"/>
          <p:nvPr/>
        </p:nvSpPr>
        <p:spPr>
          <a:xfrm>
            <a:off x="3362020" y="4112971"/>
            <a:ext cx="237744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850" dirty="0"/>
          </a:p>
        </p:txBody>
      </p:sp>
      <p:pic>
        <p:nvPicPr>
          <p:cNvPr id="99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608908" y="4158234"/>
            <a:ext cx="173736" cy="173736"/>
          </a:xfrm>
          <a:prstGeom prst="rect">
            <a:avLst/>
          </a:prstGeom>
        </p:spPr>
      </p:pic>
      <p:sp>
        <p:nvSpPr>
          <p:cNvPr id="100" name="Text 85"/>
          <p:cNvSpPr txBox="1"/>
          <p:nvPr/>
        </p:nvSpPr>
        <p:spPr>
          <a:xfrm>
            <a:off x="3837508" y="4112971"/>
            <a:ext cx="1417091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TREINAMENTO</a:t>
            </a:r>
            <a:endParaRPr lang="en-US" sz="850" dirty="0"/>
          </a:p>
        </p:txBody>
      </p:sp>
      <p:sp>
        <p:nvSpPr>
          <p:cNvPr id="101" name="Text 86"/>
          <p:cNvSpPr txBox="1"/>
          <p:nvPr/>
        </p:nvSpPr>
        <p:spPr>
          <a:xfrm>
            <a:off x="5245456" y="4112971"/>
            <a:ext cx="676656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02" name="Text 87"/>
          <p:cNvSpPr txBox="1"/>
          <p:nvPr/>
        </p:nvSpPr>
        <p:spPr>
          <a:xfrm>
            <a:off x="3362020" y="4377233"/>
            <a:ext cx="237744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850" dirty="0"/>
          </a:p>
        </p:txBody>
      </p:sp>
      <p:pic>
        <p:nvPicPr>
          <p:cNvPr id="103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608908" y="4422496"/>
            <a:ext cx="173736" cy="173736"/>
          </a:xfrm>
          <a:prstGeom prst="rect">
            <a:avLst/>
          </a:prstGeom>
        </p:spPr>
      </p:pic>
      <p:sp>
        <p:nvSpPr>
          <p:cNvPr id="104" name="Text 88"/>
          <p:cNvSpPr txBox="1"/>
          <p:nvPr/>
        </p:nvSpPr>
        <p:spPr>
          <a:xfrm>
            <a:off x="3837508" y="4377233"/>
            <a:ext cx="1417091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MEDICINA</a:t>
            </a:r>
            <a:endParaRPr lang="en-US" sz="850" dirty="0"/>
          </a:p>
        </p:txBody>
      </p:sp>
      <p:sp>
        <p:nvSpPr>
          <p:cNvPr id="105" name="Text 89"/>
          <p:cNvSpPr txBox="1"/>
          <p:nvPr/>
        </p:nvSpPr>
        <p:spPr>
          <a:xfrm>
            <a:off x="5245456" y="4377233"/>
            <a:ext cx="676656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06" name="Text 90"/>
          <p:cNvSpPr txBox="1"/>
          <p:nvPr/>
        </p:nvSpPr>
        <p:spPr>
          <a:xfrm>
            <a:off x="3362020" y="4641494"/>
            <a:ext cx="237744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850" dirty="0"/>
          </a:p>
        </p:txBody>
      </p:sp>
      <p:pic>
        <p:nvPicPr>
          <p:cNvPr id="107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608908" y="4686757"/>
            <a:ext cx="173736" cy="173736"/>
          </a:xfrm>
          <a:prstGeom prst="rect">
            <a:avLst/>
          </a:prstGeom>
        </p:spPr>
      </p:pic>
      <p:sp>
        <p:nvSpPr>
          <p:cNvPr id="108" name="Text 91"/>
          <p:cNvSpPr txBox="1"/>
          <p:nvPr/>
        </p:nvSpPr>
        <p:spPr>
          <a:xfrm>
            <a:off x="3837508" y="4641494"/>
            <a:ext cx="1417091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DO TRABALHO</a:t>
            </a:r>
            <a:endParaRPr lang="en-US" sz="850" dirty="0"/>
          </a:p>
        </p:txBody>
      </p:sp>
      <p:sp>
        <p:nvSpPr>
          <p:cNvPr id="109" name="Text 92"/>
          <p:cNvSpPr txBox="1"/>
          <p:nvPr/>
        </p:nvSpPr>
        <p:spPr>
          <a:xfrm>
            <a:off x="5245456" y="4641494"/>
            <a:ext cx="676656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10" name="Text 93"/>
          <p:cNvSpPr txBox="1"/>
          <p:nvPr/>
        </p:nvSpPr>
        <p:spPr>
          <a:xfrm>
            <a:off x="3362020" y="4905756"/>
            <a:ext cx="237744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</a:t>
            </a:r>
            <a:endParaRPr lang="en-US" sz="850" dirty="0"/>
          </a:p>
        </p:txBody>
      </p:sp>
      <p:pic>
        <p:nvPicPr>
          <p:cNvPr id="111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608908" y="4951019"/>
            <a:ext cx="173736" cy="173736"/>
          </a:xfrm>
          <a:prstGeom prst="rect">
            <a:avLst/>
          </a:prstGeom>
        </p:spPr>
      </p:pic>
      <p:sp>
        <p:nvSpPr>
          <p:cNvPr id="112" name="Text 94"/>
          <p:cNvSpPr txBox="1"/>
          <p:nvPr/>
        </p:nvSpPr>
        <p:spPr>
          <a:xfrm>
            <a:off x="3837508" y="4905756"/>
            <a:ext cx="1417091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 SOLICITANTE</a:t>
            </a:r>
            <a:endParaRPr lang="en-US" sz="850" dirty="0"/>
          </a:p>
        </p:txBody>
      </p:sp>
      <p:sp>
        <p:nvSpPr>
          <p:cNvPr id="113" name="Text 95"/>
          <p:cNvSpPr txBox="1"/>
          <p:nvPr/>
        </p:nvSpPr>
        <p:spPr>
          <a:xfrm>
            <a:off x="5245456" y="4905756"/>
            <a:ext cx="676656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8A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CONTRIBUINTE</a:t>
            </a:r>
            <a:endParaRPr lang="en-US" sz="700" dirty="0"/>
          </a:p>
        </p:txBody>
      </p:sp>
      <p:sp>
        <p:nvSpPr>
          <p:cNvPr id="114" name="Text 96"/>
          <p:cNvSpPr txBox="1"/>
          <p:nvPr/>
        </p:nvSpPr>
        <p:spPr>
          <a:xfrm>
            <a:off x="3362020" y="5170018"/>
            <a:ext cx="237744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</a:t>
            </a:r>
            <a:endParaRPr lang="en-US" sz="850" dirty="0"/>
          </a:p>
        </p:txBody>
      </p:sp>
      <p:pic>
        <p:nvPicPr>
          <p:cNvPr id="115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608908" y="5215280"/>
            <a:ext cx="173736" cy="173736"/>
          </a:xfrm>
          <a:prstGeom prst="rect">
            <a:avLst/>
          </a:prstGeom>
        </p:spPr>
      </p:pic>
      <p:sp>
        <p:nvSpPr>
          <p:cNvPr id="116" name="Text 97"/>
          <p:cNvSpPr txBox="1"/>
          <p:nvPr/>
        </p:nvSpPr>
        <p:spPr>
          <a:xfrm>
            <a:off x="3837508" y="5170018"/>
            <a:ext cx="1417091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COLABORADOR</a:t>
            </a:r>
            <a:endParaRPr lang="en-US" sz="850" dirty="0"/>
          </a:p>
        </p:txBody>
      </p:sp>
      <p:sp>
        <p:nvSpPr>
          <p:cNvPr id="117" name="Text 98"/>
          <p:cNvSpPr txBox="1"/>
          <p:nvPr/>
        </p:nvSpPr>
        <p:spPr>
          <a:xfrm>
            <a:off x="5245456" y="5170018"/>
            <a:ext cx="676656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18" name="Text 99"/>
          <p:cNvSpPr txBox="1"/>
          <p:nvPr/>
        </p:nvSpPr>
        <p:spPr>
          <a:xfrm>
            <a:off x="3362020" y="5434279"/>
            <a:ext cx="237744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</a:t>
            </a:r>
            <a:endParaRPr lang="en-US" sz="850" dirty="0"/>
          </a:p>
        </p:txBody>
      </p:sp>
      <p:pic>
        <p:nvPicPr>
          <p:cNvPr id="11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608908" y="5479542"/>
            <a:ext cx="173736" cy="173736"/>
          </a:xfrm>
          <a:prstGeom prst="rect">
            <a:avLst/>
          </a:prstGeom>
        </p:spPr>
      </p:pic>
      <p:sp>
        <p:nvSpPr>
          <p:cNvPr id="120" name="Text 100"/>
          <p:cNvSpPr txBox="1"/>
          <p:nvPr/>
        </p:nvSpPr>
        <p:spPr>
          <a:xfrm>
            <a:off x="3837508" y="5434279"/>
            <a:ext cx="1417091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CARREIRA E RECOMPENSA</a:t>
            </a:r>
            <a:endParaRPr lang="en-US" sz="850" dirty="0"/>
          </a:p>
        </p:txBody>
      </p:sp>
      <p:sp>
        <p:nvSpPr>
          <p:cNvPr id="121" name="Text 101"/>
          <p:cNvSpPr txBox="1"/>
          <p:nvPr/>
        </p:nvSpPr>
        <p:spPr>
          <a:xfrm>
            <a:off x="5245456" y="5434279"/>
            <a:ext cx="676656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22" name="Shape 102"/>
          <p:cNvSpPr/>
          <p:nvPr/>
        </p:nvSpPr>
        <p:spPr>
          <a:xfrm>
            <a:off x="6221120" y="3127248"/>
            <a:ext cx="2742971" cy="3145536"/>
          </a:xfrm>
          <a:prstGeom prst="roundRect">
            <a:avLst>
              <a:gd name="adj" fmla="val 2000"/>
            </a:avLst>
          </a:prstGeom>
          <a:solidFill>
            <a:srgbClr val="F5F2F8"/>
          </a:solidFill>
          <a:ln w="12700">
            <a:solidFill>
              <a:srgbClr val="BCA9D4"/>
            </a:solidFill>
            <a:prstDash val="solid"/>
          </a:ln>
        </p:spPr>
      </p:sp>
      <p:sp>
        <p:nvSpPr>
          <p:cNvPr id="123" name="Shape 103"/>
          <p:cNvSpPr/>
          <p:nvPr/>
        </p:nvSpPr>
        <p:spPr>
          <a:xfrm>
            <a:off x="6221120" y="3127248"/>
            <a:ext cx="2742971" cy="365760"/>
          </a:xfrm>
          <a:prstGeom prst="roundRect">
            <a:avLst>
              <a:gd name="adj" fmla="val 15000"/>
            </a:avLst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24" name="Shape 104"/>
          <p:cNvSpPr/>
          <p:nvPr/>
        </p:nvSpPr>
        <p:spPr>
          <a:xfrm>
            <a:off x="6221120" y="3355848"/>
            <a:ext cx="2742971" cy="13716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25" name="Shape 105"/>
          <p:cNvSpPr/>
          <p:nvPr/>
        </p:nvSpPr>
        <p:spPr>
          <a:xfrm>
            <a:off x="7364006" y="2852928"/>
            <a:ext cx="457200" cy="457200"/>
          </a:xfrm>
          <a:prstGeom prst="ellipse">
            <a:avLst/>
          </a:prstGeom>
          <a:solidFill>
            <a:srgbClr val="6B3FA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6" name="Text 106"/>
          <p:cNvSpPr txBox="1"/>
          <p:nvPr/>
        </p:nvSpPr>
        <p:spPr>
          <a:xfrm>
            <a:off x="7364006" y="2852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127" name="Text 107"/>
          <p:cNvSpPr txBox="1"/>
          <p:nvPr/>
        </p:nvSpPr>
        <p:spPr>
          <a:xfrm>
            <a:off x="6330848" y="31272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 D</a:t>
            </a:r>
            <a:endParaRPr lang="en-US" sz="1300" dirty="0"/>
          </a:p>
        </p:txBody>
      </p:sp>
      <p:sp>
        <p:nvSpPr>
          <p:cNvPr id="128" name="Text 108"/>
          <p:cNvSpPr txBox="1"/>
          <p:nvPr/>
        </p:nvSpPr>
        <p:spPr>
          <a:xfrm>
            <a:off x="7638212" y="3127248"/>
            <a:ext cx="1216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regras · 9 etapas</a:t>
            </a:r>
            <a:endParaRPr lang="en-US" sz="950" dirty="0"/>
          </a:p>
        </p:txBody>
      </p:sp>
      <p:sp>
        <p:nvSpPr>
          <p:cNvPr id="129" name="Text 109"/>
          <p:cNvSpPr txBox="1"/>
          <p:nvPr/>
        </p:nvSpPr>
        <p:spPr>
          <a:xfrm>
            <a:off x="6312560" y="3584448"/>
            <a:ext cx="237744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850" dirty="0"/>
          </a:p>
        </p:txBody>
      </p:sp>
      <p:pic>
        <p:nvPicPr>
          <p:cNvPr id="13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559448" y="3629711"/>
            <a:ext cx="173736" cy="173736"/>
          </a:xfrm>
          <a:prstGeom prst="rect">
            <a:avLst/>
          </a:prstGeom>
        </p:spPr>
      </p:pic>
      <p:sp>
        <p:nvSpPr>
          <p:cNvPr id="131" name="Text 110"/>
          <p:cNvSpPr txBox="1"/>
          <p:nvPr/>
        </p:nvSpPr>
        <p:spPr>
          <a:xfrm>
            <a:off x="6788048" y="3584448"/>
            <a:ext cx="1417091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CARREIRA E RECOMPENSA</a:t>
            </a:r>
            <a:endParaRPr lang="en-US" sz="850" dirty="0"/>
          </a:p>
        </p:txBody>
      </p:sp>
      <p:sp>
        <p:nvSpPr>
          <p:cNvPr id="132" name="Text 111"/>
          <p:cNvSpPr txBox="1"/>
          <p:nvPr/>
        </p:nvSpPr>
        <p:spPr>
          <a:xfrm>
            <a:off x="8195996" y="3584448"/>
            <a:ext cx="676656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33" name="Text 112"/>
          <p:cNvSpPr txBox="1"/>
          <p:nvPr/>
        </p:nvSpPr>
        <p:spPr>
          <a:xfrm>
            <a:off x="6312560" y="3848710"/>
            <a:ext cx="237744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850" dirty="0"/>
          </a:p>
        </p:txBody>
      </p:sp>
      <p:pic>
        <p:nvPicPr>
          <p:cNvPr id="134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559448" y="3893972"/>
            <a:ext cx="173736" cy="173736"/>
          </a:xfrm>
          <a:prstGeom prst="rect">
            <a:avLst/>
          </a:prstGeom>
        </p:spPr>
      </p:pic>
      <p:sp>
        <p:nvSpPr>
          <p:cNvPr id="135" name="Text 113"/>
          <p:cNvSpPr txBox="1"/>
          <p:nvPr/>
        </p:nvSpPr>
        <p:spPr>
          <a:xfrm>
            <a:off x="6788048" y="3848710"/>
            <a:ext cx="1417091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TREINAMENTO</a:t>
            </a:r>
            <a:endParaRPr lang="en-US" sz="850" dirty="0"/>
          </a:p>
        </p:txBody>
      </p:sp>
      <p:sp>
        <p:nvSpPr>
          <p:cNvPr id="136" name="Text 114"/>
          <p:cNvSpPr txBox="1"/>
          <p:nvPr/>
        </p:nvSpPr>
        <p:spPr>
          <a:xfrm>
            <a:off x="8195996" y="3848710"/>
            <a:ext cx="676656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37" name="Text 115"/>
          <p:cNvSpPr txBox="1"/>
          <p:nvPr/>
        </p:nvSpPr>
        <p:spPr>
          <a:xfrm>
            <a:off x="6312560" y="4112971"/>
            <a:ext cx="237744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850" dirty="0"/>
          </a:p>
        </p:txBody>
      </p:sp>
      <p:pic>
        <p:nvPicPr>
          <p:cNvPr id="138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559448" y="4158234"/>
            <a:ext cx="173736" cy="173736"/>
          </a:xfrm>
          <a:prstGeom prst="rect">
            <a:avLst/>
          </a:prstGeom>
        </p:spPr>
      </p:pic>
      <p:sp>
        <p:nvSpPr>
          <p:cNvPr id="139" name="Text 116"/>
          <p:cNvSpPr txBox="1"/>
          <p:nvPr/>
        </p:nvSpPr>
        <p:spPr>
          <a:xfrm>
            <a:off x="6788048" y="4112971"/>
            <a:ext cx="1417091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MEDICINA</a:t>
            </a:r>
            <a:endParaRPr lang="en-US" sz="850" dirty="0"/>
          </a:p>
        </p:txBody>
      </p:sp>
      <p:sp>
        <p:nvSpPr>
          <p:cNvPr id="140" name="Text 117"/>
          <p:cNvSpPr txBox="1"/>
          <p:nvPr/>
        </p:nvSpPr>
        <p:spPr>
          <a:xfrm>
            <a:off x="8195996" y="4112971"/>
            <a:ext cx="676656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41" name="Text 118"/>
          <p:cNvSpPr txBox="1"/>
          <p:nvPr/>
        </p:nvSpPr>
        <p:spPr>
          <a:xfrm>
            <a:off x="6312560" y="4377233"/>
            <a:ext cx="237744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850" dirty="0"/>
          </a:p>
        </p:txBody>
      </p:sp>
      <p:pic>
        <p:nvPicPr>
          <p:cNvPr id="142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559448" y="4422496"/>
            <a:ext cx="173736" cy="173736"/>
          </a:xfrm>
          <a:prstGeom prst="rect">
            <a:avLst/>
          </a:prstGeom>
        </p:spPr>
      </p:pic>
      <p:sp>
        <p:nvSpPr>
          <p:cNvPr id="143" name="Text 119"/>
          <p:cNvSpPr txBox="1"/>
          <p:nvPr/>
        </p:nvSpPr>
        <p:spPr>
          <a:xfrm>
            <a:off x="6788048" y="4377233"/>
            <a:ext cx="1417091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DO TRABALHO</a:t>
            </a:r>
            <a:endParaRPr lang="en-US" sz="850" dirty="0"/>
          </a:p>
        </p:txBody>
      </p:sp>
      <p:sp>
        <p:nvSpPr>
          <p:cNvPr id="144" name="Text 120"/>
          <p:cNvSpPr txBox="1"/>
          <p:nvPr/>
        </p:nvSpPr>
        <p:spPr>
          <a:xfrm>
            <a:off x="8195996" y="4377233"/>
            <a:ext cx="676656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45" name="Text 121"/>
          <p:cNvSpPr txBox="1"/>
          <p:nvPr/>
        </p:nvSpPr>
        <p:spPr>
          <a:xfrm>
            <a:off x="6312560" y="4641494"/>
            <a:ext cx="237744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850" dirty="0"/>
          </a:p>
        </p:txBody>
      </p:sp>
      <p:pic>
        <p:nvPicPr>
          <p:cNvPr id="146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559448" y="4686757"/>
            <a:ext cx="173736" cy="173736"/>
          </a:xfrm>
          <a:prstGeom prst="rect">
            <a:avLst/>
          </a:prstGeom>
        </p:spPr>
      </p:pic>
      <p:sp>
        <p:nvSpPr>
          <p:cNvPr id="147" name="Text 122"/>
          <p:cNvSpPr txBox="1"/>
          <p:nvPr/>
        </p:nvSpPr>
        <p:spPr>
          <a:xfrm>
            <a:off x="6788048" y="4641494"/>
            <a:ext cx="1417091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 SOLICITANTE</a:t>
            </a:r>
            <a:endParaRPr lang="en-US" sz="850" dirty="0"/>
          </a:p>
        </p:txBody>
      </p:sp>
      <p:sp>
        <p:nvSpPr>
          <p:cNvPr id="148" name="Text 123"/>
          <p:cNvSpPr txBox="1"/>
          <p:nvPr/>
        </p:nvSpPr>
        <p:spPr>
          <a:xfrm>
            <a:off x="8195996" y="4641494"/>
            <a:ext cx="676656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8A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CONTRIBUINTE</a:t>
            </a:r>
            <a:endParaRPr lang="en-US" sz="700" dirty="0"/>
          </a:p>
        </p:txBody>
      </p:sp>
      <p:sp>
        <p:nvSpPr>
          <p:cNvPr id="149" name="Text 124"/>
          <p:cNvSpPr txBox="1"/>
          <p:nvPr/>
        </p:nvSpPr>
        <p:spPr>
          <a:xfrm>
            <a:off x="6312560" y="4905756"/>
            <a:ext cx="237744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</a:t>
            </a:r>
            <a:endParaRPr lang="en-US" sz="850" dirty="0"/>
          </a:p>
        </p:txBody>
      </p:sp>
      <p:pic>
        <p:nvPicPr>
          <p:cNvPr id="150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559448" y="4951019"/>
            <a:ext cx="173736" cy="173736"/>
          </a:xfrm>
          <a:prstGeom prst="rect">
            <a:avLst/>
          </a:prstGeom>
        </p:spPr>
      </p:pic>
      <p:sp>
        <p:nvSpPr>
          <p:cNvPr id="151" name="Text 125"/>
          <p:cNvSpPr txBox="1"/>
          <p:nvPr/>
        </p:nvSpPr>
        <p:spPr>
          <a:xfrm>
            <a:off x="6788048" y="4905756"/>
            <a:ext cx="1417091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COLABORADOR</a:t>
            </a:r>
            <a:endParaRPr lang="en-US" sz="850" dirty="0"/>
          </a:p>
        </p:txBody>
      </p:sp>
      <p:sp>
        <p:nvSpPr>
          <p:cNvPr id="152" name="Text 126"/>
          <p:cNvSpPr txBox="1"/>
          <p:nvPr/>
        </p:nvSpPr>
        <p:spPr>
          <a:xfrm>
            <a:off x="8195996" y="4905756"/>
            <a:ext cx="676656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53" name="Text 127"/>
          <p:cNvSpPr txBox="1"/>
          <p:nvPr/>
        </p:nvSpPr>
        <p:spPr>
          <a:xfrm>
            <a:off x="6312560" y="5170018"/>
            <a:ext cx="237744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</a:t>
            </a:r>
            <a:endParaRPr lang="en-US" sz="850" dirty="0"/>
          </a:p>
        </p:txBody>
      </p:sp>
      <p:pic>
        <p:nvPicPr>
          <p:cNvPr id="154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559448" y="5215280"/>
            <a:ext cx="173736" cy="173736"/>
          </a:xfrm>
          <a:prstGeom prst="rect">
            <a:avLst/>
          </a:prstGeom>
        </p:spPr>
      </p:pic>
      <p:sp>
        <p:nvSpPr>
          <p:cNvPr id="155" name="Text 128"/>
          <p:cNvSpPr txBox="1"/>
          <p:nvPr/>
        </p:nvSpPr>
        <p:spPr>
          <a:xfrm>
            <a:off x="6788048" y="5170018"/>
            <a:ext cx="1417091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CARREIRA E RECOMPENSA</a:t>
            </a:r>
            <a:endParaRPr lang="en-US" sz="850" dirty="0"/>
          </a:p>
        </p:txBody>
      </p:sp>
      <p:sp>
        <p:nvSpPr>
          <p:cNvPr id="156" name="Text 129"/>
          <p:cNvSpPr txBox="1"/>
          <p:nvPr/>
        </p:nvSpPr>
        <p:spPr>
          <a:xfrm>
            <a:off x="8195996" y="5170018"/>
            <a:ext cx="676656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57" name="Shape 130"/>
          <p:cNvSpPr/>
          <p:nvPr/>
        </p:nvSpPr>
        <p:spPr>
          <a:xfrm>
            <a:off x="6275984" y="5443423"/>
            <a:ext cx="2633243" cy="245974"/>
          </a:xfrm>
          <a:prstGeom prst="roundRect">
            <a:avLst>
              <a:gd name="adj" fmla="val 11152"/>
            </a:avLst>
          </a:prstGeom>
          <a:solidFill>
            <a:srgbClr val="FFF1CC"/>
          </a:solidFill>
          <a:ln w="6350">
            <a:solidFill>
              <a:srgbClr val="F2D27A"/>
            </a:solidFill>
            <a:prstDash val="solid"/>
          </a:ln>
        </p:spPr>
      </p:sp>
      <p:sp>
        <p:nvSpPr>
          <p:cNvPr id="158" name="Text 131"/>
          <p:cNvSpPr txBox="1"/>
          <p:nvPr/>
        </p:nvSpPr>
        <p:spPr>
          <a:xfrm>
            <a:off x="6312560" y="5434279"/>
            <a:ext cx="237744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</a:t>
            </a:r>
            <a:endParaRPr lang="en-US" sz="850" dirty="0"/>
          </a:p>
        </p:txBody>
      </p:sp>
      <p:pic>
        <p:nvPicPr>
          <p:cNvPr id="159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559448" y="5479542"/>
            <a:ext cx="173736" cy="173736"/>
          </a:xfrm>
          <a:prstGeom prst="rect">
            <a:avLst/>
          </a:prstGeom>
        </p:spPr>
      </p:pic>
      <p:sp>
        <p:nvSpPr>
          <p:cNvPr id="160" name="Text 132"/>
          <p:cNvSpPr txBox="1"/>
          <p:nvPr/>
        </p:nvSpPr>
        <p:spPr>
          <a:xfrm>
            <a:off x="6788048" y="5434279"/>
            <a:ext cx="1417091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CONTROLADORIA</a:t>
            </a:r>
            <a:endParaRPr lang="en-US" sz="850" dirty="0"/>
          </a:p>
        </p:txBody>
      </p:sp>
      <p:sp>
        <p:nvSpPr>
          <p:cNvPr id="161" name="Text 133"/>
          <p:cNvSpPr txBox="1"/>
          <p:nvPr/>
        </p:nvSpPr>
        <p:spPr>
          <a:xfrm>
            <a:off x="8195996" y="5434279"/>
            <a:ext cx="676656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CÓPIA</a:t>
            </a:r>
            <a:endParaRPr lang="en-US" sz="700" dirty="0"/>
          </a:p>
        </p:txBody>
      </p:sp>
      <p:sp>
        <p:nvSpPr>
          <p:cNvPr id="162" name="Shape 134"/>
          <p:cNvSpPr/>
          <p:nvPr/>
        </p:nvSpPr>
        <p:spPr>
          <a:xfrm>
            <a:off x="6275984" y="5707685"/>
            <a:ext cx="2633243" cy="245974"/>
          </a:xfrm>
          <a:prstGeom prst="roundRect">
            <a:avLst>
              <a:gd name="adj" fmla="val 11152"/>
            </a:avLst>
          </a:prstGeom>
          <a:solidFill>
            <a:srgbClr val="FFF1CC"/>
          </a:solidFill>
          <a:ln w="6350">
            <a:solidFill>
              <a:srgbClr val="F2D27A"/>
            </a:solidFill>
            <a:prstDash val="solid"/>
          </a:ln>
        </p:spPr>
      </p:sp>
      <p:sp>
        <p:nvSpPr>
          <p:cNvPr id="163" name="Text 135"/>
          <p:cNvSpPr txBox="1"/>
          <p:nvPr/>
        </p:nvSpPr>
        <p:spPr>
          <a:xfrm>
            <a:off x="6312560" y="5698541"/>
            <a:ext cx="237744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</a:t>
            </a:r>
            <a:endParaRPr lang="en-US" sz="850" dirty="0"/>
          </a:p>
        </p:txBody>
      </p:sp>
      <p:pic>
        <p:nvPicPr>
          <p:cNvPr id="164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559448" y="5743804"/>
            <a:ext cx="173736" cy="173736"/>
          </a:xfrm>
          <a:prstGeom prst="rect">
            <a:avLst/>
          </a:prstGeom>
        </p:spPr>
      </p:pic>
      <p:sp>
        <p:nvSpPr>
          <p:cNvPr id="165" name="Text 136"/>
          <p:cNvSpPr txBox="1"/>
          <p:nvPr/>
        </p:nvSpPr>
        <p:spPr>
          <a:xfrm>
            <a:off x="6788048" y="5698541"/>
            <a:ext cx="1417091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FOLHA DE PAGAMENTO</a:t>
            </a:r>
            <a:endParaRPr lang="en-US" sz="850" dirty="0"/>
          </a:p>
        </p:txBody>
      </p:sp>
      <p:sp>
        <p:nvSpPr>
          <p:cNvPr id="166" name="Text 137"/>
          <p:cNvSpPr txBox="1"/>
          <p:nvPr/>
        </p:nvSpPr>
        <p:spPr>
          <a:xfrm>
            <a:off x="8195996" y="5698541"/>
            <a:ext cx="676656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CÓPIA</a:t>
            </a:r>
            <a:endParaRPr lang="en-US" sz="700" dirty="0"/>
          </a:p>
        </p:txBody>
      </p:sp>
      <p:sp>
        <p:nvSpPr>
          <p:cNvPr id="167" name="Shape 138"/>
          <p:cNvSpPr/>
          <p:nvPr/>
        </p:nvSpPr>
        <p:spPr>
          <a:xfrm>
            <a:off x="9171661" y="3127248"/>
            <a:ext cx="2742971" cy="3145536"/>
          </a:xfrm>
          <a:prstGeom prst="roundRect">
            <a:avLst>
              <a:gd name="adj" fmla="val 2000"/>
            </a:avLst>
          </a:prstGeom>
          <a:solidFill>
            <a:srgbClr val="F9F1F6"/>
          </a:solidFill>
          <a:ln w="12700">
            <a:solidFill>
              <a:srgbClr val="D8A3C5"/>
            </a:solidFill>
            <a:prstDash val="solid"/>
          </a:ln>
        </p:spPr>
      </p:sp>
      <p:sp>
        <p:nvSpPr>
          <p:cNvPr id="168" name="Shape 139"/>
          <p:cNvSpPr/>
          <p:nvPr/>
        </p:nvSpPr>
        <p:spPr>
          <a:xfrm>
            <a:off x="9171661" y="3127248"/>
            <a:ext cx="2742971" cy="365760"/>
          </a:xfrm>
          <a:prstGeom prst="roundRect">
            <a:avLst>
              <a:gd name="adj" fmla="val 15000"/>
            </a:avLst>
          </a:prstGeom>
          <a:solidFill>
            <a:srgbClr val="A8327F"/>
          </a:solidFill>
          <a:ln w="12700">
            <a:solidFill>
              <a:srgbClr val="A8327F"/>
            </a:solidFill>
            <a:prstDash val="solid"/>
          </a:ln>
        </p:spPr>
      </p:sp>
      <p:sp>
        <p:nvSpPr>
          <p:cNvPr id="169" name="Shape 140"/>
          <p:cNvSpPr/>
          <p:nvPr/>
        </p:nvSpPr>
        <p:spPr>
          <a:xfrm>
            <a:off x="9171661" y="3355848"/>
            <a:ext cx="2742971" cy="137160"/>
          </a:xfrm>
          <a:prstGeom prst="rect">
            <a:avLst/>
          </a:prstGeom>
          <a:solidFill>
            <a:srgbClr val="A8327F"/>
          </a:solidFill>
          <a:ln w="12700">
            <a:solidFill>
              <a:srgbClr val="A8327F"/>
            </a:solidFill>
            <a:prstDash val="solid"/>
          </a:ln>
        </p:spPr>
      </p:sp>
      <p:sp>
        <p:nvSpPr>
          <p:cNvPr id="170" name="Shape 141"/>
          <p:cNvSpPr/>
          <p:nvPr/>
        </p:nvSpPr>
        <p:spPr>
          <a:xfrm>
            <a:off x="10314546" y="2852928"/>
            <a:ext cx="457200" cy="457200"/>
          </a:xfrm>
          <a:prstGeom prst="ellipse">
            <a:avLst/>
          </a:prstGeom>
          <a:solidFill>
            <a:srgbClr val="A8327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1" name="Text 142"/>
          <p:cNvSpPr txBox="1"/>
          <p:nvPr/>
        </p:nvSpPr>
        <p:spPr>
          <a:xfrm>
            <a:off x="10314546" y="2852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800" dirty="0"/>
          </a:p>
        </p:txBody>
      </p:sp>
      <p:sp>
        <p:nvSpPr>
          <p:cNvPr id="172" name="Text 143"/>
          <p:cNvSpPr txBox="1"/>
          <p:nvPr/>
        </p:nvSpPr>
        <p:spPr>
          <a:xfrm>
            <a:off x="9281389" y="31272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 H</a:t>
            </a:r>
            <a:endParaRPr lang="en-US" sz="1300" dirty="0"/>
          </a:p>
        </p:txBody>
      </p:sp>
      <p:sp>
        <p:nvSpPr>
          <p:cNvPr id="173" name="Text 144"/>
          <p:cNvSpPr txBox="1"/>
          <p:nvPr/>
        </p:nvSpPr>
        <p:spPr>
          <a:xfrm>
            <a:off x="10588752" y="3127248"/>
            <a:ext cx="1216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regras · 10 etapas</a:t>
            </a:r>
            <a:endParaRPr lang="en-US" sz="950" dirty="0"/>
          </a:p>
        </p:txBody>
      </p:sp>
      <p:sp>
        <p:nvSpPr>
          <p:cNvPr id="174" name="Shape 145"/>
          <p:cNvSpPr/>
          <p:nvPr/>
        </p:nvSpPr>
        <p:spPr>
          <a:xfrm>
            <a:off x="9226525" y="3593592"/>
            <a:ext cx="2633243" cy="245974"/>
          </a:xfrm>
          <a:prstGeom prst="roundRect">
            <a:avLst>
              <a:gd name="adj" fmla="val 11152"/>
            </a:avLst>
          </a:prstGeom>
          <a:solidFill>
            <a:srgbClr val="FFF1CC"/>
          </a:solidFill>
          <a:ln w="6350">
            <a:solidFill>
              <a:srgbClr val="F2D27A"/>
            </a:solidFill>
            <a:prstDash val="solid"/>
          </a:ln>
        </p:spPr>
      </p:sp>
      <p:sp>
        <p:nvSpPr>
          <p:cNvPr id="175" name="Text 146"/>
          <p:cNvSpPr txBox="1"/>
          <p:nvPr/>
        </p:nvSpPr>
        <p:spPr>
          <a:xfrm>
            <a:off x="9263101" y="3584448"/>
            <a:ext cx="237744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850" dirty="0"/>
          </a:p>
        </p:txBody>
      </p:sp>
      <p:pic>
        <p:nvPicPr>
          <p:cNvPr id="176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9509989" y="3629711"/>
            <a:ext cx="173736" cy="173736"/>
          </a:xfrm>
          <a:prstGeom prst="rect">
            <a:avLst/>
          </a:prstGeom>
        </p:spPr>
      </p:pic>
      <p:sp>
        <p:nvSpPr>
          <p:cNvPr id="177" name="Text 147"/>
          <p:cNvSpPr txBox="1"/>
          <p:nvPr/>
        </p:nvSpPr>
        <p:spPr>
          <a:xfrm>
            <a:off x="9738589" y="3584448"/>
            <a:ext cx="1417091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 ATUAL</a:t>
            </a:r>
            <a:endParaRPr lang="en-US" sz="850" dirty="0"/>
          </a:p>
        </p:txBody>
      </p:sp>
      <p:sp>
        <p:nvSpPr>
          <p:cNvPr id="178" name="Text 148"/>
          <p:cNvSpPr txBox="1"/>
          <p:nvPr/>
        </p:nvSpPr>
        <p:spPr>
          <a:xfrm>
            <a:off x="11146536" y="3584448"/>
            <a:ext cx="676656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79" name="Text 149"/>
          <p:cNvSpPr txBox="1"/>
          <p:nvPr/>
        </p:nvSpPr>
        <p:spPr>
          <a:xfrm>
            <a:off x="9263101" y="3848710"/>
            <a:ext cx="237744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850" dirty="0"/>
          </a:p>
        </p:txBody>
      </p:sp>
      <p:pic>
        <p:nvPicPr>
          <p:cNvPr id="180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9509989" y="3893972"/>
            <a:ext cx="173736" cy="173736"/>
          </a:xfrm>
          <a:prstGeom prst="rect">
            <a:avLst/>
          </a:prstGeom>
        </p:spPr>
      </p:pic>
      <p:sp>
        <p:nvSpPr>
          <p:cNvPr id="181" name="Text 150"/>
          <p:cNvSpPr txBox="1"/>
          <p:nvPr/>
        </p:nvSpPr>
        <p:spPr>
          <a:xfrm>
            <a:off x="9738589" y="3848710"/>
            <a:ext cx="1417091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CARREIRA E RECOMPENSA</a:t>
            </a:r>
            <a:endParaRPr lang="en-US" sz="850" dirty="0"/>
          </a:p>
        </p:txBody>
      </p:sp>
      <p:sp>
        <p:nvSpPr>
          <p:cNvPr id="182" name="Text 151"/>
          <p:cNvSpPr txBox="1"/>
          <p:nvPr/>
        </p:nvSpPr>
        <p:spPr>
          <a:xfrm>
            <a:off x="11146536" y="3848710"/>
            <a:ext cx="676656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83" name="Text 152"/>
          <p:cNvSpPr txBox="1"/>
          <p:nvPr/>
        </p:nvSpPr>
        <p:spPr>
          <a:xfrm>
            <a:off x="9263101" y="4112971"/>
            <a:ext cx="237744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850" dirty="0"/>
          </a:p>
        </p:txBody>
      </p:sp>
      <p:pic>
        <p:nvPicPr>
          <p:cNvPr id="184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9509989" y="4158234"/>
            <a:ext cx="173736" cy="173736"/>
          </a:xfrm>
          <a:prstGeom prst="rect">
            <a:avLst/>
          </a:prstGeom>
        </p:spPr>
      </p:pic>
      <p:sp>
        <p:nvSpPr>
          <p:cNvPr id="185" name="Text 153"/>
          <p:cNvSpPr txBox="1"/>
          <p:nvPr/>
        </p:nvSpPr>
        <p:spPr>
          <a:xfrm>
            <a:off x="9738589" y="4112971"/>
            <a:ext cx="1417091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TREINAMENTO</a:t>
            </a:r>
            <a:endParaRPr lang="en-US" sz="850" dirty="0"/>
          </a:p>
        </p:txBody>
      </p:sp>
      <p:sp>
        <p:nvSpPr>
          <p:cNvPr id="186" name="Text 154"/>
          <p:cNvSpPr txBox="1"/>
          <p:nvPr/>
        </p:nvSpPr>
        <p:spPr>
          <a:xfrm>
            <a:off x="11146536" y="4112971"/>
            <a:ext cx="676656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87" name="Text 155"/>
          <p:cNvSpPr txBox="1"/>
          <p:nvPr/>
        </p:nvSpPr>
        <p:spPr>
          <a:xfrm>
            <a:off x="9263101" y="4377233"/>
            <a:ext cx="237744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850" dirty="0"/>
          </a:p>
        </p:txBody>
      </p:sp>
      <p:pic>
        <p:nvPicPr>
          <p:cNvPr id="188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9509989" y="4422496"/>
            <a:ext cx="173736" cy="173736"/>
          </a:xfrm>
          <a:prstGeom prst="rect">
            <a:avLst/>
          </a:prstGeom>
        </p:spPr>
      </p:pic>
      <p:sp>
        <p:nvSpPr>
          <p:cNvPr id="189" name="Text 156"/>
          <p:cNvSpPr txBox="1"/>
          <p:nvPr/>
        </p:nvSpPr>
        <p:spPr>
          <a:xfrm>
            <a:off x="9738589" y="4377233"/>
            <a:ext cx="1417091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MEDICINA</a:t>
            </a:r>
            <a:endParaRPr lang="en-US" sz="850" dirty="0"/>
          </a:p>
        </p:txBody>
      </p:sp>
      <p:sp>
        <p:nvSpPr>
          <p:cNvPr id="190" name="Text 157"/>
          <p:cNvSpPr txBox="1"/>
          <p:nvPr/>
        </p:nvSpPr>
        <p:spPr>
          <a:xfrm>
            <a:off x="11146536" y="4377233"/>
            <a:ext cx="676656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91" name="Text 158"/>
          <p:cNvSpPr txBox="1"/>
          <p:nvPr/>
        </p:nvSpPr>
        <p:spPr>
          <a:xfrm>
            <a:off x="9263101" y="4641494"/>
            <a:ext cx="237744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850" dirty="0"/>
          </a:p>
        </p:txBody>
      </p:sp>
      <p:pic>
        <p:nvPicPr>
          <p:cNvPr id="192" name="Image 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9509989" y="4686757"/>
            <a:ext cx="173736" cy="173736"/>
          </a:xfrm>
          <a:prstGeom prst="rect">
            <a:avLst/>
          </a:prstGeom>
        </p:spPr>
      </p:pic>
      <p:sp>
        <p:nvSpPr>
          <p:cNvPr id="193" name="Text 159"/>
          <p:cNvSpPr txBox="1"/>
          <p:nvPr/>
        </p:nvSpPr>
        <p:spPr>
          <a:xfrm>
            <a:off x="9738589" y="4641494"/>
            <a:ext cx="1417091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DO TRABALHO</a:t>
            </a:r>
            <a:endParaRPr lang="en-US" sz="850" dirty="0"/>
          </a:p>
        </p:txBody>
      </p:sp>
      <p:sp>
        <p:nvSpPr>
          <p:cNvPr id="194" name="Text 160"/>
          <p:cNvSpPr txBox="1"/>
          <p:nvPr/>
        </p:nvSpPr>
        <p:spPr>
          <a:xfrm>
            <a:off x="11146536" y="4641494"/>
            <a:ext cx="676656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95" name="Text 161"/>
          <p:cNvSpPr txBox="1"/>
          <p:nvPr/>
        </p:nvSpPr>
        <p:spPr>
          <a:xfrm>
            <a:off x="9263101" y="4905756"/>
            <a:ext cx="237744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</a:t>
            </a:r>
            <a:endParaRPr lang="en-US" sz="850" dirty="0"/>
          </a:p>
        </p:txBody>
      </p:sp>
      <p:pic>
        <p:nvPicPr>
          <p:cNvPr id="196" name="Image 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9509989" y="4951019"/>
            <a:ext cx="173736" cy="173736"/>
          </a:xfrm>
          <a:prstGeom prst="rect">
            <a:avLst/>
          </a:prstGeom>
        </p:spPr>
      </p:pic>
      <p:sp>
        <p:nvSpPr>
          <p:cNvPr id="197" name="Text 162"/>
          <p:cNvSpPr txBox="1"/>
          <p:nvPr/>
        </p:nvSpPr>
        <p:spPr>
          <a:xfrm>
            <a:off x="9738589" y="4905756"/>
            <a:ext cx="1417091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 SOLICITANTE</a:t>
            </a:r>
            <a:endParaRPr lang="en-US" sz="850" dirty="0"/>
          </a:p>
        </p:txBody>
      </p:sp>
      <p:sp>
        <p:nvSpPr>
          <p:cNvPr id="198" name="Text 163"/>
          <p:cNvSpPr txBox="1"/>
          <p:nvPr/>
        </p:nvSpPr>
        <p:spPr>
          <a:xfrm>
            <a:off x="11146536" y="4905756"/>
            <a:ext cx="676656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8A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CONTRIBUINTE</a:t>
            </a:r>
            <a:endParaRPr lang="en-US" sz="700" dirty="0"/>
          </a:p>
        </p:txBody>
      </p:sp>
      <p:sp>
        <p:nvSpPr>
          <p:cNvPr id="199" name="Text 164"/>
          <p:cNvSpPr txBox="1"/>
          <p:nvPr/>
        </p:nvSpPr>
        <p:spPr>
          <a:xfrm>
            <a:off x="9263101" y="5170018"/>
            <a:ext cx="237744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</a:t>
            </a:r>
            <a:endParaRPr lang="en-US" sz="850" dirty="0"/>
          </a:p>
        </p:txBody>
      </p:sp>
      <p:pic>
        <p:nvPicPr>
          <p:cNvPr id="200" name="Image 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9509989" y="5215280"/>
            <a:ext cx="173736" cy="173736"/>
          </a:xfrm>
          <a:prstGeom prst="rect">
            <a:avLst/>
          </a:prstGeom>
        </p:spPr>
      </p:pic>
      <p:sp>
        <p:nvSpPr>
          <p:cNvPr id="201" name="Text 165"/>
          <p:cNvSpPr txBox="1"/>
          <p:nvPr/>
        </p:nvSpPr>
        <p:spPr>
          <a:xfrm>
            <a:off x="9738589" y="5170018"/>
            <a:ext cx="1417091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COLABORADOR</a:t>
            </a:r>
            <a:endParaRPr lang="en-US" sz="850" dirty="0"/>
          </a:p>
        </p:txBody>
      </p:sp>
      <p:sp>
        <p:nvSpPr>
          <p:cNvPr id="202" name="Text 166"/>
          <p:cNvSpPr txBox="1"/>
          <p:nvPr/>
        </p:nvSpPr>
        <p:spPr>
          <a:xfrm>
            <a:off x="11146536" y="5170018"/>
            <a:ext cx="676656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203" name="Text 167"/>
          <p:cNvSpPr txBox="1"/>
          <p:nvPr/>
        </p:nvSpPr>
        <p:spPr>
          <a:xfrm>
            <a:off x="9263101" y="5434279"/>
            <a:ext cx="237744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</a:t>
            </a:r>
            <a:endParaRPr lang="en-US" sz="850" dirty="0"/>
          </a:p>
        </p:txBody>
      </p:sp>
      <p:pic>
        <p:nvPicPr>
          <p:cNvPr id="204" name="Image 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9509989" y="5479542"/>
            <a:ext cx="173736" cy="173736"/>
          </a:xfrm>
          <a:prstGeom prst="rect">
            <a:avLst/>
          </a:prstGeom>
        </p:spPr>
      </p:pic>
      <p:sp>
        <p:nvSpPr>
          <p:cNvPr id="205" name="Text 168"/>
          <p:cNvSpPr txBox="1"/>
          <p:nvPr/>
        </p:nvSpPr>
        <p:spPr>
          <a:xfrm>
            <a:off x="9738589" y="5434279"/>
            <a:ext cx="1417091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CARREIRA E RECOMPENSA</a:t>
            </a:r>
            <a:endParaRPr lang="en-US" sz="850" dirty="0"/>
          </a:p>
        </p:txBody>
      </p:sp>
      <p:sp>
        <p:nvSpPr>
          <p:cNvPr id="206" name="Text 169"/>
          <p:cNvSpPr txBox="1"/>
          <p:nvPr/>
        </p:nvSpPr>
        <p:spPr>
          <a:xfrm>
            <a:off x="11146536" y="5434279"/>
            <a:ext cx="676656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207" name="Shape 170"/>
          <p:cNvSpPr/>
          <p:nvPr/>
        </p:nvSpPr>
        <p:spPr>
          <a:xfrm>
            <a:off x="9226525" y="5707685"/>
            <a:ext cx="2633243" cy="245974"/>
          </a:xfrm>
          <a:prstGeom prst="roundRect">
            <a:avLst>
              <a:gd name="adj" fmla="val 11152"/>
            </a:avLst>
          </a:prstGeom>
          <a:solidFill>
            <a:srgbClr val="FFF1CC"/>
          </a:solidFill>
          <a:ln w="6350">
            <a:solidFill>
              <a:srgbClr val="F2D27A"/>
            </a:solidFill>
            <a:prstDash val="solid"/>
          </a:ln>
        </p:spPr>
      </p:sp>
      <p:sp>
        <p:nvSpPr>
          <p:cNvPr id="208" name="Text 171"/>
          <p:cNvSpPr txBox="1"/>
          <p:nvPr/>
        </p:nvSpPr>
        <p:spPr>
          <a:xfrm>
            <a:off x="9263101" y="5698541"/>
            <a:ext cx="237744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</a:t>
            </a:r>
            <a:endParaRPr lang="en-US" sz="850" dirty="0"/>
          </a:p>
        </p:txBody>
      </p:sp>
      <p:pic>
        <p:nvPicPr>
          <p:cNvPr id="209" name="Image 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9509989" y="5743804"/>
            <a:ext cx="173736" cy="173736"/>
          </a:xfrm>
          <a:prstGeom prst="rect">
            <a:avLst/>
          </a:prstGeom>
        </p:spPr>
      </p:pic>
      <p:sp>
        <p:nvSpPr>
          <p:cNvPr id="210" name="Text 172"/>
          <p:cNvSpPr txBox="1"/>
          <p:nvPr/>
        </p:nvSpPr>
        <p:spPr>
          <a:xfrm>
            <a:off x="9738589" y="5698541"/>
            <a:ext cx="1417091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CONTROLADORIA</a:t>
            </a:r>
            <a:endParaRPr lang="en-US" sz="850" dirty="0"/>
          </a:p>
        </p:txBody>
      </p:sp>
      <p:sp>
        <p:nvSpPr>
          <p:cNvPr id="211" name="Text 173"/>
          <p:cNvSpPr txBox="1"/>
          <p:nvPr/>
        </p:nvSpPr>
        <p:spPr>
          <a:xfrm>
            <a:off x="11146536" y="5698541"/>
            <a:ext cx="676656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CÓPIA</a:t>
            </a:r>
            <a:endParaRPr lang="en-US" sz="700" dirty="0"/>
          </a:p>
        </p:txBody>
      </p:sp>
      <p:sp>
        <p:nvSpPr>
          <p:cNvPr id="212" name="Shape 174"/>
          <p:cNvSpPr/>
          <p:nvPr/>
        </p:nvSpPr>
        <p:spPr>
          <a:xfrm>
            <a:off x="9226525" y="5971946"/>
            <a:ext cx="2633243" cy="245974"/>
          </a:xfrm>
          <a:prstGeom prst="roundRect">
            <a:avLst>
              <a:gd name="adj" fmla="val 11152"/>
            </a:avLst>
          </a:prstGeom>
          <a:solidFill>
            <a:srgbClr val="FFF1CC"/>
          </a:solidFill>
          <a:ln w="6350">
            <a:solidFill>
              <a:srgbClr val="F2D27A"/>
            </a:solidFill>
            <a:prstDash val="solid"/>
          </a:ln>
        </p:spPr>
      </p:sp>
      <p:sp>
        <p:nvSpPr>
          <p:cNvPr id="213" name="Text 175"/>
          <p:cNvSpPr txBox="1"/>
          <p:nvPr/>
        </p:nvSpPr>
        <p:spPr>
          <a:xfrm>
            <a:off x="9263101" y="5962802"/>
            <a:ext cx="237744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</a:t>
            </a:r>
            <a:endParaRPr lang="en-US" sz="850" dirty="0"/>
          </a:p>
        </p:txBody>
      </p:sp>
      <p:pic>
        <p:nvPicPr>
          <p:cNvPr id="214" name="Image 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9509989" y="6008065"/>
            <a:ext cx="173736" cy="173736"/>
          </a:xfrm>
          <a:prstGeom prst="rect">
            <a:avLst/>
          </a:prstGeom>
        </p:spPr>
      </p:pic>
      <p:sp>
        <p:nvSpPr>
          <p:cNvPr id="215" name="Text 176"/>
          <p:cNvSpPr txBox="1"/>
          <p:nvPr/>
        </p:nvSpPr>
        <p:spPr>
          <a:xfrm>
            <a:off x="9738589" y="5962802"/>
            <a:ext cx="1417091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FOLHA DE PAGAMENTO</a:t>
            </a:r>
            <a:endParaRPr lang="en-US" sz="850" dirty="0"/>
          </a:p>
        </p:txBody>
      </p:sp>
      <p:sp>
        <p:nvSpPr>
          <p:cNvPr id="216" name="Text 177"/>
          <p:cNvSpPr txBox="1"/>
          <p:nvPr/>
        </p:nvSpPr>
        <p:spPr>
          <a:xfrm>
            <a:off x="11146536" y="5962802"/>
            <a:ext cx="676656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CÓPIA</a:t>
            </a:r>
            <a:endParaRPr lang="en-US" sz="700" dirty="0"/>
          </a:p>
        </p:txBody>
      </p:sp>
      <p:sp>
        <p:nvSpPr>
          <p:cNvPr id="217" name="Shape 178"/>
          <p:cNvSpPr/>
          <p:nvPr/>
        </p:nvSpPr>
        <p:spPr>
          <a:xfrm>
            <a:off x="320040" y="6364224"/>
            <a:ext cx="8412480" cy="365760"/>
          </a:xfrm>
          <a:prstGeom prst="roundRect">
            <a:avLst>
              <a:gd name="adj" fmla="val 12500"/>
            </a:avLst>
          </a:prstGeom>
          <a:solidFill>
            <a:srgbClr val="E9F0F9"/>
          </a:solidFill>
          <a:ln w="12700">
            <a:solidFill>
              <a:srgbClr val="C9D6EA"/>
            </a:solidFill>
            <a:prstDash val="solid"/>
          </a:ln>
        </p:spPr>
      </p:sp>
      <p:sp>
        <p:nvSpPr>
          <p:cNvPr id="218" name="Text 179"/>
          <p:cNvSpPr txBox="1"/>
          <p:nvPr/>
        </p:nvSpPr>
        <p:spPr>
          <a:xfrm>
            <a:off x="429768" y="636422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23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ALTERAM A ROTA NESTE EVENTO:  </a:t>
            </a:r>
            <a:pPr indent="0" marL="0">
              <a:buNone/>
            </a:pP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 filial / Muda setor (NÃO/NÃO · NÃO/SIM · SIM/SIM)  ·  Natureza atual: Gestão ou Não gestão  ·  Natureza destino: Gestão ou Não gestão</a:t>
            </a:r>
            <a:endParaRPr lang="en-US" sz="800" dirty="0"/>
          </a:p>
        </p:txBody>
      </p:sp>
      <p:sp>
        <p:nvSpPr>
          <p:cNvPr id="219" name="Shape 180"/>
          <p:cNvSpPr/>
          <p:nvPr/>
        </p:nvSpPr>
        <p:spPr>
          <a:xfrm>
            <a:off x="8869680" y="6364224"/>
            <a:ext cx="3044952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C9D6EA"/>
            </a:solidFill>
            <a:prstDash val="solid"/>
          </a:ln>
        </p:spPr>
      </p:sp>
      <p:sp>
        <p:nvSpPr>
          <p:cNvPr id="220" name="Shape 181"/>
          <p:cNvSpPr/>
          <p:nvPr/>
        </p:nvSpPr>
        <p:spPr>
          <a:xfrm>
            <a:off x="8961120" y="6446520"/>
            <a:ext cx="320040" cy="201168"/>
          </a:xfrm>
          <a:prstGeom prst="roundRect">
            <a:avLst>
              <a:gd name="adj" fmla="val 13636"/>
            </a:avLst>
          </a:prstGeom>
          <a:solidFill>
            <a:srgbClr val="FFF1CC"/>
          </a:solidFill>
          <a:ln w="6350">
            <a:solidFill>
              <a:srgbClr val="F2D27A"/>
            </a:solidFill>
            <a:prstDash val="solid"/>
          </a:ln>
        </p:spPr>
      </p:sp>
      <p:sp>
        <p:nvSpPr>
          <p:cNvPr id="221" name="Text 182"/>
          <p:cNvSpPr txBox="1"/>
          <p:nvPr/>
        </p:nvSpPr>
        <p:spPr>
          <a:xfrm>
            <a:off x="9345168" y="6364224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que muda conforme a decisão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11640312" cy="749808"/>
          </a:xfrm>
          <a:prstGeom prst="roundRect">
            <a:avLst>
              <a:gd name="adj" fmla="val 7317"/>
            </a:avLst>
          </a:prstGeom>
          <a:solidFill>
            <a:srgbClr val="123C7A"/>
          </a:solidFill>
          <a:ln w="12700">
            <a:solidFill>
              <a:srgbClr val="123C7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219456"/>
            <a:ext cx="116403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DE APROVAÇÃO – PROMOÇÃO DE CARGO – CARGO DE CONFIANÇA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274320" y="585216"/>
            <a:ext cx="11640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MOVIMENTAÇÃO DE PESSOAS  ·  EVENTO 2 DE 5  ·  12 REGRAS CONSOLIDADAS EM 2 ROTAS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20040" y="1280160"/>
            <a:ext cx="914400" cy="402336"/>
          </a:xfrm>
          <a:prstGeom prst="roundRect">
            <a:avLst>
              <a:gd name="adj" fmla="val 50000"/>
            </a:avLst>
          </a:prstGeom>
          <a:solidFill>
            <a:srgbClr val="2E8B3E"/>
          </a:solidFill>
          <a:ln w="12700">
            <a:solidFill>
              <a:srgbClr val="2E8B3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20040" y="1280160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INÍCIO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234440" y="1481328"/>
            <a:ext cx="182880" cy="0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417320" y="1115568"/>
            <a:ext cx="1874520" cy="731520"/>
          </a:xfrm>
          <a:prstGeom prst="roundRect">
            <a:avLst>
              <a:gd name="adj" fmla="val 6250"/>
            </a:avLst>
          </a:prstGeom>
          <a:solidFill>
            <a:srgbClr val="E9F0F9"/>
          </a:solidFill>
          <a:ln w="12700">
            <a:solidFill>
              <a:srgbClr val="C9D6EA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1325880"/>
            <a:ext cx="310896" cy="310896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892808" y="1115568"/>
            <a:ext cx="1353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3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MOTIVO (GESTOR)</a:t>
            </a:r>
            <a:endParaRPr lang="en-US" sz="1050" dirty="0"/>
          </a:p>
          <a:p>
            <a:pPr indent="0" marL="0">
              <a:buNone/>
            </a:pPr>
            <a:r>
              <a:rPr lang="en-US" sz="9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MOVIMENTAÇÃO DE PESSOAS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291840" y="1481328"/>
            <a:ext cx="182880" cy="0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3474720" y="1115568"/>
            <a:ext cx="2331720" cy="731520"/>
          </a:xfrm>
          <a:prstGeom prst="roundRect">
            <a:avLst>
              <a:gd name="adj" fmla="val 6250"/>
            </a:avLst>
          </a:prstGeom>
          <a:solidFill>
            <a:srgbClr val="E9F0F9"/>
          </a:solidFill>
          <a:ln w="12700">
            <a:solidFill>
              <a:srgbClr val="C9D6EA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325880"/>
            <a:ext cx="310896" cy="31089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950208" y="1115568"/>
            <a:ext cx="1810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3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EVENTO (C&amp;R)</a:t>
            </a:r>
            <a:endParaRPr lang="en-US" sz="1050" dirty="0"/>
          </a:p>
          <a:p>
            <a:pPr indent="0" marL="0">
              <a:buNone/>
            </a:pPr>
            <a:r>
              <a:rPr lang="en-US" sz="9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PROMOÇÃO DE CARGO (CARGO DE CONFIANÇA)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806440" y="1481328"/>
            <a:ext cx="182880" cy="0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5989320" y="1115568"/>
            <a:ext cx="1783080" cy="731520"/>
          </a:xfrm>
          <a:prstGeom prst="roundRect">
            <a:avLst>
              <a:gd name="adj" fmla="val 6250"/>
            </a:avLst>
          </a:prstGeom>
          <a:solidFill>
            <a:srgbClr val="E3F1E4"/>
          </a:solidFill>
          <a:ln w="12700">
            <a:solidFill>
              <a:srgbClr val="A8D1A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071616" y="1307592"/>
            <a:ext cx="347472" cy="347472"/>
          </a:xfrm>
          <a:prstGeom prst="ellipse">
            <a:avLst/>
          </a:prstGeom>
          <a:solidFill>
            <a:srgbClr val="2E8B3E"/>
          </a:solidFill>
          <a:ln w="12700">
            <a:solidFill>
              <a:srgbClr val="2E8B3E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3912" y="1389888"/>
            <a:ext cx="182880" cy="18288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492240" y="1115568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INICIAR ANÁLISE DAS CONDIÇÕES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10287000" y="1115568"/>
            <a:ext cx="162763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9D6EA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10287000" y="1115568"/>
            <a:ext cx="1627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3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regras</a:t>
            </a:r>
            <a:endParaRPr lang="en-US" sz="15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2 rotas de aprovação</a:t>
            </a:r>
            <a:endParaRPr lang="en-US" sz="1500" dirty="0"/>
          </a:p>
        </p:txBody>
      </p:sp>
      <p:sp>
        <p:nvSpPr>
          <p:cNvPr id="22" name="Shape 17"/>
          <p:cNvSpPr/>
          <p:nvPr/>
        </p:nvSpPr>
        <p:spPr>
          <a:xfrm>
            <a:off x="7772400" y="1481328"/>
            <a:ext cx="393192" cy="0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  <a:tailEnd type="triangle"/>
          </a:ln>
        </p:spPr>
      </p:sp>
      <p:sp>
        <p:nvSpPr>
          <p:cNvPr id="23" name="Shape 18"/>
          <p:cNvSpPr/>
          <p:nvPr/>
        </p:nvSpPr>
        <p:spPr>
          <a:xfrm>
            <a:off x="8165592" y="1024128"/>
            <a:ext cx="1828800" cy="914400"/>
          </a:xfrm>
          <a:prstGeom prst="diamond">
            <a:avLst/>
          </a:prstGeom>
          <a:solidFill>
            <a:srgbClr val="D6E4F5"/>
          </a:solidFill>
          <a:ln w="19050">
            <a:solidFill>
              <a:srgbClr val="2B4F8C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8421624" y="1207008"/>
            <a:ext cx="1316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3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ALTERA GESTOR?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9079992" y="1938528"/>
            <a:ext cx="0" cy="210312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3154680" y="2148840"/>
            <a:ext cx="5925312" cy="0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3154680" y="2148840"/>
            <a:ext cx="0" cy="137160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  <a:tailEnd type="triangle"/>
          </a:ln>
        </p:spPr>
      </p:sp>
      <p:sp>
        <p:nvSpPr>
          <p:cNvPr id="28" name="Shape 23"/>
          <p:cNvSpPr/>
          <p:nvPr/>
        </p:nvSpPr>
        <p:spPr>
          <a:xfrm>
            <a:off x="9079992" y="2148840"/>
            <a:ext cx="0" cy="137160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  <a:tailEnd type="triangle"/>
          </a:ln>
        </p:spPr>
      </p:sp>
      <p:sp>
        <p:nvSpPr>
          <p:cNvPr id="29" name="Text 24"/>
          <p:cNvSpPr txBox="1"/>
          <p:nvPr/>
        </p:nvSpPr>
        <p:spPr>
          <a:xfrm>
            <a:off x="3246120" y="19476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endParaRPr lang="en-US" sz="1000" dirty="0"/>
          </a:p>
        </p:txBody>
      </p:sp>
      <p:sp>
        <p:nvSpPr>
          <p:cNvPr id="30" name="Text 25"/>
          <p:cNvSpPr txBox="1"/>
          <p:nvPr/>
        </p:nvSpPr>
        <p:spPr>
          <a:xfrm>
            <a:off x="9171432" y="21305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320040" y="2578608"/>
            <a:ext cx="5669280" cy="3694176"/>
          </a:xfrm>
          <a:prstGeom prst="roundRect">
            <a:avLst>
              <a:gd name="adj" fmla="val 1485"/>
            </a:avLst>
          </a:prstGeom>
          <a:solidFill>
            <a:srgbClr val="EFF3F9"/>
          </a:solidFill>
          <a:ln w="12700">
            <a:solidFill>
              <a:srgbClr val="9AB5D7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320040" y="2578608"/>
            <a:ext cx="5669280" cy="365760"/>
          </a:xfrm>
          <a:prstGeom prst="roundRect">
            <a:avLst>
              <a:gd name="adj" fmla="val 15000"/>
            </a:avLst>
          </a:prstGeom>
          <a:solidFill>
            <a:srgbClr val="1F5AA6"/>
          </a:solidFill>
          <a:ln w="12700">
            <a:solidFill>
              <a:srgbClr val="1F5AA6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320040" y="2807208"/>
            <a:ext cx="5669280" cy="137160"/>
          </a:xfrm>
          <a:prstGeom prst="rect">
            <a:avLst/>
          </a:prstGeom>
          <a:solidFill>
            <a:srgbClr val="1F5AA6"/>
          </a:solidFill>
          <a:ln w="12700">
            <a:solidFill>
              <a:srgbClr val="1F5AA6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2926080" y="2286000"/>
            <a:ext cx="457200" cy="457200"/>
          </a:xfrm>
          <a:prstGeom prst="ellipse">
            <a:avLst/>
          </a:prstGeom>
          <a:solidFill>
            <a:srgbClr val="1F5AA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5" name="Text 30"/>
          <p:cNvSpPr txBox="1"/>
          <p:nvPr/>
        </p:nvSpPr>
        <p:spPr>
          <a:xfrm>
            <a:off x="292608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36" name="Text 31"/>
          <p:cNvSpPr txBox="1"/>
          <p:nvPr/>
        </p:nvSpPr>
        <p:spPr>
          <a:xfrm>
            <a:off x="429768" y="25786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 B</a:t>
            </a:r>
            <a:endParaRPr lang="en-US" sz="1300" dirty="0"/>
          </a:p>
        </p:txBody>
      </p:sp>
      <p:sp>
        <p:nvSpPr>
          <p:cNvPr id="37" name="Text 32"/>
          <p:cNvSpPr txBox="1"/>
          <p:nvPr/>
        </p:nvSpPr>
        <p:spPr>
          <a:xfrm>
            <a:off x="4663440" y="2578608"/>
            <a:ext cx="1216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regras · 11 etapas</a:t>
            </a:r>
            <a:endParaRPr lang="en-US" sz="950" dirty="0"/>
          </a:p>
        </p:txBody>
      </p:sp>
      <p:sp>
        <p:nvSpPr>
          <p:cNvPr id="38" name="Text 33"/>
          <p:cNvSpPr txBox="1"/>
          <p:nvPr/>
        </p:nvSpPr>
        <p:spPr>
          <a:xfrm>
            <a:off x="411480" y="3035808"/>
            <a:ext cx="237744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850" dirty="0"/>
          </a:p>
        </p:txBody>
      </p:sp>
      <p:pic>
        <p:nvPicPr>
          <p:cNvPr id="3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3081909"/>
            <a:ext cx="173736" cy="173736"/>
          </a:xfrm>
          <a:prstGeom prst="rect">
            <a:avLst/>
          </a:prstGeom>
        </p:spPr>
      </p:pic>
      <p:sp>
        <p:nvSpPr>
          <p:cNvPr id="40" name="Text 34"/>
          <p:cNvSpPr txBox="1"/>
          <p:nvPr/>
        </p:nvSpPr>
        <p:spPr>
          <a:xfrm>
            <a:off x="886968" y="3035808"/>
            <a:ext cx="2075688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CARREIRA E RECOMPENSA</a:t>
            </a:r>
            <a:endParaRPr lang="en-US" sz="850" dirty="0"/>
          </a:p>
        </p:txBody>
      </p:sp>
      <p:sp>
        <p:nvSpPr>
          <p:cNvPr id="41" name="Text 35"/>
          <p:cNvSpPr txBox="1"/>
          <p:nvPr/>
        </p:nvSpPr>
        <p:spPr>
          <a:xfrm>
            <a:off x="2953512" y="3035808"/>
            <a:ext cx="676656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42" name="Text 36"/>
          <p:cNvSpPr txBox="1"/>
          <p:nvPr/>
        </p:nvSpPr>
        <p:spPr>
          <a:xfrm>
            <a:off x="411480" y="3301746"/>
            <a:ext cx="237744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850" dirty="0"/>
          </a:p>
        </p:txBody>
      </p:sp>
      <p:pic>
        <p:nvPicPr>
          <p:cNvPr id="4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3347847"/>
            <a:ext cx="173736" cy="173736"/>
          </a:xfrm>
          <a:prstGeom prst="rect">
            <a:avLst/>
          </a:prstGeom>
        </p:spPr>
      </p:pic>
      <p:sp>
        <p:nvSpPr>
          <p:cNvPr id="44" name="Text 37"/>
          <p:cNvSpPr txBox="1"/>
          <p:nvPr/>
        </p:nvSpPr>
        <p:spPr>
          <a:xfrm>
            <a:off x="886968" y="3301746"/>
            <a:ext cx="2075688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850" dirty="0"/>
          </a:p>
        </p:txBody>
      </p:sp>
      <p:sp>
        <p:nvSpPr>
          <p:cNvPr id="45" name="Text 38"/>
          <p:cNvSpPr txBox="1"/>
          <p:nvPr/>
        </p:nvSpPr>
        <p:spPr>
          <a:xfrm>
            <a:off x="2953512" y="3301746"/>
            <a:ext cx="676656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46" name="Text 39"/>
          <p:cNvSpPr txBox="1"/>
          <p:nvPr/>
        </p:nvSpPr>
        <p:spPr>
          <a:xfrm>
            <a:off x="411480" y="3567684"/>
            <a:ext cx="237744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850" dirty="0"/>
          </a:p>
        </p:txBody>
      </p:sp>
      <p:pic>
        <p:nvPicPr>
          <p:cNvPr id="4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" y="3613785"/>
            <a:ext cx="173736" cy="173736"/>
          </a:xfrm>
          <a:prstGeom prst="rect">
            <a:avLst/>
          </a:prstGeom>
        </p:spPr>
      </p:pic>
      <p:sp>
        <p:nvSpPr>
          <p:cNvPr id="48" name="Text 40"/>
          <p:cNvSpPr txBox="1"/>
          <p:nvPr/>
        </p:nvSpPr>
        <p:spPr>
          <a:xfrm>
            <a:off x="886968" y="3567684"/>
            <a:ext cx="2075688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DESENV. HUMANO ORGANIZACIONAL</a:t>
            </a:r>
            <a:endParaRPr lang="en-US" sz="750" dirty="0"/>
          </a:p>
        </p:txBody>
      </p:sp>
      <p:sp>
        <p:nvSpPr>
          <p:cNvPr id="49" name="Text 41"/>
          <p:cNvSpPr txBox="1"/>
          <p:nvPr/>
        </p:nvSpPr>
        <p:spPr>
          <a:xfrm>
            <a:off x="2953512" y="3567684"/>
            <a:ext cx="676656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50" name="Text 42"/>
          <p:cNvSpPr txBox="1"/>
          <p:nvPr/>
        </p:nvSpPr>
        <p:spPr>
          <a:xfrm>
            <a:off x="411480" y="3833622"/>
            <a:ext cx="237744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850" dirty="0"/>
          </a:p>
        </p:txBody>
      </p:sp>
      <p:pic>
        <p:nvPicPr>
          <p:cNvPr id="5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368" y="3879723"/>
            <a:ext cx="173736" cy="173736"/>
          </a:xfrm>
          <a:prstGeom prst="rect">
            <a:avLst/>
          </a:prstGeom>
        </p:spPr>
      </p:pic>
      <p:sp>
        <p:nvSpPr>
          <p:cNvPr id="52" name="Text 43"/>
          <p:cNvSpPr txBox="1"/>
          <p:nvPr/>
        </p:nvSpPr>
        <p:spPr>
          <a:xfrm>
            <a:off x="886968" y="3833622"/>
            <a:ext cx="2075688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TREINAMENTO</a:t>
            </a:r>
            <a:endParaRPr lang="en-US" sz="850" dirty="0"/>
          </a:p>
        </p:txBody>
      </p:sp>
      <p:sp>
        <p:nvSpPr>
          <p:cNvPr id="53" name="Text 44"/>
          <p:cNvSpPr txBox="1"/>
          <p:nvPr/>
        </p:nvSpPr>
        <p:spPr>
          <a:xfrm>
            <a:off x="2953512" y="3833622"/>
            <a:ext cx="676656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54" name="Text 45"/>
          <p:cNvSpPr txBox="1"/>
          <p:nvPr/>
        </p:nvSpPr>
        <p:spPr>
          <a:xfrm>
            <a:off x="411480" y="4099560"/>
            <a:ext cx="237744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850" dirty="0"/>
          </a:p>
        </p:txBody>
      </p:sp>
      <p:pic>
        <p:nvPicPr>
          <p:cNvPr id="5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368" y="4145661"/>
            <a:ext cx="173736" cy="173736"/>
          </a:xfrm>
          <a:prstGeom prst="rect">
            <a:avLst/>
          </a:prstGeom>
        </p:spPr>
      </p:pic>
      <p:sp>
        <p:nvSpPr>
          <p:cNvPr id="56" name="Text 46"/>
          <p:cNvSpPr txBox="1"/>
          <p:nvPr/>
        </p:nvSpPr>
        <p:spPr>
          <a:xfrm>
            <a:off x="886968" y="4099560"/>
            <a:ext cx="2075688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MEDICINA</a:t>
            </a:r>
            <a:endParaRPr lang="en-US" sz="850" dirty="0"/>
          </a:p>
        </p:txBody>
      </p:sp>
      <p:sp>
        <p:nvSpPr>
          <p:cNvPr id="57" name="Text 47"/>
          <p:cNvSpPr txBox="1"/>
          <p:nvPr/>
        </p:nvSpPr>
        <p:spPr>
          <a:xfrm>
            <a:off x="2953512" y="4099560"/>
            <a:ext cx="676656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58" name="Text 48"/>
          <p:cNvSpPr txBox="1"/>
          <p:nvPr/>
        </p:nvSpPr>
        <p:spPr>
          <a:xfrm>
            <a:off x="411480" y="4365498"/>
            <a:ext cx="237744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</a:t>
            </a:r>
            <a:endParaRPr lang="en-US" sz="850" dirty="0"/>
          </a:p>
        </p:txBody>
      </p:sp>
      <p:pic>
        <p:nvPicPr>
          <p:cNvPr id="5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8368" y="4411599"/>
            <a:ext cx="173736" cy="173736"/>
          </a:xfrm>
          <a:prstGeom prst="rect">
            <a:avLst/>
          </a:prstGeom>
        </p:spPr>
      </p:pic>
      <p:sp>
        <p:nvSpPr>
          <p:cNvPr id="60" name="Text 49"/>
          <p:cNvSpPr txBox="1"/>
          <p:nvPr/>
        </p:nvSpPr>
        <p:spPr>
          <a:xfrm>
            <a:off x="886968" y="4365498"/>
            <a:ext cx="2075688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DO TRABALHO</a:t>
            </a:r>
            <a:endParaRPr lang="en-US" sz="850" dirty="0"/>
          </a:p>
        </p:txBody>
      </p:sp>
      <p:sp>
        <p:nvSpPr>
          <p:cNvPr id="61" name="Text 50"/>
          <p:cNvSpPr txBox="1"/>
          <p:nvPr/>
        </p:nvSpPr>
        <p:spPr>
          <a:xfrm>
            <a:off x="2953512" y="4365498"/>
            <a:ext cx="676656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62" name="Text 51"/>
          <p:cNvSpPr txBox="1"/>
          <p:nvPr/>
        </p:nvSpPr>
        <p:spPr>
          <a:xfrm>
            <a:off x="411480" y="4631436"/>
            <a:ext cx="237744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</a:t>
            </a:r>
            <a:endParaRPr lang="en-US" sz="850" dirty="0"/>
          </a:p>
        </p:txBody>
      </p:sp>
      <p:pic>
        <p:nvPicPr>
          <p:cNvPr id="6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8368" y="4677537"/>
            <a:ext cx="173736" cy="173736"/>
          </a:xfrm>
          <a:prstGeom prst="rect">
            <a:avLst/>
          </a:prstGeom>
        </p:spPr>
      </p:pic>
      <p:sp>
        <p:nvSpPr>
          <p:cNvPr id="64" name="Text 52"/>
          <p:cNvSpPr txBox="1"/>
          <p:nvPr/>
        </p:nvSpPr>
        <p:spPr>
          <a:xfrm>
            <a:off x="886968" y="4631436"/>
            <a:ext cx="2075688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 SOLICITANTE</a:t>
            </a:r>
            <a:endParaRPr lang="en-US" sz="850" dirty="0"/>
          </a:p>
        </p:txBody>
      </p:sp>
      <p:sp>
        <p:nvSpPr>
          <p:cNvPr id="65" name="Text 53"/>
          <p:cNvSpPr txBox="1"/>
          <p:nvPr/>
        </p:nvSpPr>
        <p:spPr>
          <a:xfrm>
            <a:off x="2953512" y="4631436"/>
            <a:ext cx="676656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8A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CONTRIBUINTE</a:t>
            </a:r>
            <a:endParaRPr lang="en-US" sz="700" dirty="0"/>
          </a:p>
        </p:txBody>
      </p:sp>
      <p:sp>
        <p:nvSpPr>
          <p:cNvPr id="66" name="Text 54"/>
          <p:cNvSpPr txBox="1"/>
          <p:nvPr/>
        </p:nvSpPr>
        <p:spPr>
          <a:xfrm>
            <a:off x="411480" y="4897374"/>
            <a:ext cx="237744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</a:t>
            </a:r>
            <a:endParaRPr lang="en-US" sz="850" dirty="0"/>
          </a:p>
        </p:txBody>
      </p:sp>
      <p:pic>
        <p:nvPicPr>
          <p:cNvPr id="6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8368" y="4943475"/>
            <a:ext cx="173736" cy="173736"/>
          </a:xfrm>
          <a:prstGeom prst="rect">
            <a:avLst/>
          </a:prstGeom>
        </p:spPr>
      </p:pic>
      <p:sp>
        <p:nvSpPr>
          <p:cNvPr id="68" name="Text 55"/>
          <p:cNvSpPr txBox="1"/>
          <p:nvPr/>
        </p:nvSpPr>
        <p:spPr>
          <a:xfrm>
            <a:off x="886968" y="4897374"/>
            <a:ext cx="2075688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COLABORADOR</a:t>
            </a:r>
            <a:endParaRPr lang="en-US" sz="850" dirty="0"/>
          </a:p>
        </p:txBody>
      </p:sp>
      <p:sp>
        <p:nvSpPr>
          <p:cNvPr id="69" name="Text 56"/>
          <p:cNvSpPr txBox="1"/>
          <p:nvPr/>
        </p:nvSpPr>
        <p:spPr>
          <a:xfrm>
            <a:off x="2953512" y="4897374"/>
            <a:ext cx="676656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70" name="Text 57"/>
          <p:cNvSpPr txBox="1"/>
          <p:nvPr/>
        </p:nvSpPr>
        <p:spPr>
          <a:xfrm>
            <a:off x="411480" y="5163312"/>
            <a:ext cx="237744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</a:t>
            </a:r>
            <a:endParaRPr lang="en-US" sz="850" dirty="0"/>
          </a:p>
        </p:txBody>
      </p:sp>
      <p:pic>
        <p:nvPicPr>
          <p:cNvPr id="71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8368" y="5209413"/>
            <a:ext cx="173736" cy="173736"/>
          </a:xfrm>
          <a:prstGeom prst="rect">
            <a:avLst/>
          </a:prstGeom>
        </p:spPr>
      </p:pic>
      <p:sp>
        <p:nvSpPr>
          <p:cNvPr id="72" name="Text 58"/>
          <p:cNvSpPr txBox="1"/>
          <p:nvPr/>
        </p:nvSpPr>
        <p:spPr>
          <a:xfrm>
            <a:off x="886968" y="5163312"/>
            <a:ext cx="2075688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CARREIRA E RECOMPENSA</a:t>
            </a:r>
            <a:endParaRPr lang="en-US" sz="850" dirty="0"/>
          </a:p>
        </p:txBody>
      </p:sp>
      <p:sp>
        <p:nvSpPr>
          <p:cNvPr id="73" name="Text 59"/>
          <p:cNvSpPr txBox="1"/>
          <p:nvPr/>
        </p:nvSpPr>
        <p:spPr>
          <a:xfrm>
            <a:off x="2953512" y="5163312"/>
            <a:ext cx="676656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74" name="Text 60"/>
          <p:cNvSpPr txBox="1"/>
          <p:nvPr/>
        </p:nvSpPr>
        <p:spPr>
          <a:xfrm>
            <a:off x="411480" y="5429250"/>
            <a:ext cx="237744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</a:t>
            </a:r>
            <a:endParaRPr lang="en-US" sz="850" dirty="0"/>
          </a:p>
        </p:txBody>
      </p:sp>
      <p:pic>
        <p:nvPicPr>
          <p:cNvPr id="75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8368" y="5475351"/>
            <a:ext cx="173736" cy="173736"/>
          </a:xfrm>
          <a:prstGeom prst="rect">
            <a:avLst/>
          </a:prstGeom>
        </p:spPr>
      </p:pic>
      <p:sp>
        <p:nvSpPr>
          <p:cNvPr id="76" name="Text 61"/>
          <p:cNvSpPr txBox="1"/>
          <p:nvPr/>
        </p:nvSpPr>
        <p:spPr>
          <a:xfrm>
            <a:off x="886968" y="5429250"/>
            <a:ext cx="2075688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CONTROLADORIA</a:t>
            </a:r>
            <a:endParaRPr lang="en-US" sz="850" dirty="0"/>
          </a:p>
        </p:txBody>
      </p:sp>
      <p:sp>
        <p:nvSpPr>
          <p:cNvPr id="77" name="Text 62"/>
          <p:cNvSpPr txBox="1"/>
          <p:nvPr/>
        </p:nvSpPr>
        <p:spPr>
          <a:xfrm>
            <a:off x="2953512" y="5429250"/>
            <a:ext cx="676656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CÓPIA</a:t>
            </a:r>
            <a:endParaRPr lang="en-US" sz="700" dirty="0"/>
          </a:p>
        </p:txBody>
      </p:sp>
      <p:sp>
        <p:nvSpPr>
          <p:cNvPr id="78" name="Text 63"/>
          <p:cNvSpPr txBox="1"/>
          <p:nvPr/>
        </p:nvSpPr>
        <p:spPr>
          <a:xfrm>
            <a:off x="411480" y="5695188"/>
            <a:ext cx="237744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</a:t>
            </a:r>
            <a:endParaRPr lang="en-US" sz="850" dirty="0"/>
          </a:p>
        </p:txBody>
      </p:sp>
      <p:pic>
        <p:nvPicPr>
          <p:cNvPr id="79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8368" y="5741289"/>
            <a:ext cx="173736" cy="173736"/>
          </a:xfrm>
          <a:prstGeom prst="rect">
            <a:avLst/>
          </a:prstGeom>
        </p:spPr>
      </p:pic>
      <p:sp>
        <p:nvSpPr>
          <p:cNvPr id="80" name="Text 64"/>
          <p:cNvSpPr txBox="1"/>
          <p:nvPr/>
        </p:nvSpPr>
        <p:spPr>
          <a:xfrm>
            <a:off x="886968" y="5695188"/>
            <a:ext cx="2075688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FOLHA DE PAGAMENTO</a:t>
            </a:r>
            <a:endParaRPr lang="en-US" sz="850" dirty="0"/>
          </a:p>
        </p:txBody>
      </p:sp>
      <p:sp>
        <p:nvSpPr>
          <p:cNvPr id="81" name="Text 65"/>
          <p:cNvSpPr txBox="1"/>
          <p:nvPr/>
        </p:nvSpPr>
        <p:spPr>
          <a:xfrm>
            <a:off x="2953512" y="5695188"/>
            <a:ext cx="676656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CÓPIA</a:t>
            </a:r>
            <a:endParaRPr lang="en-US" sz="700" dirty="0"/>
          </a:p>
        </p:txBody>
      </p:sp>
      <p:sp>
        <p:nvSpPr>
          <p:cNvPr id="82" name="Shape 66"/>
          <p:cNvSpPr/>
          <p:nvPr/>
        </p:nvSpPr>
        <p:spPr>
          <a:xfrm>
            <a:off x="3813048" y="3035808"/>
            <a:ext cx="2066544" cy="3127248"/>
          </a:xfrm>
          <a:prstGeom prst="roundRect">
            <a:avLst>
              <a:gd name="adj" fmla="val 1770"/>
            </a:avLst>
          </a:prstGeom>
          <a:solidFill>
            <a:srgbClr val="FFFFFF"/>
          </a:solidFill>
          <a:ln w="9525">
            <a:solidFill>
              <a:srgbClr val="A5BDDB"/>
            </a:solidFill>
            <a:prstDash val="solid"/>
          </a:ln>
        </p:spPr>
      </p:sp>
      <p:sp>
        <p:nvSpPr>
          <p:cNvPr id="83" name="Text 67"/>
          <p:cNvSpPr txBox="1"/>
          <p:nvPr/>
        </p:nvSpPr>
        <p:spPr>
          <a:xfrm>
            <a:off x="3941064" y="3145536"/>
            <a:ext cx="1810512" cy="2907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SE APLICA</a:t>
            </a:r>
            <a:endParaRPr lang="en-US" sz="950" dirty="0"/>
          </a:p>
          <a:p>
            <a:pPr indent="0" marL="0">
              <a:buNone/>
            </a:pPr>
            <a:r>
              <a:rPr lang="en-US" sz="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Evento: </a:t>
            </a:r>
            <a:pPr indent="0" marL="0">
              <a:buNone/>
            </a:pPr>
            <a:r>
              <a:rPr lang="en-US" sz="9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PROMOÇÃO DE CARGO (CARGO DE CONFIANÇA)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Mão de obra destino: </a:t>
            </a:r>
            <a:pPr indent="0" marL="0">
              <a:buNone/>
            </a:pPr>
            <a:r>
              <a:rPr lang="en-US" sz="9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Altera gestor: </a:t>
            </a:r>
            <a:pPr indent="0" marL="0">
              <a:buNone/>
            </a:pPr>
            <a:r>
              <a:rPr lang="en-US" sz="9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na matriz: </a:t>
            </a:r>
            <a:pPr indent="0" marL="0">
              <a:buNone/>
            </a:pPr>
            <a:r>
              <a:rPr lang="en-US" sz="9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  <a:p>
            <a:pPr indent="0" marL="0">
              <a:buNone/>
            </a:pP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50" dirty="0"/>
          </a:p>
          <a:p>
            <a:pPr indent="0" marL="0">
              <a:buNone/>
            </a:pPr>
            <a:r>
              <a:rPr lang="en-US" sz="10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COMPOSIÇÃO</a:t>
            </a:r>
            <a:endParaRPr lang="en-US" sz="950" dirty="0"/>
          </a:p>
          <a:p>
            <a:pPr indent="0" marL="0">
              <a:buNone/>
            </a:pPr>
            <a:r>
              <a:rPr lang="en-US" sz="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aprovações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contribuinte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cópias</a:t>
            </a:r>
            <a:endParaRPr lang="en-US" sz="950" dirty="0"/>
          </a:p>
        </p:txBody>
      </p:sp>
      <p:sp>
        <p:nvSpPr>
          <p:cNvPr id="84" name="Shape 68"/>
          <p:cNvSpPr/>
          <p:nvPr/>
        </p:nvSpPr>
        <p:spPr>
          <a:xfrm>
            <a:off x="6245352" y="2578608"/>
            <a:ext cx="5669280" cy="3694176"/>
          </a:xfrm>
          <a:prstGeom prst="roundRect">
            <a:avLst>
              <a:gd name="adj" fmla="val 1485"/>
            </a:avLst>
          </a:prstGeom>
          <a:solidFill>
            <a:srgbClr val="EEF7F7"/>
          </a:solidFill>
          <a:ln w="12700">
            <a:solidFill>
              <a:srgbClr val="93CBCB"/>
            </a:solidFill>
            <a:prstDash val="solid"/>
          </a:ln>
        </p:spPr>
      </p:sp>
      <p:sp>
        <p:nvSpPr>
          <p:cNvPr id="85" name="Shape 69"/>
          <p:cNvSpPr/>
          <p:nvPr/>
        </p:nvSpPr>
        <p:spPr>
          <a:xfrm>
            <a:off x="6245352" y="2578608"/>
            <a:ext cx="5669280" cy="365760"/>
          </a:xfrm>
          <a:prstGeom prst="roundRect">
            <a:avLst>
              <a:gd name="adj" fmla="val 15000"/>
            </a:avLst>
          </a:prstGeom>
          <a:solidFill>
            <a:srgbClr val="0E8C8C"/>
          </a:solidFill>
          <a:ln w="12700">
            <a:solidFill>
              <a:srgbClr val="0E8C8C"/>
            </a:solidFill>
            <a:prstDash val="solid"/>
          </a:ln>
        </p:spPr>
      </p:sp>
      <p:sp>
        <p:nvSpPr>
          <p:cNvPr id="86" name="Shape 70"/>
          <p:cNvSpPr/>
          <p:nvPr/>
        </p:nvSpPr>
        <p:spPr>
          <a:xfrm>
            <a:off x="6245352" y="2807208"/>
            <a:ext cx="5669280" cy="137160"/>
          </a:xfrm>
          <a:prstGeom prst="rect">
            <a:avLst/>
          </a:prstGeom>
          <a:solidFill>
            <a:srgbClr val="0E8C8C"/>
          </a:solidFill>
          <a:ln w="12700">
            <a:solidFill>
              <a:srgbClr val="0E8C8C"/>
            </a:solidFill>
            <a:prstDash val="solid"/>
          </a:ln>
        </p:spPr>
      </p:sp>
      <p:sp>
        <p:nvSpPr>
          <p:cNvPr id="87" name="Shape 71"/>
          <p:cNvSpPr/>
          <p:nvPr/>
        </p:nvSpPr>
        <p:spPr>
          <a:xfrm>
            <a:off x="8851392" y="2286000"/>
            <a:ext cx="457200" cy="457200"/>
          </a:xfrm>
          <a:prstGeom prst="ellipse">
            <a:avLst/>
          </a:prstGeom>
          <a:solidFill>
            <a:srgbClr val="0E8C8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8" name="Text 72"/>
          <p:cNvSpPr txBox="1"/>
          <p:nvPr/>
        </p:nvSpPr>
        <p:spPr>
          <a:xfrm>
            <a:off x="8851392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800" dirty="0"/>
          </a:p>
        </p:txBody>
      </p:sp>
      <p:sp>
        <p:nvSpPr>
          <p:cNvPr id="89" name="Text 73"/>
          <p:cNvSpPr txBox="1"/>
          <p:nvPr/>
        </p:nvSpPr>
        <p:spPr>
          <a:xfrm>
            <a:off x="6355080" y="25786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 F</a:t>
            </a:r>
            <a:endParaRPr lang="en-US" sz="1300" dirty="0"/>
          </a:p>
        </p:txBody>
      </p:sp>
      <p:sp>
        <p:nvSpPr>
          <p:cNvPr id="90" name="Text 74"/>
          <p:cNvSpPr txBox="1"/>
          <p:nvPr/>
        </p:nvSpPr>
        <p:spPr>
          <a:xfrm>
            <a:off x="10588752" y="2578608"/>
            <a:ext cx="1216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regras · 12 etapas</a:t>
            </a:r>
            <a:endParaRPr lang="en-US" sz="950" dirty="0"/>
          </a:p>
        </p:txBody>
      </p:sp>
      <p:sp>
        <p:nvSpPr>
          <p:cNvPr id="91" name="Shape 75"/>
          <p:cNvSpPr/>
          <p:nvPr/>
        </p:nvSpPr>
        <p:spPr>
          <a:xfrm>
            <a:off x="6300216" y="3044952"/>
            <a:ext cx="3291840" cy="247650"/>
          </a:xfrm>
          <a:prstGeom prst="roundRect">
            <a:avLst>
              <a:gd name="adj" fmla="val 11077"/>
            </a:avLst>
          </a:prstGeom>
          <a:solidFill>
            <a:srgbClr val="FFF1CC"/>
          </a:solidFill>
          <a:ln w="6350">
            <a:solidFill>
              <a:srgbClr val="F2D27A"/>
            </a:solidFill>
            <a:prstDash val="solid"/>
          </a:ln>
        </p:spPr>
      </p:sp>
      <p:sp>
        <p:nvSpPr>
          <p:cNvPr id="92" name="Text 76"/>
          <p:cNvSpPr txBox="1"/>
          <p:nvPr/>
        </p:nvSpPr>
        <p:spPr>
          <a:xfrm>
            <a:off x="6336792" y="3035808"/>
            <a:ext cx="237744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850" dirty="0"/>
          </a:p>
        </p:txBody>
      </p:sp>
      <p:pic>
        <p:nvPicPr>
          <p:cNvPr id="93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83680" y="3081909"/>
            <a:ext cx="173736" cy="173736"/>
          </a:xfrm>
          <a:prstGeom prst="rect">
            <a:avLst/>
          </a:prstGeom>
        </p:spPr>
      </p:pic>
      <p:sp>
        <p:nvSpPr>
          <p:cNvPr id="94" name="Text 77"/>
          <p:cNvSpPr txBox="1"/>
          <p:nvPr/>
        </p:nvSpPr>
        <p:spPr>
          <a:xfrm>
            <a:off x="6812280" y="3035808"/>
            <a:ext cx="2075688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 ATUAL</a:t>
            </a:r>
            <a:endParaRPr lang="en-US" sz="850" dirty="0"/>
          </a:p>
        </p:txBody>
      </p:sp>
      <p:sp>
        <p:nvSpPr>
          <p:cNvPr id="95" name="Text 78"/>
          <p:cNvSpPr txBox="1"/>
          <p:nvPr/>
        </p:nvSpPr>
        <p:spPr>
          <a:xfrm>
            <a:off x="8878824" y="3035808"/>
            <a:ext cx="676656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96" name="Text 79"/>
          <p:cNvSpPr txBox="1"/>
          <p:nvPr/>
        </p:nvSpPr>
        <p:spPr>
          <a:xfrm>
            <a:off x="6336792" y="3301746"/>
            <a:ext cx="237744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850" dirty="0"/>
          </a:p>
        </p:txBody>
      </p:sp>
      <p:pic>
        <p:nvPicPr>
          <p:cNvPr id="9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83680" y="3347847"/>
            <a:ext cx="173736" cy="173736"/>
          </a:xfrm>
          <a:prstGeom prst="rect">
            <a:avLst/>
          </a:prstGeom>
        </p:spPr>
      </p:pic>
      <p:sp>
        <p:nvSpPr>
          <p:cNvPr id="98" name="Text 80"/>
          <p:cNvSpPr txBox="1"/>
          <p:nvPr/>
        </p:nvSpPr>
        <p:spPr>
          <a:xfrm>
            <a:off x="6812280" y="3301746"/>
            <a:ext cx="2075688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CARREIRA E RECOMPENSA</a:t>
            </a:r>
            <a:endParaRPr lang="en-US" sz="850" dirty="0"/>
          </a:p>
        </p:txBody>
      </p:sp>
      <p:sp>
        <p:nvSpPr>
          <p:cNvPr id="99" name="Text 81"/>
          <p:cNvSpPr txBox="1"/>
          <p:nvPr/>
        </p:nvSpPr>
        <p:spPr>
          <a:xfrm>
            <a:off x="8878824" y="3301746"/>
            <a:ext cx="676656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00" name="Text 82"/>
          <p:cNvSpPr txBox="1"/>
          <p:nvPr/>
        </p:nvSpPr>
        <p:spPr>
          <a:xfrm>
            <a:off x="6336792" y="3567684"/>
            <a:ext cx="237744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850" dirty="0"/>
          </a:p>
        </p:txBody>
      </p:sp>
      <p:pic>
        <p:nvPicPr>
          <p:cNvPr id="101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583680" y="3613785"/>
            <a:ext cx="173736" cy="173736"/>
          </a:xfrm>
          <a:prstGeom prst="rect">
            <a:avLst/>
          </a:prstGeom>
        </p:spPr>
      </p:pic>
      <p:sp>
        <p:nvSpPr>
          <p:cNvPr id="102" name="Text 83"/>
          <p:cNvSpPr txBox="1"/>
          <p:nvPr/>
        </p:nvSpPr>
        <p:spPr>
          <a:xfrm>
            <a:off x="6812280" y="3567684"/>
            <a:ext cx="2075688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850" dirty="0"/>
          </a:p>
        </p:txBody>
      </p:sp>
      <p:sp>
        <p:nvSpPr>
          <p:cNvPr id="103" name="Text 84"/>
          <p:cNvSpPr txBox="1"/>
          <p:nvPr/>
        </p:nvSpPr>
        <p:spPr>
          <a:xfrm>
            <a:off x="8878824" y="3567684"/>
            <a:ext cx="676656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04" name="Text 85"/>
          <p:cNvSpPr txBox="1"/>
          <p:nvPr/>
        </p:nvSpPr>
        <p:spPr>
          <a:xfrm>
            <a:off x="6336792" y="3833622"/>
            <a:ext cx="237744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850" dirty="0"/>
          </a:p>
        </p:txBody>
      </p:sp>
      <p:pic>
        <p:nvPicPr>
          <p:cNvPr id="105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583680" y="3879723"/>
            <a:ext cx="173736" cy="173736"/>
          </a:xfrm>
          <a:prstGeom prst="rect">
            <a:avLst/>
          </a:prstGeom>
        </p:spPr>
      </p:pic>
      <p:sp>
        <p:nvSpPr>
          <p:cNvPr id="106" name="Text 86"/>
          <p:cNvSpPr txBox="1"/>
          <p:nvPr/>
        </p:nvSpPr>
        <p:spPr>
          <a:xfrm>
            <a:off x="6812280" y="3833622"/>
            <a:ext cx="2075688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DESENV. HUMANO ORGANIZACIONAL</a:t>
            </a:r>
            <a:endParaRPr lang="en-US" sz="750" dirty="0"/>
          </a:p>
        </p:txBody>
      </p:sp>
      <p:sp>
        <p:nvSpPr>
          <p:cNvPr id="107" name="Text 87"/>
          <p:cNvSpPr txBox="1"/>
          <p:nvPr/>
        </p:nvSpPr>
        <p:spPr>
          <a:xfrm>
            <a:off x="8878824" y="3833622"/>
            <a:ext cx="676656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08" name="Text 88"/>
          <p:cNvSpPr txBox="1"/>
          <p:nvPr/>
        </p:nvSpPr>
        <p:spPr>
          <a:xfrm>
            <a:off x="6336792" y="4099560"/>
            <a:ext cx="237744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850" dirty="0"/>
          </a:p>
        </p:txBody>
      </p:sp>
      <p:pic>
        <p:nvPicPr>
          <p:cNvPr id="109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583680" y="4145661"/>
            <a:ext cx="173736" cy="173736"/>
          </a:xfrm>
          <a:prstGeom prst="rect">
            <a:avLst/>
          </a:prstGeom>
        </p:spPr>
      </p:pic>
      <p:sp>
        <p:nvSpPr>
          <p:cNvPr id="110" name="Text 89"/>
          <p:cNvSpPr txBox="1"/>
          <p:nvPr/>
        </p:nvSpPr>
        <p:spPr>
          <a:xfrm>
            <a:off x="6812280" y="4099560"/>
            <a:ext cx="2075688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TREINAMENTO</a:t>
            </a:r>
            <a:endParaRPr lang="en-US" sz="850" dirty="0"/>
          </a:p>
        </p:txBody>
      </p:sp>
      <p:sp>
        <p:nvSpPr>
          <p:cNvPr id="111" name="Text 90"/>
          <p:cNvSpPr txBox="1"/>
          <p:nvPr/>
        </p:nvSpPr>
        <p:spPr>
          <a:xfrm>
            <a:off x="8878824" y="4099560"/>
            <a:ext cx="676656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12" name="Text 91"/>
          <p:cNvSpPr txBox="1"/>
          <p:nvPr/>
        </p:nvSpPr>
        <p:spPr>
          <a:xfrm>
            <a:off x="6336792" y="4365498"/>
            <a:ext cx="237744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</a:t>
            </a:r>
            <a:endParaRPr lang="en-US" sz="850" dirty="0"/>
          </a:p>
        </p:txBody>
      </p:sp>
      <p:pic>
        <p:nvPicPr>
          <p:cNvPr id="113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583680" y="4411599"/>
            <a:ext cx="173736" cy="173736"/>
          </a:xfrm>
          <a:prstGeom prst="rect">
            <a:avLst/>
          </a:prstGeom>
        </p:spPr>
      </p:pic>
      <p:sp>
        <p:nvSpPr>
          <p:cNvPr id="114" name="Text 92"/>
          <p:cNvSpPr txBox="1"/>
          <p:nvPr/>
        </p:nvSpPr>
        <p:spPr>
          <a:xfrm>
            <a:off x="6812280" y="4365498"/>
            <a:ext cx="2075688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MEDICINA</a:t>
            </a:r>
            <a:endParaRPr lang="en-US" sz="850" dirty="0"/>
          </a:p>
        </p:txBody>
      </p:sp>
      <p:sp>
        <p:nvSpPr>
          <p:cNvPr id="115" name="Text 93"/>
          <p:cNvSpPr txBox="1"/>
          <p:nvPr/>
        </p:nvSpPr>
        <p:spPr>
          <a:xfrm>
            <a:off x="8878824" y="4365498"/>
            <a:ext cx="676656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16" name="Text 94"/>
          <p:cNvSpPr txBox="1"/>
          <p:nvPr/>
        </p:nvSpPr>
        <p:spPr>
          <a:xfrm>
            <a:off x="6336792" y="4631436"/>
            <a:ext cx="237744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</a:t>
            </a:r>
            <a:endParaRPr lang="en-US" sz="850" dirty="0"/>
          </a:p>
        </p:txBody>
      </p:sp>
      <p:pic>
        <p:nvPicPr>
          <p:cNvPr id="117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583680" y="4677537"/>
            <a:ext cx="173736" cy="173736"/>
          </a:xfrm>
          <a:prstGeom prst="rect">
            <a:avLst/>
          </a:prstGeom>
        </p:spPr>
      </p:pic>
      <p:sp>
        <p:nvSpPr>
          <p:cNvPr id="118" name="Text 95"/>
          <p:cNvSpPr txBox="1"/>
          <p:nvPr/>
        </p:nvSpPr>
        <p:spPr>
          <a:xfrm>
            <a:off x="6812280" y="4631436"/>
            <a:ext cx="2075688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DO TRABALHO</a:t>
            </a:r>
            <a:endParaRPr lang="en-US" sz="850" dirty="0"/>
          </a:p>
        </p:txBody>
      </p:sp>
      <p:sp>
        <p:nvSpPr>
          <p:cNvPr id="119" name="Text 96"/>
          <p:cNvSpPr txBox="1"/>
          <p:nvPr/>
        </p:nvSpPr>
        <p:spPr>
          <a:xfrm>
            <a:off x="8878824" y="4631436"/>
            <a:ext cx="676656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20" name="Text 97"/>
          <p:cNvSpPr txBox="1"/>
          <p:nvPr/>
        </p:nvSpPr>
        <p:spPr>
          <a:xfrm>
            <a:off x="6336792" y="4897374"/>
            <a:ext cx="237744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</a:t>
            </a:r>
            <a:endParaRPr lang="en-US" sz="850" dirty="0"/>
          </a:p>
        </p:txBody>
      </p:sp>
      <p:pic>
        <p:nvPicPr>
          <p:cNvPr id="121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583680" y="4943475"/>
            <a:ext cx="173736" cy="173736"/>
          </a:xfrm>
          <a:prstGeom prst="rect">
            <a:avLst/>
          </a:prstGeom>
        </p:spPr>
      </p:pic>
      <p:sp>
        <p:nvSpPr>
          <p:cNvPr id="122" name="Text 98"/>
          <p:cNvSpPr txBox="1"/>
          <p:nvPr/>
        </p:nvSpPr>
        <p:spPr>
          <a:xfrm>
            <a:off x="6812280" y="4897374"/>
            <a:ext cx="2075688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 SOLICITANTE</a:t>
            </a:r>
            <a:endParaRPr lang="en-US" sz="850" dirty="0"/>
          </a:p>
        </p:txBody>
      </p:sp>
      <p:sp>
        <p:nvSpPr>
          <p:cNvPr id="123" name="Text 99"/>
          <p:cNvSpPr txBox="1"/>
          <p:nvPr/>
        </p:nvSpPr>
        <p:spPr>
          <a:xfrm>
            <a:off x="8878824" y="4897374"/>
            <a:ext cx="676656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8A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CONTRIBUINTE</a:t>
            </a:r>
            <a:endParaRPr lang="en-US" sz="700" dirty="0"/>
          </a:p>
        </p:txBody>
      </p:sp>
      <p:sp>
        <p:nvSpPr>
          <p:cNvPr id="124" name="Text 100"/>
          <p:cNvSpPr txBox="1"/>
          <p:nvPr/>
        </p:nvSpPr>
        <p:spPr>
          <a:xfrm>
            <a:off x="6336792" y="5163312"/>
            <a:ext cx="237744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</a:t>
            </a:r>
            <a:endParaRPr lang="en-US" sz="850" dirty="0"/>
          </a:p>
        </p:txBody>
      </p:sp>
      <p:pic>
        <p:nvPicPr>
          <p:cNvPr id="125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583680" y="5209413"/>
            <a:ext cx="173736" cy="173736"/>
          </a:xfrm>
          <a:prstGeom prst="rect">
            <a:avLst/>
          </a:prstGeom>
        </p:spPr>
      </p:pic>
      <p:sp>
        <p:nvSpPr>
          <p:cNvPr id="126" name="Text 101"/>
          <p:cNvSpPr txBox="1"/>
          <p:nvPr/>
        </p:nvSpPr>
        <p:spPr>
          <a:xfrm>
            <a:off x="6812280" y="5163312"/>
            <a:ext cx="2075688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COLABORADOR</a:t>
            </a:r>
            <a:endParaRPr lang="en-US" sz="850" dirty="0"/>
          </a:p>
        </p:txBody>
      </p:sp>
      <p:sp>
        <p:nvSpPr>
          <p:cNvPr id="127" name="Text 102"/>
          <p:cNvSpPr txBox="1"/>
          <p:nvPr/>
        </p:nvSpPr>
        <p:spPr>
          <a:xfrm>
            <a:off x="8878824" y="5163312"/>
            <a:ext cx="676656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28" name="Text 103"/>
          <p:cNvSpPr txBox="1"/>
          <p:nvPr/>
        </p:nvSpPr>
        <p:spPr>
          <a:xfrm>
            <a:off x="6336792" y="5429250"/>
            <a:ext cx="237744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</a:t>
            </a:r>
            <a:endParaRPr lang="en-US" sz="850" dirty="0"/>
          </a:p>
        </p:txBody>
      </p:sp>
      <p:pic>
        <p:nvPicPr>
          <p:cNvPr id="129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583680" y="5475351"/>
            <a:ext cx="173736" cy="173736"/>
          </a:xfrm>
          <a:prstGeom prst="rect">
            <a:avLst/>
          </a:prstGeom>
        </p:spPr>
      </p:pic>
      <p:sp>
        <p:nvSpPr>
          <p:cNvPr id="130" name="Text 104"/>
          <p:cNvSpPr txBox="1"/>
          <p:nvPr/>
        </p:nvSpPr>
        <p:spPr>
          <a:xfrm>
            <a:off x="6812280" y="5429250"/>
            <a:ext cx="2075688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CARREIRA E RECOMPENSA</a:t>
            </a:r>
            <a:endParaRPr lang="en-US" sz="850" dirty="0"/>
          </a:p>
        </p:txBody>
      </p:sp>
      <p:sp>
        <p:nvSpPr>
          <p:cNvPr id="131" name="Text 105"/>
          <p:cNvSpPr txBox="1"/>
          <p:nvPr/>
        </p:nvSpPr>
        <p:spPr>
          <a:xfrm>
            <a:off x="8878824" y="5429250"/>
            <a:ext cx="676656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32" name="Text 106"/>
          <p:cNvSpPr txBox="1"/>
          <p:nvPr/>
        </p:nvSpPr>
        <p:spPr>
          <a:xfrm>
            <a:off x="6336792" y="5695188"/>
            <a:ext cx="237744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</a:t>
            </a:r>
            <a:endParaRPr lang="en-US" sz="850" dirty="0"/>
          </a:p>
        </p:txBody>
      </p:sp>
      <p:pic>
        <p:nvPicPr>
          <p:cNvPr id="133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583680" y="5741289"/>
            <a:ext cx="173736" cy="173736"/>
          </a:xfrm>
          <a:prstGeom prst="rect">
            <a:avLst/>
          </a:prstGeom>
        </p:spPr>
      </p:pic>
      <p:sp>
        <p:nvSpPr>
          <p:cNvPr id="134" name="Text 107"/>
          <p:cNvSpPr txBox="1"/>
          <p:nvPr/>
        </p:nvSpPr>
        <p:spPr>
          <a:xfrm>
            <a:off x="6812280" y="5695188"/>
            <a:ext cx="2075688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CONTROLADORIA</a:t>
            </a:r>
            <a:endParaRPr lang="en-US" sz="850" dirty="0"/>
          </a:p>
        </p:txBody>
      </p:sp>
      <p:sp>
        <p:nvSpPr>
          <p:cNvPr id="135" name="Text 108"/>
          <p:cNvSpPr txBox="1"/>
          <p:nvPr/>
        </p:nvSpPr>
        <p:spPr>
          <a:xfrm>
            <a:off x="8878824" y="5695188"/>
            <a:ext cx="676656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CÓPIA</a:t>
            </a:r>
            <a:endParaRPr lang="en-US" sz="700" dirty="0"/>
          </a:p>
        </p:txBody>
      </p:sp>
      <p:sp>
        <p:nvSpPr>
          <p:cNvPr id="136" name="Text 109"/>
          <p:cNvSpPr txBox="1"/>
          <p:nvPr/>
        </p:nvSpPr>
        <p:spPr>
          <a:xfrm>
            <a:off x="6336792" y="5961126"/>
            <a:ext cx="237744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</a:t>
            </a:r>
            <a:endParaRPr lang="en-US" sz="850" dirty="0"/>
          </a:p>
        </p:txBody>
      </p:sp>
      <p:pic>
        <p:nvPicPr>
          <p:cNvPr id="137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583680" y="6007227"/>
            <a:ext cx="173736" cy="173736"/>
          </a:xfrm>
          <a:prstGeom prst="rect">
            <a:avLst/>
          </a:prstGeom>
        </p:spPr>
      </p:pic>
      <p:sp>
        <p:nvSpPr>
          <p:cNvPr id="138" name="Text 110"/>
          <p:cNvSpPr txBox="1"/>
          <p:nvPr/>
        </p:nvSpPr>
        <p:spPr>
          <a:xfrm>
            <a:off x="6812280" y="5961126"/>
            <a:ext cx="2075688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FOLHA DE PAGAMENTO</a:t>
            </a:r>
            <a:endParaRPr lang="en-US" sz="850" dirty="0"/>
          </a:p>
        </p:txBody>
      </p:sp>
      <p:sp>
        <p:nvSpPr>
          <p:cNvPr id="139" name="Text 111"/>
          <p:cNvSpPr txBox="1"/>
          <p:nvPr/>
        </p:nvSpPr>
        <p:spPr>
          <a:xfrm>
            <a:off x="8878824" y="5961126"/>
            <a:ext cx="676656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CÓPIA</a:t>
            </a:r>
            <a:endParaRPr lang="en-US" sz="700" dirty="0"/>
          </a:p>
        </p:txBody>
      </p:sp>
      <p:sp>
        <p:nvSpPr>
          <p:cNvPr id="140" name="Shape 112"/>
          <p:cNvSpPr/>
          <p:nvPr/>
        </p:nvSpPr>
        <p:spPr>
          <a:xfrm>
            <a:off x="9738360" y="3035808"/>
            <a:ext cx="2066544" cy="3127248"/>
          </a:xfrm>
          <a:prstGeom prst="roundRect">
            <a:avLst>
              <a:gd name="adj" fmla="val 1770"/>
            </a:avLst>
          </a:prstGeom>
          <a:solidFill>
            <a:srgbClr val="FFFFFF"/>
          </a:solidFill>
          <a:ln w="9525">
            <a:solidFill>
              <a:srgbClr val="9FD1D1"/>
            </a:solidFill>
            <a:prstDash val="solid"/>
          </a:ln>
        </p:spPr>
      </p:sp>
      <p:sp>
        <p:nvSpPr>
          <p:cNvPr id="141" name="Text 113"/>
          <p:cNvSpPr txBox="1"/>
          <p:nvPr/>
        </p:nvSpPr>
        <p:spPr>
          <a:xfrm>
            <a:off x="9866376" y="3145536"/>
            <a:ext cx="1810512" cy="2907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SE APLICA</a:t>
            </a:r>
            <a:endParaRPr lang="en-US" sz="950" dirty="0"/>
          </a:p>
          <a:p>
            <a:pPr indent="0" marL="0">
              <a:buNone/>
            </a:pPr>
            <a:r>
              <a:rPr lang="en-US" sz="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Evento: </a:t>
            </a:r>
            <a:pPr indent="0" marL="0">
              <a:buNone/>
            </a:pPr>
            <a:r>
              <a:rPr lang="en-US" sz="9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PROMOÇÃO DE CARGO (CARGO DE CONFIANÇA)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Mão de obra destino: </a:t>
            </a:r>
            <a:pPr indent="0" marL="0">
              <a:buNone/>
            </a:pPr>
            <a:r>
              <a:rPr lang="en-US" sz="9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Altera gestor: </a:t>
            </a:r>
            <a:pPr indent="0" marL="0">
              <a:buNone/>
            </a:pPr>
            <a:r>
              <a:rPr lang="en-US" sz="9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na matriz: </a:t>
            </a:r>
            <a:pPr indent="0" marL="0">
              <a:buNone/>
            </a:pPr>
            <a:r>
              <a:rPr lang="en-US" sz="9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  <a:p>
            <a:pPr indent="0" marL="0">
              <a:buNone/>
            </a:pP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50" dirty="0"/>
          </a:p>
          <a:p>
            <a:pPr indent="0" marL="0">
              <a:buNone/>
            </a:pPr>
            <a:r>
              <a:rPr lang="en-US" sz="1000" b="1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COMPOSIÇÃO</a:t>
            </a:r>
            <a:endParaRPr lang="en-US" sz="950" dirty="0"/>
          </a:p>
          <a:p>
            <a:pPr indent="0" marL="0">
              <a:buNone/>
            </a:pPr>
            <a:r>
              <a:rPr lang="en-US" sz="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aprovações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contribuinte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cópias</a:t>
            </a:r>
            <a:endParaRPr lang="en-US" sz="950" dirty="0"/>
          </a:p>
        </p:txBody>
      </p:sp>
      <p:sp>
        <p:nvSpPr>
          <p:cNvPr id="142" name="Shape 114"/>
          <p:cNvSpPr/>
          <p:nvPr/>
        </p:nvSpPr>
        <p:spPr>
          <a:xfrm>
            <a:off x="320040" y="6364224"/>
            <a:ext cx="8412480" cy="365760"/>
          </a:xfrm>
          <a:prstGeom prst="roundRect">
            <a:avLst>
              <a:gd name="adj" fmla="val 12500"/>
            </a:avLst>
          </a:prstGeom>
          <a:solidFill>
            <a:srgbClr val="E9F0F9"/>
          </a:solidFill>
          <a:ln w="12700">
            <a:solidFill>
              <a:srgbClr val="C9D6EA"/>
            </a:solidFill>
            <a:prstDash val="solid"/>
          </a:ln>
        </p:spPr>
      </p:sp>
      <p:sp>
        <p:nvSpPr>
          <p:cNvPr id="143" name="Text 115"/>
          <p:cNvSpPr txBox="1"/>
          <p:nvPr/>
        </p:nvSpPr>
        <p:spPr>
          <a:xfrm>
            <a:off x="429768" y="636422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23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ALTERAM A ROTA NESTE EVENTO:  </a:t>
            </a:r>
            <a:pPr indent="0" marL="0">
              <a:buNone/>
            </a:pP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 filial / Muda setor (NÃO/NÃO · NÃO/SIM · SIM/SIM)  ·  Natureza atual: Gestão ou Não gestão  ·  Natureza destino: Gestão  ·  Mão de obra de destino: sempre MOI</a:t>
            </a:r>
            <a:endParaRPr lang="en-US" sz="800" dirty="0"/>
          </a:p>
        </p:txBody>
      </p:sp>
      <p:sp>
        <p:nvSpPr>
          <p:cNvPr id="144" name="Shape 116"/>
          <p:cNvSpPr/>
          <p:nvPr/>
        </p:nvSpPr>
        <p:spPr>
          <a:xfrm>
            <a:off x="8869680" y="6364224"/>
            <a:ext cx="3044952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C9D6EA"/>
            </a:solidFill>
            <a:prstDash val="solid"/>
          </a:ln>
        </p:spPr>
      </p:sp>
      <p:sp>
        <p:nvSpPr>
          <p:cNvPr id="145" name="Shape 117"/>
          <p:cNvSpPr/>
          <p:nvPr/>
        </p:nvSpPr>
        <p:spPr>
          <a:xfrm>
            <a:off x="8961120" y="6446520"/>
            <a:ext cx="320040" cy="201168"/>
          </a:xfrm>
          <a:prstGeom prst="roundRect">
            <a:avLst>
              <a:gd name="adj" fmla="val 13636"/>
            </a:avLst>
          </a:prstGeom>
          <a:solidFill>
            <a:srgbClr val="FFF1CC"/>
          </a:solidFill>
          <a:ln w="6350">
            <a:solidFill>
              <a:srgbClr val="F2D27A"/>
            </a:solidFill>
            <a:prstDash val="solid"/>
          </a:ln>
        </p:spPr>
      </p:sp>
      <p:sp>
        <p:nvSpPr>
          <p:cNvPr id="146" name="Text 118"/>
          <p:cNvSpPr txBox="1"/>
          <p:nvPr/>
        </p:nvSpPr>
        <p:spPr>
          <a:xfrm>
            <a:off x="9345168" y="6364224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que muda conforme a decisão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11640312" cy="749808"/>
          </a:xfrm>
          <a:prstGeom prst="roundRect">
            <a:avLst>
              <a:gd name="adj" fmla="val 7317"/>
            </a:avLst>
          </a:prstGeom>
          <a:solidFill>
            <a:srgbClr val="123C7A"/>
          </a:solidFill>
          <a:ln w="12700">
            <a:solidFill>
              <a:srgbClr val="123C7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219456"/>
            <a:ext cx="116403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DE APROVAÇÃO – PROMOÇÃO DE CARGO – EQUIPES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274320" y="585216"/>
            <a:ext cx="11640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MOVIMENTAÇÃO DE PESSOAS  ·  EVENTO 3 DE 5  ·  12 REGRAS CONSOLIDADAS EM 4 ROTAS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20040" y="1280160"/>
            <a:ext cx="914400" cy="402336"/>
          </a:xfrm>
          <a:prstGeom prst="roundRect">
            <a:avLst>
              <a:gd name="adj" fmla="val 50000"/>
            </a:avLst>
          </a:prstGeom>
          <a:solidFill>
            <a:srgbClr val="2E8B3E"/>
          </a:solidFill>
          <a:ln w="12700">
            <a:solidFill>
              <a:srgbClr val="2E8B3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20040" y="1280160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INÍCIO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234440" y="1481328"/>
            <a:ext cx="182880" cy="0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417320" y="1115568"/>
            <a:ext cx="1874520" cy="731520"/>
          </a:xfrm>
          <a:prstGeom prst="roundRect">
            <a:avLst>
              <a:gd name="adj" fmla="val 6250"/>
            </a:avLst>
          </a:prstGeom>
          <a:solidFill>
            <a:srgbClr val="E9F0F9"/>
          </a:solidFill>
          <a:ln w="12700">
            <a:solidFill>
              <a:srgbClr val="C9D6EA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1325880"/>
            <a:ext cx="310896" cy="310896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892808" y="1115568"/>
            <a:ext cx="1353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3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MOTIVO (GESTOR)</a:t>
            </a:r>
            <a:endParaRPr lang="en-US" sz="1050" dirty="0"/>
          </a:p>
          <a:p>
            <a:pPr indent="0" marL="0">
              <a:buNone/>
            </a:pPr>
            <a:r>
              <a:rPr lang="en-US" sz="9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MOVIMENTAÇÃO DE PESSOAS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291840" y="1481328"/>
            <a:ext cx="182880" cy="0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3474720" y="1115568"/>
            <a:ext cx="2331720" cy="731520"/>
          </a:xfrm>
          <a:prstGeom prst="roundRect">
            <a:avLst>
              <a:gd name="adj" fmla="val 6250"/>
            </a:avLst>
          </a:prstGeom>
          <a:solidFill>
            <a:srgbClr val="E9F0F9"/>
          </a:solidFill>
          <a:ln w="12700">
            <a:solidFill>
              <a:srgbClr val="C9D6EA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325880"/>
            <a:ext cx="310896" cy="31089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950208" y="1115568"/>
            <a:ext cx="1810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3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EVENTO (C&amp;R)</a:t>
            </a:r>
            <a:endParaRPr lang="en-US" sz="1050" dirty="0"/>
          </a:p>
          <a:p>
            <a:pPr indent="0" marL="0">
              <a:buNone/>
            </a:pPr>
            <a:r>
              <a:rPr lang="en-US" sz="9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PROMOÇÃO DE CARGO (EQUIPES)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806440" y="1481328"/>
            <a:ext cx="182880" cy="0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5989320" y="1115568"/>
            <a:ext cx="1783080" cy="731520"/>
          </a:xfrm>
          <a:prstGeom prst="roundRect">
            <a:avLst>
              <a:gd name="adj" fmla="val 6250"/>
            </a:avLst>
          </a:prstGeom>
          <a:solidFill>
            <a:srgbClr val="E3F1E4"/>
          </a:solidFill>
          <a:ln w="12700">
            <a:solidFill>
              <a:srgbClr val="A8D1A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071616" y="1307592"/>
            <a:ext cx="347472" cy="347472"/>
          </a:xfrm>
          <a:prstGeom prst="ellipse">
            <a:avLst/>
          </a:prstGeom>
          <a:solidFill>
            <a:srgbClr val="2E8B3E"/>
          </a:solidFill>
          <a:ln w="12700">
            <a:solidFill>
              <a:srgbClr val="2E8B3E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3912" y="1389888"/>
            <a:ext cx="182880" cy="18288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492240" y="1115568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INICIAR ANÁLISE DAS CONDIÇÕES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10287000" y="1115568"/>
            <a:ext cx="162763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9D6EA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10287000" y="1115568"/>
            <a:ext cx="1627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3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regras</a:t>
            </a:r>
            <a:endParaRPr lang="en-US" sz="15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4 rotas de aprovação</a:t>
            </a:r>
            <a:endParaRPr lang="en-US" sz="1500" dirty="0"/>
          </a:p>
        </p:txBody>
      </p:sp>
      <p:sp>
        <p:nvSpPr>
          <p:cNvPr id="22" name="Shape 17"/>
          <p:cNvSpPr/>
          <p:nvPr/>
        </p:nvSpPr>
        <p:spPr>
          <a:xfrm>
            <a:off x="7772400" y="1481328"/>
            <a:ext cx="381076" cy="0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  <a:tailEnd type="triangle"/>
          </a:ln>
        </p:spPr>
      </p:sp>
      <p:sp>
        <p:nvSpPr>
          <p:cNvPr id="23" name="Shape 18"/>
          <p:cNvSpPr/>
          <p:nvPr/>
        </p:nvSpPr>
        <p:spPr>
          <a:xfrm>
            <a:off x="8153476" y="1024128"/>
            <a:ext cx="1828800" cy="914400"/>
          </a:xfrm>
          <a:prstGeom prst="diamond">
            <a:avLst/>
          </a:prstGeom>
          <a:solidFill>
            <a:srgbClr val="D6E4F5"/>
          </a:solidFill>
          <a:ln w="19050">
            <a:solidFill>
              <a:srgbClr val="2B4F8C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8409508" y="1207008"/>
            <a:ext cx="1316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23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MÃO DE OBRA DE DESTINO É MOD?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9067876" y="1938528"/>
            <a:ext cx="0" cy="109728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3166796" y="2048256"/>
            <a:ext cx="5901080" cy="0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3166796" y="2048256"/>
            <a:ext cx="0" cy="164592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  <a:tailEnd type="triangle"/>
          </a:ln>
        </p:spPr>
      </p:sp>
      <p:sp>
        <p:nvSpPr>
          <p:cNvPr id="28" name="Shape 23"/>
          <p:cNvSpPr/>
          <p:nvPr/>
        </p:nvSpPr>
        <p:spPr>
          <a:xfrm>
            <a:off x="9067876" y="2048256"/>
            <a:ext cx="0" cy="164592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  <a:tailEnd type="triangle"/>
          </a:ln>
        </p:spPr>
      </p:sp>
      <p:sp>
        <p:nvSpPr>
          <p:cNvPr id="29" name="Text 24"/>
          <p:cNvSpPr txBox="1"/>
          <p:nvPr/>
        </p:nvSpPr>
        <p:spPr>
          <a:xfrm>
            <a:off x="3239948" y="18470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 (MOD)</a:t>
            </a:r>
            <a:endParaRPr lang="en-US" sz="1000" dirty="0"/>
          </a:p>
        </p:txBody>
      </p:sp>
      <p:sp>
        <p:nvSpPr>
          <p:cNvPr id="30" name="Text 25"/>
          <p:cNvSpPr txBox="1"/>
          <p:nvPr/>
        </p:nvSpPr>
        <p:spPr>
          <a:xfrm>
            <a:off x="9141028" y="202996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(MOI)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2366696" y="2212848"/>
            <a:ext cx="1600200" cy="658368"/>
          </a:xfrm>
          <a:prstGeom prst="diamond">
            <a:avLst/>
          </a:prstGeom>
          <a:solidFill>
            <a:srgbClr val="D6E4F5"/>
          </a:solidFill>
          <a:ln w="19050">
            <a:solidFill>
              <a:srgbClr val="2B4F8C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2590724" y="2344522"/>
            <a:ext cx="1152144" cy="395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23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ALTERA GESTOR?</a:t>
            </a:r>
            <a:endParaRPr lang="en-US" sz="950" dirty="0"/>
          </a:p>
        </p:txBody>
      </p:sp>
      <p:sp>
        <p:nvSpPr>
          <p:cNvPr id="33" name="Shape 28"/>
          <p:cNvSpPr/>
          <p:nvPr/>
        </p:nvSpPr>
        <p:spPr>
          <a:xfrm flipH="1">
            <a:off x="1691526" y="2542032"/>
            <a:ext cx="675170" cy="0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1691526" y="2542032"/>
            <a:ext cx="0" cy="310896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  <a:tailEnd type="triangle"/>
          </a:ln>
        </p:spPr>
      </p:sp>
      <p:sp>
        <p:nvSpPr>
          <p:cNvPr id="35" name="Shape 30"/>
          <p:cNvSpPr/>
          <p:nvPr/>
        </p:nvSpPr>
        <p:spPr>
          <a:xfrm>
            <a:off x="3966896" y="2542032"/>
            <a:ext cx="675170" cy="0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4642066" y="2542032"/>
            <a:ext cx="0" cy="310896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  <a:tailEnd type="triangle"/>
          </a:ln>
        </p:spPr>
      </p:sp>
      <p:sp>
        <p:nvSpPr>
          <p:cNvPr id="37" name="Text 32"/>
          <p:cNvSpPr txBox="1"/>
          <p:nvPr/>
        </p:nvSpPr>
        <p:spPr>
          <a:xfrm>
            <a:off x="1764678" y="232257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endParaRPr lang="en-US" sz="1000" dirty="0"/>
          </a:p>
        </p:txBody>
      </p:sp>
      <p:sp>
        <p:nvSpPr>
          <p:cNvPr id="38" name="Text 33"/>
          <p:cNvSpPr txBox="1"/>
          <p:nvPr/>
        </p:nvSpPr>
        <p:spPr>
          <a:xfrm>
            <a:off x="4203154" y="232257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</a:t>
            </a:r>
            <a:endParaRPr lang="en-US" sz="1000" dirty="0"/>
          </a:p>
        </p:txBody>
      </p:sp>
      <p:sp>
        <p:nvSpPr>
          <p:cNvPr id="39" name="Shape 34"/>
          <p:cNvSpPr/>
          <p:nvPr/>
        </p:nvSpPr>
        <p:spPr>
          <a:xfrm>
            <a:off x="8267776" y="2212848"/>
            <a:ext cx="1600200" cy="658368"/>
          </a:xfrm>
          <a:prstGeom prst="diamond">
            <a:avLst/>
          </a:prstGeom>
          <a:solidFill>
            <a:srgbClr val="D6E4F5"/>
          </a:solidFill>
          <a:ln w="19050">
            <a:solidFill>
              <a:srgbClr val="2B4F8C"/>
            </a:solidFill>
            <a:prstDash val="solid"/>
          </a:ln>
        </p:spPr>
      </p:sp>
      <p:sp>
        <p:nvSpPr>
          <p:cNvPr id="40" name="Text 35"/>
          <p:cNvSpPr txBox="1"/>
          <p:nvPr/>
        </p:nvSpPr>
        <p:spPr>
          <a:xfrm>
            <a:off x="8491804" y="2344522"/>
            <a:ext cx="1152144" cy="395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23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ALTERA GESTOR?</a:t>
            </a:r>
            <a:endParaRPr lang="en-US" sz="950" dirty="0"/>
          </a:p>
        </p:txBody>
      </p:sp>
      <p:sp>
        <p:nvSpPr>
          <p:cNvPr id="41" name="Shape 36"/>
          <p:cNvSpPr/>
          <p:nvPr/>
        </p:nvSpPr>
        <p:spPr>
          <a:xfrm flipH="1">
            <a:off x="7592606" y="2542032"/>
            <a:ext cx="675170" cy="0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7592606" y="2542032"/>
            <a:ext cx="0" cy="310896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  <a:tailEnd type="triangle"/>
          </a:ln>
        </p:spPr>
      </p:sp>
      <p:sp>
        <p:nvSpPr>
          <p:cNvPr id="43" name="Shape 38"/>
          <p:cNvSpPr/>
          <p:nvPr/>
        </p:nvSpPr>
        <p:spPr>
          <a:xfrm>
            <a:off x="9867976" y="2542032"/>
            <a:ext cx="675170" cy="0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10543146" y="2542032"/>
            <a:ext cx="0" cy="310896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  <a:tailEnd type="triangle"/>
          </a:ln>
        </p:spPr>
      </p:sp>
      <p:sp>
        <p:nvSpPr>
          <p:cNvPr id="45" name="Text 40"/>
          <p:cNvSpPr txBox="1"/>
          <p:nvPr/>
        </p:nvSpPr>
        <p:spPr>
          <a:xfrm>
            <a:off x="7665758" y="232257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endParaRPr lang="en-US" sz="1000" dirty="0"/>
          </a:p>
        </p:txBody>
      </p:sp>
      <p:sp>
        <p:nvSpPr>
          <p:cNvPr id="46" name="Text 41"/>
          <p:cNvSpPr txBox="1"/>
          <p:nvPr/>
        </p:nvSpPr>
        <p:spPr>
          <a:xfrm>
            <a:off x="10104234" y="232257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</a:t>
            </a:r>
            <a:endParaRPr lang="en-US" sz="1000" dirty="0"/>
          </a:p>
        </p:txBody>
      </p:sp>
      <p:sp>
        <p:nvSpPr>
          <p:cNvPr id="47" name="Shape 42"/>
          <p:cNvSpPr/>
          <p:nvPr/>
        </p:nvSpPr>
        <p:spPr>
          <a:xfrm>
            <a:off x="320040" y="3127248"/>
            <a:ext cx="2742971" cy="3145536"/>
          </a:xfrm>
          <a:prstGeom prst="roundRect">
            <a:avLst>
              <a:gd name="adj" fmla="val 2000"/>
            </a:avLst>
          </a:prstGeom>
          <a:solidFill>
            <a:srgbClr val="F0F7F1"/>
          </a:solidFill>
          <a:ln w="12700">
            <a:solidFill>
              <a:srgbClr val="A1CBA8"/>
            </a:solidFill>
            <a:prstDash val="solid"/>
          </a:ln>
        </p:spPr>
      </p:sp>
      <p:sp>
        <p:nvSpPr>
          <p:cNvPr id="48" name="Shape 43"/>
          <p:cNvSpPr/>
          <p:nvPr/>
        </p:nvSpPr>
        <p:spPr>
          <a:xfrm>
            <a:off x="320040" y="3127248"/>
            <a:ext cx="2742971" cy="365760"/>
          </a:xfrm>
          <a:prstGeom prst="roundRect">
            <a:avLst>
              <a:gd name="adj" fmla="val 15000"/>
            </a:avLst>
          </a:prstGeom>
          <a:solidFill>
            <a:srgbClr val="2E8B3E"/>
          </a:solidFill>
          <a:ln w="12700">
            <a:solidFill>
              <a:srgbClr val="2E8B3E"/>
            </a:solidFill>
            <a:prstDash val="solid"/>
          </a:ln>
        </p:spPr>
      </p:sp>
      <p:sp>
        <p:nvSpPr>
          <p:cNvPr id="49" name="Shape 44"/>
          <p:cNvSpPr/>
          <p:nvPr/>
        </p:nvSpPr>
        <p:spPr>
          <a:xfrm>
            <a:off x="320040" y="3355848"/>
            <a:ext cx="2742971" cy="137160"/>
          </a:xfrm>
          <a:prstGeom prst="rect">
            <a:avLst/>
          </a:prstGeom>
          <a:solidFill>
            <a:srgbClr val="2E8B3E"/>
          </a:solidFill>
          <a:ln w="12700">
            <a:solidFill>
              <a:srgbClr val="2E8B3E"/>
            </a:solidFill>
            <a:prstDash val="solid"/>
          </a:ln>
        </p:spPr>
      </p:sp>
      <p:sp>
        <p:nvSpPr>
          <p:cNvPr id="50" name="Shape 45"/>
          <p:cNvSpPr/>
          <p:nvPr/>
        </p:nvSpPr>
        <p:spPr>
          <a:xfrm>
            <a:off x="1462926" y="2852928"/>
            <a:ext cx="457200" cy="457200"/>
          </a:xfrm>
          <a:prstGeom prst="ellipse">
            <a:avLst/>
          </a:prstGeom>
          <a:solidFill>
            <a:srgbClr val="2E8B3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1" name="Text 46"/>
          <p:cNvSpPr txBox="1"/>
          <p:nvPr/>
        </p:nvSpPr>
        <p:spPr>
          <a:xfrm>
            <a:off x="1462926" y="2852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52" name="Text 47"/>
          <p:cNvSpPr txBox="1"/>
          <p:nvPr/>
        </p:nvSpPr>
        <p:spPr>
          <a:xfrm>
            <a:off x="429768" y="31272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 C</a:t>
            </a:r>
            <a:endParaRPr lang="en-US" sz="1300" dirty="0"/>
          </a:p>
        </p:txBody>
      </p:sp>
      <p:sp>
        <p:nvSpPr>
          <p:cNvPr id="53" name="Text 48"/>
          <p:cNvSpPr txBox="1"/>
          <p:nvPr/>
        </p:nvSpPr>
        <p:spPr>
          <a:xfrm>
            <a:off x="1737131" y="3127248"/>
            <a:ext cx="1216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regras · 7 etapas</a:t>
            </a:r>
            <a:endParaRPr lang="en-US" sz="950" dirty="0"/>
          </a:p>
        </p:txBody>
      </p:sp>
      <p:sp>
        <p:nvSpPr>
          <p:cNvPr id="54" name="Text 49"/>
          <p:cNvSpPr txBox="1"/>
          <p:nvPr/>
        </p:nvSpPr>
        <p:spPr>
          <a:xfrm>
            <a:off x="411480" y="3584448"/>
            <a:ext cx="237744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850" dirty="0"/>
          </a:p>
        </p:txBody>
      </p:sp>
      <p:pic>
        <p:nvPicPr>
          <p:cNvPr id="5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3629711"/>
            <a:ext cx="173736" cy="173736"/>
          </a:xfrm>
          <a:prstGeom prst="rect">
            <a:avLst/>
          </a:prstGeom>
        </p:spPr>
      </p:pic>
      <p:sp>
        <p:nvSpPr>
          <p:cNvPr id="56" name="Text 50"/>
          <p:cNvSpPr txBox="1"/>
          <p:nvPr/>
        </p:nvSpPr>
        <p:spPr>
          <a:xfrm>
            <a:off x="886968" y="3584448"/>
            <a:ext cx="1417091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CARREIRA E RECOMPENSA</a:t>
            </a:r>
            <a:endParaRPr lang="en-US" sz="850" dirty="0"/>
          </a:p>
        </p:txBody>
      </p:sp>
      <p:sp>
        <p:nvSpPr>
          <p:cNvPr id="57" name="Text 51"/>
          <p:cNvSpPr txBox="1"/>
          <p:nvPr/>
        </p:nvSpPr>
        <p:spPr>
          <a:xfrm>
            <a:off x="2294915" y="3584448"/>
            <a:ext cx="676656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58" name="Text 52"/>
          <p:cNvSpPr txBox="1"/>
          <p:nvPr/>
        </p:nvSpPr>
        <p:spPr>
          <a:xfrm>
            <a:off x="411480" y="3848710"/>
            <a:ext cx="237744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850" dirty="0"/>
          </a:p>
        </p:txBody>
      </p:sp>
      <p:pic>
        <p:nvPicPr>
          <p:cNvPr id="5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3893972"/>
            <a:ext cx="173736" cy="173736"/>
          </a:xfrm>
          <a:prstGeom prst="rect">
            <a:avLst/>
          </a:prstGeom>
        </p:spPr>
      </p:pic>
      <p:sp>
        <p:nvSpPr>
          <p:cNvPr id="60" name="Text 53"/>
          <p:cNvSpPr txBox="1"/>
          <p:nvPr/>
        </p:nvSpPr>
        <p:spPr>
          <a:xfrm>
            <a:off x="886968" y="3848710"/>
            <a:ext cx="1417091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TREINAMENTO</a:t>
            </a:r>
            <a:endParaRPr lang="en-US" sz="850" dirty="0"/>
          </a:p>
        </p:txBody>
      </p:sp>
      <p:sp>
        <p:nvSpPr>
          <p:cNvPr id="61" name="Text 54"/>
          <p:cNvSpPr txBox="1"/>
          <p:nvPr/>
        </p:nvSpPr>
        <p:spPr>
          <a:xfrm>
            <a:off x="2294915" y="3848710"/>
            <a:ext cx="676656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62" name="Text 55"/>
          <p:cNvSpPr txBox="1"/>
          <p:nvPr/>
        </p:nvSpPr>
        <p:spPr>
          <a:xfrm>
            <a:off x="411480" y="4112971"/>
            <a:ext cx="237744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850" dirty="0"/>
          </a:p>
        </p:txBody>
      </p:sp>
      <p:pic>
        <p:nvPicPr>
          <p:cNvPr id="6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" y="4158234"/>
            <a:ext cx="173736" cy="173736"/>
          </a:xfrm>
          <a:prstGeom prst="rect">
            <a:avLst/>
          </a:prstGeom>
        </p:spPr>
      </p:pic>
      <p:sp>
        <p:nvSpPr>
          <p:cNvPr id="64" name="Text 56"/>
          <p:cNvSpPr txBox="1"/>
          <p:nvPr/>
        </p:nvSpPr>
        <p:spPr>
          <a:xfrm>
            <a:off x="886968" y="4112971"/>
            <a:ext cx="1417091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MEDICINA</a:t>
            </a:r>
            <a:endParaRPr lang="en-US" sz="850" dirty="0"/>
          </a:p>
        </p:txBody>
      </p:sp>
      <p:sp>
        <p:nvSpPr>
          <p:cNvPr id="65" name="Text 57"/>
          <p:cNvSpPr txBox="1"/>
          <p:nvPr/>
        </p:nvSpPr>
        <p:spPr>
          <a:xfrm>
            <a:off x="2294915" y="4112971"/>
            <a:ext cx="676656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66" name="Text 58"/>
          <p:cNvSpPr txBox="1"/>
          <p:nvPr/>
        </p:nvSpPr>
        <p:spPr>
          <a:xfrm>
            <a:off x="411480" y="4377233"/>
            <a:ext cx="237744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850" dirty="0"/>
          </a:p>
        </p:txBody>
      </p:sp>
      <p:pic>
        <p:nvPicPr>
          <p:cNvPr id="6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368" y="4422496"/>
            <a:ext cx="173736" cy="173736"/>
          </a:xfrm>
          <a:prstGeom prst="rect">
            <a:avLst/>
          </a:prstGeom>
        </p:spPr>
      </p:pic>
      <p:sp>
        <p:nvSpPr>
          <p:cNvPr id="68" name="Text 59"/>
          <p:cNvSpPr txBox="1"/>
          <p:nvPr/>
        </p:nvSpPr>
        <p:spPr>
          <a:xfrm>
            <a:off x="886968" y="4377233"/>
            <a:ext cx="1417091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DO TRABALHO</a:t>
            </a:r>
            <a:endParaRPr lang="en-US" sz="850" dirty="0"/>
          </a:p>
        </p:txBody>
      </p:sp>
      <p:sp>
        <p:nvSpPr>
          <p:cNvPr id="69" name="Text 60"/>
          <p:cNvSpPr txBox="1"/>
          <p:nvPr/>
        </p:nvSpPr>
        <p:spPr>
          <a:xfrm>
            <a:off x="2294915" y="4377233"/>
            <a:ext cx="676656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70" name="Text 61"/>
          <p:cNvSpPr txBox="1"/>
          <p:nvPr/>
        </p:nvSpPr>
        <p:spPr>
          <a:xfrm>
            <a:off x="411480" y="4641494"/>
            <a:ext cx="237744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850" dirty="0"/>
          </a:p>
        </p:txBody>
      </p:sp>
      <p:pic>
        <p:nvPicPr>
          <p:cNvPr id="7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368" y="4686757"/>
            <a:ext cx="173736" cy="173736"/>
          </a:xfrm>
          <a:prstGeom prst="rect">
            <a:avLst/>
          </a:prstGeom>
        </p:spPr>
      </p:pic>
      <p:sp>
        <p:nvSpPr>
          <p:cNvPr id="72" name="Text 62"/>
          <p:cNvSpPr txBox="1"/>
          <p:nvPr/>
        </p:nvSpPr>
        <p:spPr>
          <a:xfrm>
            <a:off x="886968" y="4641494"/>
            <a:ext cx="1417091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 SOLICITANTE</a:t>
            </a:r>
            <a:endParaRPr lang="en-US" sz="850" dirty="0"/>
          </a:p>
        </p:txBody>
      </p:sp>
      <p:sp>
        <p:nvSpPr>
          <p:cNvPr id="73" name="Text 63"/>
          <p:cNvSpPr txBox="1"/>
          <p:nvPr/>
        </p:nvSpPr>
        <p:spPr>
          <a:xfrm>
            <a:off x="2294915" y="4641494"/>
            <a:ext cx="676656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8A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CONTRIBUINTE</a:t>
            </a:r>
            <a:endParaRPr lang="en-US" sz="700" dirty="0"/>
          </a:p>
        </p:txBody>
      </p:sp>
      <p:sp>
        <p:nvSpPr>
          <p:cNvPr id="74" name="Text 64"/>
          <p:cNvSpPr txBox="1"/>
          <p:nvPr/>
        </p:nvSpPr>
        <p:spPr>
          <a:xfrm>
            <a:off x="411480" y="4905756"/>
            <a:ext cx="237744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</a:t>
            </a:r>
            <a:endParaRPr lang="en-US" sz="850" dirty="0"/>
          </a:p>
        </p:txBody>
      </p:sp>
      <p:pic>
        <p:nvPicPr>
          <p:cNvPr id="7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8368" y="4951019"/>
            <a:ext cx="173736" cy="173736"/>
          </a:xfrm>
          <a:prstGeom prst="rect">
            <a:avLst/>
          </a:prstGeom>
        </p:spPr>
      </p:pic>
      <p:sp>
        <p:nvSpPr>
          <p:cNvPr id="76" name="Text 65"/>
          <p:cNvSpPr txBox="1"/>
          <p:nvPr/>
        </p:nvSpPr>
        <p:spPr>
          <a:xfrm>
            <a:off x="886968" y="4905756"/>
            <a:ext cx="1417091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COLABORADOR</a:t>
            </a:r>
            <a:endParaRPr lang="en-US" sz="850" dirty="0"/>
          </a:p>
        </p:txBody>
      </p:sp>
      <p:sp>
        <p:nvSpPr>
          <p:cNvPr id="77" name="Text 66"/>
          <p:cNvSpPr txBox="1"/>
          <p:nvPr/>
        </p:nvSpPr>
        <p:spPr>
          <a:xfrm>
            <a:off x="2294915" y="4905756"/>
            <a:ext cx="676656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78" name="Text 67"/>
          <p:cNvSpPr txBox="1"/>
          <p:nvPr/>
        </p:nvSpPr>
        <p:spPr>
          <a:xfrm>
            <a:off x="411480" y="5170018"/>
            <a:ext cx="237744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</a:t>
            </a:r>
            <a:endParaRPr lang="en-US" sz="850" dirty="0"/>
          </a:p>
        </p:txBody>
      </p:sp>
      <p:pic>
        <p:nvPicPr>
          <p:cNvPr id="7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8368" y="5215280"/>
            <a:ext cx="173736" cy="173736"/>
          </a:xfrm>
          <a:prstGeom prst="rect">
            <a:avLst/>
          </a:prstGeom>
        </p:spPr>
      </p:pic>
      <p:sp>
        <p:nvSpPr>
          <p:cNvPr id="80" name="Text 68"/>
          <p:cNvSpPr txBox="1"/>
          <p:nvPr/>
        </p:nvSpPr>
        <p:spPr>
          <a:xfrm>
            <a:off x="886968" y="5170018"/>
            <a:ext cx="1417091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CARREIRA E RECOMPENSA</a:t>
            </a:r>
            <a:endParaRPr lang="en-US" sz="850" dirty="0"/>
          </a:p>
        </p:txBody>
      </p:sp>
      <p:sp>
        <p:nvSpPr>
          <p:cNvPr id="81" name="Text 69"/>
          <p:cNvSpPr txBox="1"/>
          <p:nvPr/>
        </p:nvSpPr>
        <p:spPr>
          <a:xfrm>
            <a:off x="2294915" y="5170018"/>
            <a:ext cx="676656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82" name="Shape 70"/>
          <p:cNvSpPr/>
          <p:nvPr/>
        </p:nvSpPr>
        <p:spPr>
          <a:xfrm>
            <a:off x="3270580" y="3127248"/>
            <a:ext cx="2742971" cy="3145536"/>
          </a:xfrm>
          <a:prstGeom prst="roundRect">
            <a:avLst>
              <a:gd name="adj" fmla="val 2000"/>
            </a:avLst>
          </a:prstGeom>
          <a:solidFill>
            <a:srgbClr val="F5F7EF"/>
          </a:solidFill>
          <a:ln w="12700">
            <a:solidFill>
              <a:srgbClr val="BECA98"/>
            </a:solidFill>
            <a:prstDash val="solid"/>
          </a:ln>
        </p:spPr>
      </p:sp>
      <p:sp>
        <p:nvSpPr>
          <p:cNvPr id="83" name="Shape 71"/>
          <p:cNvSpPr/>
          <p:nvPr/>
        </p:nvSpPr>
        <p:spPr>
          <a:xfrm>
            <a:off x="3270580" y="3127248"/>
            <a:ext cx="2742971" cy="365760"/>
          </a:xfrm>
          <a:prstGeom prst="roundRect">
            <a:avLst>
              <a:gd name="adj" fmla="val 15000"/>
            </a:avLst>
          </a:prstGeom>
          <a:solidFill>
            <a:srgbClr val="6E8A1A"/>
          </a:solidFill>
          <a:ln w="12700">
            <a:solidFill>
              <a:srgbClr val="6E8A1A"/>
            </a:solidFill>
            <a:prstDash val="solid"/>
          </a:ln>
        </p:spPr>
      </p:sp>
      <p:sp>
        <p:nvSpPr>
          <p:cNvPr id="84" name="Shape 72"/>
          <p:cNvSpPr/>
          <p:nvPr/>
        </p:nvSpPr>
        <p:spPr>
          <a:xfrm>
            <a:off x="3270580" y="3355848"/>
            <a:ext cx="2742971" cy="137160"/>
          </a:xfrm>
          <a:prstGeom prst="rect">
            <a:avLst/>
          </a:prstGeom>
          <a:solidFill>
            <a:srgbClr val="6E8A1A"/>
          </a:solidFill>
          <a:ln w="12700">
            <a:solidFill>
              <a:srgbClr val="6E8A1A"/>
            </a:solidFill>
            <a:prstDash val="solid"/>
          </a:ln>
        </p:spPr>
      </p:sp>
      <p:sp>
        <p:nvSpPr>
          <p:cNvPr id="85" name="Shape 73"/>
          <p:cNvSpPr/>
          <p:nvPr/>
        </p:nvSpPr>
        <p:spPr>
          <a:xfrm>
            <a:off x="4413466" y="2852928"/>
            <a:ext cx="457200" cy="457200"/>
          </a:xfrm>
          <a:prstGeom prst="ellipse">
            <a:avLst/>
          </a:prstGeom>
          <a:solidFill>
            <a:srgbClr val="6E8A1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6" name="Text 74"/>
          <p:cNvSpPr txBox="1"/>
          <p:nvPr/>
        </p:nvSpPr>
        <p:spPr>
          <a:xfrm>
            <a:off x="4413466" y="2852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800" dirty="0"/>
          </a:p>
        </p:txBody>
      </p:sp>
      <p:sp>
        <p:nvSpPr>
          <p:cNvPr id="87" name="Text 75"/>
          <p:cNvSpPr txBox="1"/>
          <p:nvPr/>
        </p:nvSpPr>
        <p:spPr>
          <a:xfrm>
            <a:off x="3380308" y="31272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 G</a:t>
            </a:r>
            <a:endParaRPr lang="en-US" sz="1300" dirty="0"/>
          </a:p>
        </p:txBody>
      </p:sp>
      <p:sp>
        <p:nvSpPr>
          <p:cNvPr id="88" name="Text 76"/>
          <p:cNvSpPr txBox="1"/>
          <p:nvPr/>
        </p:nvSpPr>
        <p:spPr>
          <a:xfrm>
            <a:off x="4687672" y="3127248"/>
            <a:ext cx="1216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regras · 8 etapas</a:t>
            </a:r>
            <a:endParaRPr lang="en-US" sz="950" dirty="0"/>
          </a:p>
        </p:txBody>
      </p:sp>
      <p:sp>
        <p:nvSpPr>
          <p:cNvPr id="89" name="Shape 77"/>
          <p:cNvSpPr/>
          <p:nvPr/>
        </p:nvSpPr>
        <p:spPr>
          <a:xfrm>
            <a:off x="3325444" y="3593592"/>
            <a:ext cx="2633243" cy="245974"/>
          </a:xfrm>
          <a:prstGeom prst="roundRect">
            <a:avLst>
              <a:gd name="adj" fmla="val 11152"/>
            </a:avLst>
          </a:prstGeom>
          <a:solidFill>
            <a:srgbClr val="FFF1CC"/>
          </a:solidFill>
          <a:ln w="6350">
            <a:solidFill>
              <a:srgbClr val="F2D27A"/>
            </a:solidFill>
            <a:prstDash val="solid"/>
          </a:ln>
        </p:spPr>
      </p:sp>
      <p:sp>
        <p:nvSpPr>
          <p:cNvPr id="90" name="Text 78"/>
          <p:cNvSpPr txBox="1"/>
          <p:nvPr/>
        </p:nvSpPr>
        <p:spPr>
          <a:xfrm>
            <a:off x="3362020" y="3584448"/>
            <a:ext cx="237744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850" dirty="0"/>
          </a:p>
        </p:txBody>
      </p:sp>
      <p:pic>
        <p:nvPicPr>
          <p:cNvPr id="9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608908" y="3629711"/>
            <a:ext cx="173736" cy="173736"/>
          </a:xfrm>
          <a:prstGeom prst="rect">
            <a:avLst/>
          </a:prstGeom>
        </p:spPr>
      </p:pic>
      <p:sp>
        <p:nvSpPr>
          <p:cNvPr id="92" name="Text 79"/>
          <p:cNvSpPr txBox="1"/>
          <p:nvPr/>
        </p:nvSpPr>
        <p:spPr>
          <a:xfrm>
            <a:off x="3837508" y="3584448"/>
            <a:ext cx="1417091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 ATUAL</a:t>
            </a:r>
            <a:endParaRPr lang="en-US" sz="850" dirty="0"/>
          </a:p>
        </p:txBody>
      </p:sp>
      <p:sp>
        <p:nvSpPr>
          <p:cNvPr id="93" name="Text 80"/>
          <p:cNvSpPr txBox="1"/>
          <p:nvPr/>
        </p:nvSpPr>
        <p:spPr>
          <a:xfrm>
            <a:off x="5245456" y="3584448"/>
            <a:ext cx="676656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94" name="Text 81"/>
          <p:cNvSpPr txBox="1"/>
          <p:nvPr/>
        </p:nvSpPr>
        <p:spPr>
          <a:xfrm>
            <a:off x="3362020" y="3848710"/>
            <a:ext cx="237744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850" dirty="0"/>
          </a:p>
        </p:txBody>
      </p:sp>
      <p:pic>
        <p:nvPicPr>
          <p:cNvPr id="95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608908" y="3893972"/>
            <a:ext cx="173736" cy="173736"/>
          </a:xfrm>
          <a:prstGeom prst="rect">
            <a:avLst/>
          </a:prstGeom>
        </p:spPr>
      </p:pic>
      <p:sp>
        <p:nvSpPr>
          <p:cNvPr id="96" name="Text 82"/>
          <p:cNvSpPr txBox="1"/>
          <p:nvPr/>
        </p:nvSpPr>
        <p:spPr>
          <a:xfrm>
            <a:off x="3837508" y="3848710"/>
            <a:ext cx="1417091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CARREIRA E RECOMPENSA</a:t>
            </a:r>
            <a:endParaRPr lang="en-US" sz="850" dirty="0"/>
          </a:p>
        </p:txBody>
      </p:sp>
      <p:sp>
        <p:nvSpPr>
          <p:cNvPr id="97" name="Text 83"/>
          <p:cNvSpPr txBox="1"/>
          <p:nvPr/>
        </p:nvSpPr>
        <p:spPr>
          <a:xfrm>
            <a:off x="5245456" y="3848710"/>
            <a:ext cx="676656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98" name="Text 84"/>
          <p:cNvSpPr txBox="1"/>
          <p:nvPr/>
        </p:nvSpPr>
        <p:spPr>
          <a:xfrm>
            <a:off x="3362020" y="4112971"/>
            <a:ext cx="237744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850" dirty="0"/>
          </a:p>
        </p:txBody>
      </p:sp>
      <p:pic>
        <p:nvPicPr>
          <p:cNvPr id="99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608908" y="4158234"/>
            <a:ext cx="173736" cy="173736"/>
          </a:xfrm>
          <a:prstGeom prst="rect">
            <a:avLst/>
          </a:prstGeom>
        </p:spPr>
      </p:pic>
      <p:sp>
        <p:nvSpPr>
          <p:cNvPr id="100" name="Text 85"/>
          <p:cNvSpPr txBox="1"/>
          <p:nvPr/>
        </p:nvSpPr>
        <p:spPr>
          <a:xfrm>
            <a:off x="3837508" y="4112971"/>
            <a:ext cx="1417091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TREINAMENTO</a:t>
            </a:r>
            <a:endParaRPr lang="en-US" sz="850" dirty="0"/>
          </a:p>
        </p:txBody>
      </p:sp>
      <p:sp>
        <p:nvSpPr>
          <p:cNvPr id="101" name="Text 86"/>
          <p:cNvSpPr txBox="1"/>
          <p:nvPr/>
        </p:nvSpPr>
        <p:spPr>
          <a:xfrm>
            <a:off x="5245456" y="4112971"/>
            <a:ext cx="676656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02" name="Text 87"/>
          <p:cNvSpPr txBox="1"/>
          <p:nvPr/>
        </p:nvSpPr>
        <p:spPr>
          <a:xfrm>
            <a:off x="3362020" y="4377233"/>
            <a:ext cx="237744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850" dirty="0"/>
          </a:p>
        </p:txBody>
      </p:sp>
      <p:pic>
        <p:nvPicPr>
          <p:cNvPr id="103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608908" y="4422496"/>
            <a:ext cx="173736" cy="173736"/>
          </a:xfrm>
          <a:prstGeom prst="rect">
            <a:avLst/>
          </a:prstGeom>
        </p:spPr>
      </p:pic>
      <p:sp>
        <p:nvSpPr>
          <p:cNvPr id="104" name="Text 88"/>
          <p:cNvSpPr txBox="1"/>
          <p:nvPr/>
        </p:nvSpPr>
        <p:spPr>
          <a:xfrm>
            <a:off x="3837508" y="4377233"/>
            <a:ext cx="1417091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MEDICINA</a:t>
            </a:r>
            <a:endParaRPr lang="en-US" sz="850" dirty="0"/>
          </a:p>
        </p:txBody>
      </p:sp>
      <p:sp>
        <p:nvSpPr>
          <p:cNvPr id="105" name="Text 89"/>
          <p:cNvSpPr txBox="1"/>
          <p:nvPr/>
        </p:nvSpPr>
        <p:spPr>
          <a:xfrm>
            <a:off x="5245456" y="4377233"/>
            <a:ext cx="676656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06" name="Text 90"/>
          <p:cNvSpPr txBox="1"/>
          <p:nvPr/>
        </p:nvSpPr>
        <p:spPr>
          <a:xfrm>
            <a:off x="3362020" y="4641494"/>
            <a:ext cx="237744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850" dirty="0"/>
          </a:p>
        </p:txBody>
      </p:sp>
      <p:pic>
        <p:nvPicPr>
          <p:cNvPr id="107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608908" y="4686757"/>
            <a:ext cx="173736" cy="173736"/>
          </a:xfrm>
          <a:prstGeom prst="rect">
            <a:avLst/>
          </a:prstGeom>
        </p:spPr>
      </p:pic>
      <p:sp>
        <p:nvSpPr>
          <p:cNvPr id="108" name="Text 91"/>
          <p:cNvSpPr txBox="1"/>
          <p:nvPr/>
        </p:nvSpPr>
        <p:spPr>
          <a:xfrm>
            <a:off x="3837508" y="4641494"/>
            <a:ext cx="1417091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DO TRABALHO</a:t>
            </a:r>
            <a:endParaRPr lang="en-US" sz="850" dirty="0"/>
          </a:p>
        </p:txBody>
      </p:sp>
      <p:sp>
        <p:nvSpPr>
          <p:cNvPr id="109" name="Text 92"/>
          <p:cNvSpPr txBox="1"/>
          <p:nvPr/>
        </p:nvSpPr>
        <p:spPr>
          <a:xfrm>
            <a:off x="5245456" y="4641494"/>
            <a:ext cx="676656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10" name="Text 93"/>
          <p:cNvSpPr txBox="1"/>
          <p:nvPr/>
        </p:nvSpPr>
        <p:spPr>
          <a:xfrm>
            <a:off x="3362020" y="4905756"/>
            <a:ext cx="237744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</a:t>
            </a:r>
            <a:endParaRPr lang="en-US" sz="850" dirty="0"/>
          </a:p>
        </p:txBody>
      </p:sp>
      <p:pic>
        <p:nvPicPr>
          <p:cNvPr id="111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608908" y="4951019"/>
            <a:ext cx="173736" cy="173736"/>
          </a:xfrm>
          <a:prstGeom prst="rect">
            <a:avLst/>
          </a:prstGeom>
        </p:spPr>
      </p:pic>
      <p:sp>
        <p:nvSpPr>
          <p:cNvPr id="112" name="Text 94"/>
          <p:cNvSpPr txBox="1"/>
          <p:nvPr/>
        </p:nvSpPr>
        <p:spPr>
          <a:xfrm>
            <a:off x="3837508" y="4905756"/>
            <a:ext cx="1417091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 SOLICITANTE</a:t>
            </a:r>
            <a:endParaRPr lang="en-US" sz="850" dirty="0"/>
          </a:p>
        </p:txBody>
      </p:sp>
      <p:sp>
        <p:nvSpPr>
          <p:cNvPr id="113" name="Text 95"/>
          <p:cNvSpPr txBox="1"/>
          <p:nvPr/>
        </p:nvSpPr>
        <p:spPr>
          <a:xfrm>
            <a:off x="5245456" y="4905756"/>
            <a:ext cx="676656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8A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CONTRIBUINTE</a:t>
            </a:r>
            <a:endParaRPr lang="en-US" sz="700" dirty="0"/>
          </a:p>
        </p:txBody>
      </p:sp>
      <p:sp>
        <p:nvSpPr>
          <p:cNvPr id="114" name="Text 96"/>
          <p:cNvSpPr txBox="1"/>
          <p:nvPr/>
        </p:nvSpPr>
        <p:spPr>
          <a:xfrm>
            <a:off x="3362020" y="5170018"/>
            <a:ext cx="237744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</a:t>
            </a:r>
            <a:endParaRPr lang="en-US" sz="850" dirty="0"/>
          </a:p>
        </p:txBody>
      </p:sp>
      <p:pic>
        <p:nvPicPr>
          <p:cNvPr id="115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608908" y="5215280"/>
            <a:ext cx="173736" cy="173736"/>
          </a:xfrm>
          <a:prstGeom prst="rect">
            <a:avLst/>
          </a:prstGeom>
        </p:spPr>
      </p:pic>
      <p:sp>
        <p:nvSpPr>
          <p:cNvPr id="116" name="Text 97"/>
          <p:cNvSpPr txBox="1"/>
          <p:nvPr/>
        </p:nvSpPr>
        <p:spPr>
          <a:xfrm>
            <a:off x="3837508" y="5170018"/>
            <a:ext cx="1417091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COLABORADOR</a:t>
            </a:r>
            <a:endParaRPr lang="en-US" sz="850" dirty="0"/>
          </a:p>
        </p:txBody>
      </p:sp>
      <p:sp>
        <p:nvSpPr>
          <p:cNvPr id="117" name="Text 98"/>
          <p:cNvSpPr txBox="1"/>
          <p:nvPr/>
        </p:nvSpPr>
        <p:spPr>
          <a:xfrm>
            <a:off x="5245456" y="5170018"/>
            <a:ext cx="676656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18" name="Text 99"/>
          <p:cNvSpPr txBox="1"/>
          <p:nvPr/>
        </p:nvSpPr>
        <p:spPr>
          <a:xfrm>
            <a:off x="3362020" y="5434279"/>
            <a:ext cx="237744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</a:t>
            </a:r>
            <a:endParaRPr lang="en-US" sz="850" dirty="0"/>
          </a:p>
        </p:txBody>
      </p:sp>
      <p:pic>
        <p:nvPicPr>
          <p:cNvPr id="11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608908" y="5479542"/>
            <a:ext cx="173736" cy="173736"/>
          </a:xfrm>
          <a:prstGeom prst="rect">
            <a:avLst/>
          </a:prstGeom>
        </p:spPr>
      </p:pic>
      <p:sp>
        <p:nvSpPr>
          <p:cNvPr id="120" name="Text 100"/>
          <p:cNvSpPr txBox="1"/>
          <p:nvPr/>
        </p:nvSpPr>
        <p:spPr>
          <a:xfrm>
            <a:off x="3837508" y="5434279"/>
            <a:ext cx="1417091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CARREIRA E RECOMPENSA</a:t>
            </a:r>
            <a:endParaRPr lang="en-US" sz="850" dirty="0"/>
          </a:p>
        </p:txBody>
      </p:sp>
      <p:sp>
        <p:nvSpPr>
          <p:cNvPr id="121" name="Text 101"/>
          <p:cNvSpPr txBox="1"/>
          <p:nvPr/>
        </p:nvSpPr>
        <p:spPr>
          <a:xfrm>
            <a:off x="5245456" y="5434279"/>
            <a:ext cx="676656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22" name="Shape 102"/>
          <p:cNvSpPr/>
          <p:nvPr/>
        </p:nvSpPr>
        <p:spPr>
          <a:xfrm>
            <a:off x="6221120" y="3127248"/>
            <a:ext cx="2742971" cy="3145536"/>
          </a:xfrm>
          <a:prstGeom prst="roundRect">
            <a:avLst>
              <a:gd name="adj" fmla="val 2000"/>
            </a:avLst>
          </a:prstGeom>
          <a:solidFill>
            <a:srgbClr val="F5F2F8"/>
          </a:solidFill>
          <a:ln w="12700">
            <a:solidFill>
              <a:srgbClr val="BCA9D4"/>
            </a:solidFill>
            <a:prstDash val="solid"/>
          </a:ln>
        </p:spPr>
      </p:sp>
      <p:sp>
        <p:nvSpPr>
          <p:cNvPr id="123" name="Shape 103"/>
          <p:cNvSpPr/>
          <p:nvPr/>
        </p:nvSpPr>
        <p:spPr>
          <a:xfrm>
            <a:off x="6221120" y="3127248"/>
            <a:ext cx="2742971" cy="365760"/>
          </a:xfrm>
          <a:prstGeom prst="roundRect">
            <a:avLst>
              <a:gd name="adj" fmla="val 15000"/>
            </a:avLst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24" name="Shape 104"/>
          <p:cNvSpPr/>
          <p:nvPr/>
        </p:nvSpPr>
        <p:spPr>
          <a:xfrm>
            <a:off x="6221120" y="3355848"/>
            <a:ext cx="2742971" cy="13716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25" name="Shape 105"/>
          <p:cNvSpPr/>
          <p:nvPr/>
        </p:nvSpPr>
        <p:spPr>
          <a:xfrm>
            <a:off x="7364006" y="2852928"/>
            <a:ext cx="457200" cy="457200"/>
          </a:xfrm>
          <a:prstGeom prst="ellipse">
            <a:avLst/>
          </a:prstGeom>
          <a:solidFill>
            <a:srgbClr val="6B3FA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6" name="Text 106"/>
          <p:cNvSpPr txBox="1"/>
          <p:nvPr/>
        </p:nvSpPr>
        <p:spPr>
          <a:xfrm>
            <a:off x="7364006" y="2852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127" name="Text 107"/>
          <p:cNvSpPr txBox="1"/>
          <p:nvPr/>
        </p:nvSpPr>
        <p:spPr>
          <a:xfrm>
            <a:off x="6330848" y="31272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 D</a:t>
            </a:r>
            <a:endParaRPr lang="en-US" sz="1300" dirty="0"/>
          </a:p>
        </p:txBody>
      </p:sp>
      <p:sp>
        <p:nvSpPr>
          <p:cNvPr id="128" name="Text 108"/>
          <p:cNvSpPr txBox="1"/>
          <p:nvPr/>
        </p:nvSpPr>
        <p:spPr>
          <a:xfrm>
            <a:off x="7638212" y="3127248"/>
            <a:ext cx="1216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regras · 9 etapas</a:t>
            </a:r>
            <a:endParaRPr lang="en-US" sz="950" dirty="0"/>
          </a:p>
        </p:txBody>
      </p:sp>
      <p:sp>
        <p:nvSpPr>
          <p:cNvPr id="129" name="Text 109"/>
          <p:cNvSpPr txBox="1"/>
          <p:nvPr/>
        </p:nvSpPr>
        <p:spPr>
          <a:xfrm>
            <a:off x="6312560" y="3584448"/>
            <a:ext cx="237744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850" dirty="0"/>
          </a:p>
        </p:txBody>
      </p:sp>
      <p:pic>
        <p:nvPicPr>
          <p:cNvPr id="13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559448" y="3629711"/>
            <a:ext cx="173736" cy="173736"/>
          </a:xfrm>
          <a:prstGeom prst="rect">
            <a:avLst/>
          </a:prstGeom>
        </p:spPr>
      </p:pic>
      <p:sp>
        <p:nvSpPr>
          <p:cNvPr id="131" name="Text 110"/>
          <p:cNvSpPr txBox="1"/>
          <p:nvPr/>
        </p:nvSpPr>
        <p:spPr>
          <a:xfrm>
            <a:off x="6788048" y="3584448"/>
            <a:ext cx="1417091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CARREIRA E RECOMPENSA</a:t>
            </a:r>
            <a:endParaRPr lang="en-US" sz="850" dirty="0"/>
          </a:p>
        </p:txBody>
      </p:sp>
      <p:sp>
        <p:nvSpPr>
          <p:cNvPr id="132" name="Text 111"/>
          <p:cNvSpPr txBox="1"/>
          <p:nvPr/>
        </p:nvSpPr>
        <p:spPr>
          <a:xfrm>
            <a:off x="8195996" y="3584448"/>
            <a:ext cx="676656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33" name="Text 112"/>
          <p:cNvSpPr txBox="1"/>
          <p:nvPr/>
        </p:nvSpPr>
        <p:spPr>
          <a:xfrm>
            <a:off x="6312560" y="3848710"/>
            <a:ext cx="237744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850" dirty="0"/>
          </a:p>
        </p:txBody>
      </p:sp>
      <p:pic>
        <p:nvPicPr>
          <p:cNvPr id="134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559448" y="3893972"/>
            <a:ext cx="173736" cy="173736"/>
          </a:xfrm>
          <a:prstGeom prst="rect">
            <a:avLst/>
          </a:prstGeom>
        </p:spPr>
      </p:pic>
      <p:sp>
        <p:nvSpPr>
          <p:cNvPr id="135" name="Text 113"/>
          <p:cNvSpPr txBox="1"/>
          <p:nvPr/>
        </p:nvSpPr>
        <p:spPr>
          <a:xfrm>
            <a:off x="6788048" y="3848710"/>
            <a:ext cx="1417091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TREINAMENTO</a:t>
            </a:r>
            <a:endParaRPr lang="en-US" sz="850" dirty="0"/>
          </a:p>
        </p:txBody>
      </p:sp>
      <p:sp>
        <p:nvSpPr>
          <p:cNvPr id="136" name="Text 114"/>
          <p:cNvSpPr txBox="1"/>
          <p:nvPr/>
        </p:nvSpPr>
        <p:spPr>
          <a:xfrm>
            <a:off x="8195996" y="3848710"/>
            <a:ext cx="676656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37" name="Text 115"/>
          <p:cNvSpPr txBox="1"/>
          <p:nvPr/>
        </p:nvSpPr>
        <p:spPr>
          <a:xfrm>
            <a:off x="6312560" y="4112971"/>
            <a:ext cx="237744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850" dirty="0"/>
          </a:p>
        </p:txBody>
      </p:sp>
      <p:pic>
        <p:nvPicPr>
          <p:cNvPr id="138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559448" y="4158234"/>
            <a:ext cx="173736" cy="173736"/>
          </a:xfrm>
          <a:prstGeom prst="rect">
            <a:avLst/>
          </a:prstGeom>
        </p:spPr>
      </p:pic>
      <p:sp>
        <p:nvSpPr>
          <p:cNvPr id="139" name="Text 116"/>
          <p:cNvSpPr txBox="1"/>
          <p:nvPr/>
        </p:nvSpPr>
        <p:spPr>
          <a:xfrm>
            <a:off x="6788048" y="4112971"/>
            <a:ext cx="1417091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MEDICINA</a:t>
            </a:r>
            <a:endParaRPr lang="en-US" sz="850" dirty="0"/>
          </a:p>
        </p:txBody>
      </p:sp>
      <p:sp>
        <p:nvSpPr>
          <p:cNvPr id="140" name="Text 117"/>
          <p:cNvSpPr txBox="1"/>
          <p:nvPr/>
        </p:nvSpPr>
        <p:spPr>
          <a:xfrm>
            <a:off x="8195996" y="4112971"/>
            <a:ext cx="676656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41" name="Text 118"/>
          <p:cNvSpPr txBox="1"/>
          <p:nvPr/>
        </p:nvSpPr>
        <p:spPr>
          <a:xfrm>
            <a:off x="6312560" y="4377233"/>
            <a:ext cx="237744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850" dirty="0"/>
          </a:p>
        </p:txBody>
      </p:sp>
      <p:pic>
        <p:nvPicPr>
          <p:cNvPr id="142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559448" y="4422496"/>
            <a:ext cx="173736" cy="173736"/>
          </a:xfrm>
          <a:prstGeom prst="rect">
            <a:avLst/>
          </a:prstGeom>
        </p:spPr>
      </p:pic>
      <p:sp>
        <p:nvSpPr>
          <p:cNvPr id="143" name="Text 119"/>
          <p:cNvSpPr txBox="1"/>
          <p:nvPr/>
        </p:nvSpPr>
        <p:spPr>
          <a:xfrm>
            <a:off x="6788048" y="4377233"/>
            <a:ext cx="1417091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DO TRABALHO</a:t>
            </a:r>
            <a:endParaRPr lang="en-US" sz="850" dirty="0"/>
          </a:p>
        </p:txBody>
      </p:sp>
      <p:sp>
        <p:nvSpPr>
          <p:cNvPr id="144" name="Text 120"/>
          <p:cNvSpPr txBox="1"/>
          <p:nvPr/>
        </p:nvSpPr>
        <p:spPr>
          <a:xfrm>
            <a:off x="8195996" y="4377233"/>
            <a:ext cx="676656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45" name="Text 121"/>
          <p:cNvSpPr txBox="1"/>
          <p:nvPr/>
        </p:nvSpPr>
        <p:spPr>
          <a:xfrm>
            <a:off x="6312560" y="4641494"/>
            <a:ext cx="237744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850" dirty="0"/>
          </a:p>
        </p:txBody>
      </p:sp>
      <p:pic>
        <p:nvPicPr>
          <p:cNvPr id="146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559448" y="4686757"/>
            <a:ext cx="173736" cy="173736"/>
          </a:xfrm>
          <a:prstGeom prst="rect">
            <a:avLst/>
          </a:prstGeom>
        </p:spPr>
      </p:pic>
      <p:sp>
        <p:nvSpPr>
          <p:cNvPr id="147" name="Text 122"/>
          <p:cNvSpPr txBox="1"/>
          <p:nvPr/>
        </p:nvSpPr>
        <p:spPr>
          <a:xfrm>
            <a:off x="6788048" y="4641494"/>
            <a:ext cx="1417091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 SOLICITANTE</a:t>
            </a:r>
            <a:endParaRPr lang="en-US" sz="850" dirty="0"/>
          </a:p>
        </p:txBody>
      </p:sp>
      <p:sp>
        <p:nvSpPr>
          <p:cNvPr id="148" name="Text 123"/>
          <p:cNvSpPr txBox="1"/>
          <p:nvPr/>
        </p:nvSpPr>
        <p:spPr>
          <a:xfrm>
            <a:off x="8195996" y="4641494"/>
            <a:ext cx="676656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8A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CONTRIBUINTE</a:t>
            </a:r>
            <a:endParaRPr lang="en-US" sz="700" dirty="0"/>
          </a:p>
        </p:txBody>
      </p:sp>
      <p:sp>
        <p:nvSpPr>
          <p:cNvPr id="149" name="Text 124"/>
          <p:cNvSpPr txBox="1"/>
          <p:nvPr/>
        </p:nvSpPr>
        <p:spPr>
          <a:xfrm>
            <a:off x="6312560" y="4905756"/>
            <a:ext cx="237744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</a:t>
            </a:r>
            <a:endParaRPr lang="en-US" sz="850" dirty="0"/>
          </a:p>
        </p:txBody>
      </p:sp>
      <p:pic>
        <p:nvPicPr>
          <p:cNvPr id="150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559448" y="4951019"/>
            <a:ext cx="173736" cy="173736"/>
          </a:xfrm>
          <a:prstGeom prst="rect">
            <a:avLst/>
          </a:prstGeom>
        </p:spPr>
      </p:pic>
      <p:sp>
        <p:nvSpPr>
          <p:cNvPr id="151" name="Text 125"/>
          <p:cNvSpPr txBox="1"/>
          <p:nvPr/>
        </p:nvSpPr>
        <p:spPr>
          <a:xfrm>
            <a:off x="6788048" y="4905756"/>
            <a:ext cx="1417091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COLABORADOR</a:t>
            </a:r>
            <a:endParaRPr lang="en-US" sz="850" dirty="0"/>
          </a:p>
        </p:txBody>
      </p:sp>
      <p:sp>
        <p:nvSpPr>
          <p:cNvPr id="152" name="Text 126"/>
          <p:cNvSpPr txBox="1"/>
          <p:nvPr/>
        </p:nvSpPr>
        <p:spPr>
          <a:xfrm>
            <a:off x="8195996" y="4905756"/>
            <a:ext cx="676656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53" name="Text 127"/>
          <p:cNvSpPr txBox="1"/>
          <p:nvPr/>
        </p:nvSpPr>
        <p:spPr>
          <a:xfrm>
            <a:off x="6312560" y="5170018"/>
            <a:ext cx="237744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</a:t>
            </a:r>
            <a:endParaRPr lang="en-US" sz="850" dirty="0"/>
          </a:p>
        </p:txBody>
      </p:sp>
      <p:pic>
        <p:nvPicPr>
          <p:cNvPr id="154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559448" y="5215280"/>
            <a:ext cx="173736" cy="173736"/>
          </a:xfrm>
          <a:prstGeom prst="rect">
            <a:avLst/>
          </a:prstGeom>
        </p:spPr>
      </p:pic>
      <p:sp>
        <p:nvSpPr>
          <p:cNvPr id="155" name="Text 128"/>
          <p:cNvSpPr txBox="1"/>
          <p:nvPr/>
        </p:nvSpPr>
        <p:spPr>
          <a:xfrm>
            <a:off x="6788048" y="5170018"/>
            <a:ext cx="1417091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CARREIRA E RECOMPENSA</a:t>
            </a:r>
            <a:endParaRPr lang="en-US" sz="850" dirty="0"/>
          </a:p>
        </p:txBody>
      </p:sp>
      <p:sp>
        <p:nvSpPr>
          <p:cNvPr id="156" name="Text 129"/>
          <p:cNvSpPr txBox="1"/>
          <p:nvPr/>
        </p:nvSpPr>
        <p:spPr>
          <a:xfrm>
            <a:off x="8195996" y="5170018"/>
            <a:ext cx="676656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57" name="Shape 130"/>
          <p:cNvSpPr/>
          <p:nvPr/>
        </p:nvSpPr>
        <p:spPr>
          <a:xfrm>
            <a:off x="6275984" y="5443423"/>
            <a:ext cx="2633243" cy="245974"/>
          </a:xfrm>
          <a:prstGeom prst="roundRect">
            <a:avLst>
              <a:gd name="adj" fmla="val 11152"/>
            </a:avLst>
          </a:prstGeom>
          <a:solidFill>
            <a:srgbClr val="FFF1CC"/>
          </a:solidFill>
          <a:ln w="6350">
            <a:solidFill>
              <a:srgbClr val="F2D27A"/>
            </a:solidFill>
            <a:prstDash val="solid"/>
          </a:ln>
        </p:spPr>
      </p:sp>
      <p:sp>
        <p:nvSpPr>
          <p:cNvPr id="158" name="Text 131"/>
          <p:cNvSpPr txBox="1"/>
          <p:nvPr/>
        </p:nvSpPr>
        <p:spPr>
          <a:xfrm>
            <a:off x="6312560" y="5434279"/>
            <a:ext cx="237744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</a:t>
            </a:r>
            <a:endParaRPr lang="en-US" sz="850" dirty="0"/>
          </a:p>
        </p:txBody>
      </p:sp>
      <p:pic>
        <p:nvPicPr>
          <p:cNvPr id="159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559448" y="5479542"/>
            <a:ext cx="173736" cy="173736"/>
          </a:xfrm>
          <a:prstGeom prst="rect">
            <a:avLst/>
          </a:prstGeom>
        </p:spPr>
      </p:pic>
      <p:sp>
        <p:nvSpPr>
          <p:cNvPr id="160" name="Text 132"/>
          <p:cNvSpPr txBox="1"/>
          <p:nvPr/>
        </p:nvSpPr>
        <p:spPr>
          <a:xfrm>
            <a:off x="6788048" y="5434279"/>
            <a:ext cx="1417091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CONTROLADORIA</a:t>
            </a:r>
            <a:endParaRPr lang="en-US" sz="850" dirty="0"/>
          </a:p>
        </p:txBody>
      </p:sp>
      <p:sp>
        <p:nvSpPr>
          <p:cNvPr id="161" name="Text 133"/>
          <p:cNvSpPr txBox="1"/>
          <p:nvPr/>
        </p:nvSpPr>
        <p:spPr>
          <a:xfrm>
            <a:off x="8195996" y="5434279"/>
            <a:ext cx="676656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CÓPIA</a:t>
            </a:r>
            <a:endParaRPr lang="en-US" sz="700" dirty="0"/>
          </a:p>
        </p:txBody>
      </p:sp>
      <p:sp>
        <p:nvSpPr>
          <p:cNvPr id="162" name="Shape 134"/>
          <p:cNvSpPr/>
          <p:nvPr/>
        </p:nvSpPr>
        <p:spPr>
          <a:xfrm>
            <a:off x="6275984" y="5707685"/>
            <a:ext cx="2633243" cy="245974"/>
          </a:xfrm>
          <a:prstGeom prst="roundRect">
            <a:avLst>
              <a:gd name="adj" fmla="val 11152"/>
            </a:avLst>
          </a:prstGeom>
          <a:solidFill>
            <a:srgbClr val="FFF1CC"/>
          </a:solidFill>
          <a:ln w="6350">
            <a:solidFill>
              <a:srgbClr val="F2D27A"/>
            </a:solidFill>
            <a:prstDash val="solid"/>
          </a:ln>
        </p:spPr>
      </p:sp>
      <p:sp>
        <p:nvSpPr>
          <p:cNvPr id="163" name="Text 135"/>
          <p:cNvSpPr txBox="1"/>
          <p:nvPr/>
        </p:nvSpPr>
        <p:spPr>
          <a:xfrm>
            <a:off x="6312560" y="5698541"/>
            <a:ext cx="237744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</a:t>
            </a:r>
            <a:endParaRPr lang="en-US" sz="850" dirty="0"/>
          </a:p>
        </p:txBody>
      </p:sp>
      <p:pic>
        <p:nvPicPr>
          <p:cNvPr id="164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559448" y="5743804"/>
            <a:ext cx="173736" cy="173736"/>
          </a:xfrm>
          <a:prstGeom prst="rect">
            <a:avLst/>
          </a:prstGeom>
        </p:spPr>
      </p:pic>
      <p:sp>
        <p:nvSpPr>
          <p:cNvPr id="165" name="Text 136"/>
          <p:cNvSpPr txBox="1"/>
          <p:nvPr/>
        </p:nvSpPr>
        <p:spPr>
          <a:xfrm>
            <a:off x="6788048" y="5698541"/>
            <a:ext cx="1417091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FOLHA DE PAGAMENTO</a:t>
            </a:r>
            <a:endParaRPr lang="en-US" sz="850" dirty="0"/>
          </a:p>
        </p:txBody>
      </p:sp>
      <p:sp>
        <p:nvSpPr>
          <p:cNvPr id="166" name="Text 137"/>
          <p:cNvSpPr txBox="1"/>
          <p:nvPr/>
        </p:nvSpPr>
        <p:spPr>
          <a:xfrm>
            <a:off x="8195996" y="5698541"/>
            <a:ext cx="676656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CÓPIA</a:t>
            </a:r>
            <a:endParaRPr lang="en-US" sz="700" dirty="0"/>
          </a:p>
        </p:txBody>
      </p:sp>
      <p:sp>
        <p:nvSpPr>
          <p:cNvPr id="167" name="Shape 138"/>
          <p:cNvSpPr/>
          <p:nvPr/>
        </p:nvSpPr>
        <p:spPr>
          <a:xfrm>
            <a:off x="9171661" y="3127248"/>
            <a:ext cx="2742971" cy="3145536"/>
          </a:xfrm>
          <a:prstGeom prst="roundRect">
            <a:avLst>
              <a:gd name="adj" fmla="val 2000"/>
            </a:avLst>
          </a:prstGeom>
          <a:solidFill>
            <a:srgbClr val="F9F1F6"/>
          </a:solidFill>
          <a:ln w="12700">
            <a:solidFill>
              <a:srgbClr val="D8A3C5"/>
            </a:solidFill>
            <a:prstDash val="solid"/>
          </a:ln>
        </p:spPr>
      </p:sp>
      <p:sp>
        <p:nvSpPr>
          <p:cNvPr id="168" name="Shape 139"/>
          <p:cNvSpPr/>
          <p:nvPr/>
        </p:nvSpPr>
        <p:spPr>
          <a:xfrm>
            <a:off x="9171661" y="3127248"/>
            <a:ext cx="2742971" cy="365760"/>
          </a:xfrm>
          <a:prstGeom prst="roundRect">
            <a:avLst>
              <a:gd name="adj" fmla="val 15000"/>
            </a:avLst>
          </a:prstGeom>
          <a:solidFill>
            <a:srgbClr val="A8327F"/>
          </a:solidFill>
          <a:ln w="12700">
            <a:solidFill>
              <a:srgbClr val="A8327F"/>
            </a:solidFill>
            <a:prstDash val="solid"/>
          </a:ln>
        </p:spPr>
      </p:sp>
      <p:sp>
        <p:nvSpPr>
          <p:cNvPr id="169" name="Shape 140"/>
          <p:cNvSpPr/>
          <p:nvPr/>
        </p:nvSpPr>
        <p:spPr>
          <a:xfrm>
            <a:off x="9171661" y="3355848"/>
            <a:ext cx="2742971" cy="137160"/>
          </a:xfrm>
          <a:prstGeom prst="rect">
            <a:avLst/>
          </a:prstGeom>
          <a:solidFill>
            <a:srgbClr val="A8327F"/>
          </a:solidFill>
          <a:ln w="12700">
            <a:solidFill>
              <a:srgbClr val="A8327F"/>
            </a:solidFill>
            <a:prstDash val="solid"/>
          </a:ln>
        </p:spPr>
      </p:sp>
      <p:sp>
        <p:nvSpPr>
          <p:cNvPr id="170" name="Shape 141"/>
          <p:cNvSpPr/>
          <p:nvPr/>
        </p:nvSpPr>
        <p:spPr>
          <a:xfrm>
            <a:off x="10314546" y="2852928"/>
            <a:ext cx="457200" cy="457200"/>
          </a:xfrm>
          <a:prstGeom prst="ellipse">
            <a:avLst/>
          </a:prstGeom>
          <a:solidFill>
            <a:srgbClr val="A8327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1" name="Text 142"/>
          <p:cNvSpPr txBox="1"/>
          <p:nvPr/>
        </p:nvSpPr>
        <p:spPr>
          <a:xfrm>
            <a:off x="10314546" y="2852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800" dirty="0"/>
          </a:p>
        </p:txBody>
      </p:sp>
      <p:sp>
        <p:nvSpPr>
          <p:cNvPr id="172" name="Text 143"/>
          <p:cNvSpPr txBox="1"/>
          <p:nvPr/>
        </p:nvSpPr>
        <p:spPr>
          <a:xfrm>
            <a:off x="9281389" y="31272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 H</a:t>
            </a:r>
            <a:endParaRPr lang="en-US" sz="1300" dirty="0"/>
          </a:p>
        </p:txBody>
      </p:sp>
      <p:sp>
        <p:nvSpPr>
          <p:cNvPr id="173" name="Text 144"/>
          <p:cNvSpPr txBox="1"/>
          <p:nvPr/>
        </p:nvSpPr>
        <p:spPr>
          <a:xfrm>
            <a:off x="10588752" y="3127248"/>
            <a:ext cx="1216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regras · 10 etapas</a:t>
            </a:r>
            <a:endParaRPr lang="en-US" sz="950" dirty="0"/>
          </a:p>
        </p:txBody>
      </p:sp>
      <p:sp>
        <p:nvSpPr>
          <p:cNvPr id="174" name="Shape 145"/>
          <p:cNvSpPr/>
          <p:nvPr/>
        </p:nvSpPr>
        <p:spPr>
          <a:xfrm>
            <a:off x="9226525" y="3593592"/>
            <a:ext cx="2633243" cy="245974"/>
          </a:xfrm>
          <a:prstGeom prst="roundRect">
            <a:avLst>
              <a:gd name="adj" fmla="val 11152"/>
            </a:avLst>
          </a:prstGeom>
          <a:solidFill>
            <a:srgbClr val="FFF1CC"/>
          </a:solidFill>
          <a:ln w="6350">
            <a:solidFill>
              <a:srgbClr val="F2D27A"/>
            </a:solidFill>
            <a:prstDash val="solid"/>
          </a:ln>
        </p:spPr>
      </p:sp>
      <p:sp>
        <p:nvSpPr>
          <p:cNvPr id="175" name="Text 146"/>
          <p:cNvSpPr txBox="1"/>
          <p:nvPr/>
        </p:nvSpPr>
        <p:spPr>
          <a:xfrm>
            <a:off x="9263101" y="3584448"/>
            <a:ext cx="237744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850" dirty="0"/>
          </a:p>
        </p:txBody>
      </p:sp>
      <p:pic>
        <p:nvPicPr>
          <p:cNvPr id="176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9509989" y="3629711"/>
            <a:ext cx="173736" cy="173736"/>
          </a:xfrm>
          <a:prstGeom prst="rect">
            <a:avLst/>
          </a:prstGeom>
        </p:spPr>
      </p:pic>
      <p:sp>
        <p:nvSpPr>
          <p:cNvPr id="177" name="Text 147"/>
          <p:cNvSpPr txBox="1"/>
          <p:nvPr/>
        </p:nvSpPr>
        <p:spPr>
          <a:xfrm>
            <a:off x="9738589" y="3584448"/>
            <a:ext cx="1417091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 ATUAL</a:t>
            </a:r>
            <a:endParaRPr lang="en-US" sz="850" dirty="0"/>
          </a:p>
        </p:txBody>
      </p:sp>
      <p:sp>
        <p:nvSpPr>
          <p:cNvPr id="178" name="Text 148"/>
          <p:cNvSpPr txBox="1"/>
          <p:nvPr/>
        </p:nvSpPr>
        <p:spPr>
          <a:xfrm>
            <a:off x="11146536" y="3584448"/>
            <a:ext cx="676656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79" name="Text 149"/>
          <p:cNvSpPr txBox="1"/>
          <p:nvPr/>
        </p:nvSpPr>
        <p:spPr>
          <a:xfrm>
            <a:off x="9263101" y="3848710"/>
            <a:ext cx="237744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850" dirty="0"/>
          </a:p>
        </p:txBody>
      </p:sp>
      <p:pic>
        <p:nvPicPr>
          <p:cNvPr id="180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9509989" y="3893972"/>
            <a:ext cx="173736" cy="173736"/>
          </a:xfrm>
          <a:prstGeom prst="rect">
            <a:avLst/>
          </a:prstGeom>
        </p:spPr>
      </p:pic>
      <p:sp>
        <p:nvSpPr>
          <p:cNvPr id="181" name="Text 150"/>
          <p:cNvSpPr txBox="1"/>
          <p:nvPr/>
        </p:nvSpPr>
        <p:spPr>
          <a:xfrm>
            <a:off x="9738589" y="3848710"/>
            <a:ext cx="1417091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CARREIRA E RECOMPENSA</a:t>
            </a:r>
            <a:endParaRPr lang="en-US" sz="850" dirty="0"/>
          </a:p>
        </p:txBody>
      </p:sp>
      <p:sp>
        <p:nvSpPr>
          <p:cNvPr id="182" name="Text 151"/>
          <p:cNvSpPr txBox="1"/>
          <p:nvPr/>
        </p:nvSpPr>
        <p:spPr>
          <a:xfrm>
            <a:off x="11146536" y="3848710"/>
            <a:ext cx="676656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83" name="Text 152"/>
          <p:cNvSpPr txBox="1"/>
          <p:nvPr/>
        </p:nvSpPr>
        <p:spPr>
          <a:xfrm>
            <a:off x="9263101" y="4112971"/>
            <a:ext cx="237744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850" dirty="0"/>
          </a:p>
        </p:txBody>
      </p:sp>
      <p:pic>
        <p:nvPicPr>
          <p:cNvPr id="184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9509989" y="4158234"/>
            <a:ext cx="173736" cy="173736"/>
          </a:xfrm>
          <a:prstGeom prst="rect">
            <a:avLst/>
          </a:prstGeom>
        </p:spPr>
      </p:pic>
      <p:sp>
        <p:nvSpPr>
          <p:cNvPr id="185" name="Text 153"/>
          <p:cNvSpPr txBox="1"/>
          <p:nvPr/>
        </p:nvSpPr>
        <p:spPr>
          <a:xfrm>
            <a:off x="9738589" y="4112971"/>
            <a:ext cx="1417091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TREINAMENTO</a:t>
            </a:r>
            <a:endParaRPr lang="en-US" sz="850" dirty="0"/>
          </a:p>
        </p:txBody>
      </p:sp>
      <p:sp>
        <p:nvSpPr>
          <p:cNvPr id="186" name="Text 154"/>
          <p:cNvSpPr txBox="1"/>
          <p:nvPr/>
        </p:nvSpPr>
        <p:spPr>
          <a:xfrm>
            <a:off x="11146536" y="4112971"/>
            <a:ext cx="676656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87" name="Text 155"/>
          <p:cNvSpPr txBox="1"/>
          <p:nvPr/>
        </p:nvSpPr>
        <p:spPr>
          <a:xfrm>
            <a:off x="9263101" y="4377233"/>
            <a:ext cx="237744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850" dirty="0"/>
          </a:p>
        </p:txBody>
      </p:sp>
      <p:pic>
        <p:nvPicPr>
          <p:cNvPr id="188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9509989" y="4422496"/>
            <a:ext cx="173736" cy="173736"/>
          </a:xfrm>
          <a:prstGeom prst="rect">
            <a:avLst/>
          </a:prstGeom>
        </p:spPr>
      </p:pic>
      <p:sp>
        <p:nvSpPr>
          <p:cNvPr id="189" name="Text 156"/>
          <p:cNvSpPr txBox="1"/>
          <p:nvPr/>
        </p:nvSpPr>
        <p:spPr>
          <a:xfrm>
            <a:off x="9738589" y="4377233"/>
            <a:ext cx="1417091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MEDICINA</a:t>
            </a:r>
            <a:endParaRPr lang="en-US" sz="850" dirty="0"/>
          </a:p>
        </p:txBody>
      </p:sp>
      <p:sp>
        <p:nvSpPr>
          <p:cNvPr id="190" name="Text 157"/>
          <p:cNvSpPr txBox="1"/>
          <p:nvPr/>
        </p:nvSpPr>
        <p:spPr>
          <a:xfrm>
            <a:off x="11146536" y="4377233"/>
            <a:ext cx="676656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91" name="Text 158"/>
          <p:cNvSpPr txBox="1"/>
          <p:nvPr/>
        </p:nvSpPr>
        <p:spPr>
          <a:xfrm>
            <a:off x="9263101" y="4641494"/>
            <a:ext cx="237744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850" dirty="0"/>
          </a:p>
        </p:txBody>
      </p:sp>
      <p:pic>
        <p:nvPicPr>
          <p:cNvPr id="192" name="Image 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9509989" y="4686757"/>
            <a:ext cx="173736" cy="173736"/>
          </a:xfrm>
          <a:prstGeom prst="rect">
            <a:avLst/>
          </a:prstGeom>
        </p:spPr>
      </p:pic>
      <p:sp>
        <p:nvSpPr>
          <p:cNvPr id="193" name="Text 159"/>
          <p:cNvSpPr txBox="1"/>
          <p:nvPr/>
        </p:nvSpPr>
        <p:spPr>
          <a:xfrm>
            <a:off x="9738589" y="4641494"/>
            <a:ext cx="1417091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DO TRABALHO</a:t>
            </a:r>
            <a:endParaRPr lang="en-US" sz="850" dirty="0"/>
          </a:p>
        </p:txBody>
      </p:sp>
      <p:sp>
        <p:nvSpPr>
          <p:cNvPr id="194" name="Text 160"/>
          <p:cNvSpPr txBox="1"/>
          <p:nvPr/>
        </p:nvSpPr>
        <p:spPr>
          <a:xfrm>
            <a:off x="11146536" y="4641494"/>
            <a:ext cx="676656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95" name="Text 161"/>
          <p:cNvSpPr txBox="1"/>
          <p:nvPr/>
        </p:nvSpPr>
        <p:spPr>
          <a:xfrm>
            <a:off x="9263101" y="4905756"/>
            <a:ext cx="237744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</a:t>
            </a:r>
            <a:endParaRPr lang="en-US" sz="850" dirty="0"/>
          </a:p>
        </p:txBody>
      </p:sp>
      <p:pic>
        <p:nvPicPr>
          <p:cNvPr id="196" name="Image 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9509989" y="4951019"/>
            <a:ext cx="173736" cy="173736"/>
          </a:xfrm>
          <a:prstGeom prst="rect">
            <a:avLst/>
          </a:prstGeom>
        </p:spPr>
      </p:pic>
      <p:sp>
        <p:nvSpPr>
          <p:cNvPr id="197" name="Text 162"/>
          <p:cNvSpPr txBox="1"/>
          <p:nvPr/>
        </p:nvSpPr>
        <p:spPr>
          <a:xfrm>
            <a:off x="9738589" y="4905756"/>
            <a:ext cx="1417091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 SOLICITANTE</a:t>
            </a:r>
            <a:endParaRPr lang="en-US" sz="850" dirty="0"/>
          </a:p>
        </p:txBody>
      </p:sp>
      <p:sp>
        <p:nvSpPr>
          <p:cNvPr id="198" name="Text 163"/>
          <p:cNvSpPr txBox="1"/>
          <p:nvPr/>
        </p:nvSpPr>
        <p:spPr>
          <a:xfrm>
            <a:off x="11146536" y="4905756"/>
            <a:ext cx="676656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8A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CONTRIBUINTE</a:t>
            </a:r>
            <a:endParaRPr lang="en-US" sz="700" dirty="0"/>
          </a:p>
        </p:txBody>
      </p:sp>
      <p:sp>
        <p:nvSpPr>
          <p:cNvPr id="199" name="Text 164"/>
          <p:cNvSpPr txBox="1"/>
          <p:nvPr/>
        </p:nvSpPr>
        <p:spPr>
          <a:xfrm>
            <a:off x="9263101" y="5170018"/>
            <a:ext cx="237744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</a:t>
            </a:r>
            <a:endParaRPr lang="en-US" sz="850" dirty="0"/>
          </a:p>
        </p:txBody>
      </p:sp>
      <p:pic>
        <p:nvPicPr>
          <p:cNvPr id="200" name="Image 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9509989" y="5215280"/>
            <a:ext cx="173736" cy="173736"/>
          </a:xfrm>
          <a:prstGeom prst="rect">
            <a:avLst/>
          </a:prstGeom>
        </p:spPr>
      </p:pic>
      <p:sp>
        <p:nvSpPr>
          <p:cNvPr id="201" name="Text 165"/>
          <p:cNvSpPr txBox="1"/>
          <p:nvPr/>
        </p:nvSpPr>
        <p:spPr>
          <a:xfrm>
            <a:off x="9738589" y="5170018"/>
            <a:ext cx="1417091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COLABORADOR</a:t>
            </a:r>
            <a:endParaRPr lang="en-US" sz="850" dirty="0"/>
          </a:p>
        </p:txBody>
      </p:sp>
      <p:sp>
        <p:nvSpPr>
          <p:cNvPr id="202" name="Text 166"/>
          <p:cNvSpPr txBox="1"/>
          <p:nvPr/>
        </p:nvSpPr>
        <p:spPr>
          <a:xfrm>
            <a:off x="11146536" y="5170018"/>
            <a:ext cx="676656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203" name="Text 167"/>
          <p:cNvSpPr txBox="1"/>
          <p:nvPr/>
        </p:nvSpPr>
        <p:spPr>
          <a:xfrm>
            <a:off x="9263101" y="5434279"/>
            <a:ext cx="237744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</a:t>
            </a:r>
            <a:endParaRPr lang="en-US" sz="850" dirty="0"/>
          </a:p>
        </p:txBody>
      </p:sp>
      <p:pic>
        <p:nvPicPr>
          <p:cNvPr id="204" name="Image 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9509989" y="5479542"/>
            <a:ext cx="173736" cy="173736"/>
          </a:xfrm>
          <a:prstGeom prst="rect">
            <a:avLst/>
          </a:prstGeom>
        </p:spPr>
      </p:pic>
      <p:sp>
        <p:nvSpPr>
          <p:cNvPr id="205" name="Text 168"/>
          <p:cNvSpPr txBox="1"/>
          <p:nvPr/>
        </p:nvSpPr>
        <p:spPr>
          <a:xfrm>
            <a:off x="9738589" y="5434279"/>
            <a:ext cx="1417091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CARREIRA E RECOMPENSA</a:t>
            </a:r>
            <a:endParaRPr lang="en-US" sz="850" dirty="0"/>
          </a:p>
        </p:txBody>
      </p:sp>
      <p:sp>
        <p:nvSpPr>
          <p:cNvPr id="206" name="Text 169"/>
          <p:cNvSpPr txBox="1"/>
          <p:nvPr/>
        </p:nvSpPr>
        <p:spPr>
          <a:xfrm>
            <a:off x="11146536" y="5434279"/>
            <a:ext cx="676656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207" name="Shape 170"/>
          <p:cNvSpPr/>
          <p:nvPr/>
        </p:nvSpPr>
        <p:spPr>
          <a:xfrm>
            <a:off x="9226525" y="5707685"/>
            <a:ext cx="2633243" cy="245974"/>
          </a:xfrm>
          <a:prstGeom prst="roundRect">
            <a:avLst>
              <a:gd name="adj" fmla="val 11152"/>
            </a:avLst>
          </a:prstGeom>
          <a:solidFill>
            <a:srgbClr val="FFF1CC"/>
          </a:solidFill>
          <a:ln w="6350">
            <a:solidFill>
              <a:srgbClr val="F2D27A"/>
            </a:solidFill>
            <a:prstDash val="solid"/>
          </a:ln>
        </p:spPr>
      </p:sp>
      <p:sp>
        <p:nvSpPr>
          <p:cNvPr id="208" name="Text 171"/>
          <p:cNvSpPr txBox="1"/>
          <p:nvPr/>
        </p:nvSpPr>
        <p:spPr>
          <a:xfrm>
            <a:off x="9263101" y="5698541"/>
            <a:ext cx="237744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</a:t>
            </a:r>
            <a:endParaRPr lang="en-US" sz="850" dirty="0"/>
          </a:p>
        </p:txBody>
      </p:sp>
      <p:pic>
        <p:nvPicPr>
          <p:cNvPr id="209" name="Image 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9509989" y="5743804"/>
            <a:ext cx="173736" cy="173736"/>
          </a:xfrm>
          <a:prstGeom prst="rect">
            <a:avLst/>
          </a:prstGeom>
        </p:spPr>
      </p:pic>
      <p:sp>
        <p:nvSpPr>
          <p:cNvPr id="210" name="Text 172"/>
          <p:cNvSpPr txBox="1"/>
          <p:nvPr/>
        </p:nvSpPr>
        <p:spPr>
          <a:xfrm>
            <a:off x="9738589" y="5698541"/>
            <a:ext cx="1417091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CONTROLADORIA</a:t>
            </a:r>
            <a:endParaRPr lang="en-US" sz="850" dirty="0"/>
          </a:p>
        </p:txBody>
      </p:sp>
      <p:sp>
        <p:nvSpPr>
          <p:cNvPr id="211" name="Text 173"/>
          <p:cNvSpPr txBox="1"/>
          <p:nvPr/>
        </p:nvSpPr>
        <p:spPr>
          <a:xfrm>
            <a:off x="11146536" y="5698541"/>
            <a:ext cx="676656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CÓPIA</a:t>
            </a:r>
            <a:endParaRPr lang="en-US" sz="700" dirty="0"/>
          </a:p>
        </p:txBody>
      </p:sp>
      <p:sp>
        <p:nvSpPr>
          <p:cNvPr id="212" name="Shape 174"/>
          <p:cNvSpPr/>
          <p:nvPr/>
        </p:nvSpPr>
        <p:spPr>
          <a:xfrm>
            <a:off x="9226525" y="5971946"/>
            <a:ext cx="2633243" cy="245974"/>
          </a:xfrm>
          <a:prstGeom prst="roundRect">
            <a:avLst>
              <a:gd name="adj" fmla="val 11152"/>
            </a:avLst>
          </a:prstGeom>
          <a:solidFill>
            <a:srgbClr val="FFF1CC"/>
          </a:solidFill>
          <a:ln w="6350">
            <a:solidFill>
              <a:srgbClr val="F2D27A"/>
            </a:solidFill>
            <a:prstDash val="solid"/>
          </a:ln>
        </p:spPr>
      </p:sp>
      <p:sp>
        <p:nvSpPr>
          <p:cNvPr id="213" name="Text 175"/>
          <p:cNvSpPr txBox="1"/>
          <p:nvPr/>
        </p:nvSpPr>
        <p:spPr>
          <a:xfrm>
            <a:off x="9263101" y="5962802"/>
            <a:ext cx="237744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</a:t>
            </a:r>
            <a:endParaRPr lang="en-US" sz="850" dirty="0"/>
          </a:p>
        </p:txBody>
      </p:sp>
      <p:pic>
        <p:nvPicPr>
          <p:cNvPr id="214" name="Image 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9509989" y="6008065"/>
            <a:ext cx="173736" cy="173736"/>
          </a:xfrm>
          <a:prstGeom prst="rect">
            <a:avLst/>
          </a:prstGeom>
        </p:spPr>
      </p:pic>
      <p:sp>
        <p:nvSpPr>
          <p:cNvPr id="215" name="Text 176"/>
          <p:cNvSpPr txBox="1"/>
          <p:nvPr/>
        </p:nvSpPr>
        <p:spPr>
          <a:xfrm>
            <a:off x="9738589" y="5962802"/>
            <a:ext cx="1417091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FOLHA DE PAGAMENTO</a:t>
            </a:r>
            <a:endParaRPr lang="en-US" sz="850" dirty="0"/>
          </a:p>
        </p:txBody>
      </p:sp>
      <p:sp>
        <p:nvSpPr>
          <p:cNvPr id="216" name="Text 177"/>
          <p:cNvSpPr txBox="1"/>
          <p:nvPr/>
        </p:nvSpPr>
        <p:spPr>
          <a:xfrm>
            <a:off x="11146536" y="5962802"/>
            <a:ext cx="676656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CÓPIA</a:t>
            </a:r>
            <a:endParaRPr lang="en-US" sz="700" dirty="0"/>
          </a:p>
        </p:txBody>
      </p:sp>
      <p:sp>
        <p:nvSpPr>
          <p:cNvPr id="217" name="Shape 178"/>
          <p:cNvSpPr/>
          <p:nvPr/>
        </p:nvSpPr>
        <p:spPr>
          <a:xfrm>
            <a:off x="320040" y="6364224"/>
            <a:ext cx="8412480" cy="365760"/>
          </a:xfrm>
          <a:prstGeom prst="roundRect">
            <a:avLst>
              <a:gd name="adj" fmla="val 12500"/>
            </a:avLst>
          </a:prstGeom>
          <a:solidFill>
            <a:srgbClr val="E9F0F9"/>
          </a:solidFill>
          <a:ln w="12700">
            <a:solidFill>
              <a:srgbClr val="C9D6EA"/>
            </a:solidFill>
            <a:prstDash val="solid"/>
          </a:ln>
        </p:spPr>
      </p:sp>
      <p:sp>
        <p:nvSpPr>
          <p:cNvPr id="218" name="Text 179"/>
          <p:cNvSpPr txBox="1"/>
          <p:nvPr/>
        </p:nvSpPr>
        <p:spPr>
          <a:xfrm>
            <a:off x="429768" y="636422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23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ALTERAM A ROTA NESTE EVENTO:  </a:t>
            </a:r>
            <a:pPr indent="0" marL="0">
              <a:buNone/>
            </a:pP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 filial / Muda setor (NÃO/NÃO · NÃO/SIM · SIM/SIM)  ·  Natureza atual: Não gestão  ·  Natureza destino: Não gestão</a:t>
            </a:r>
            <a:endParaRPr lang="en-US" sz="800" dirty="0"/>
          </a:p>
        </p:txBody>
      </p:sp>
      <p:sp>
        <p:nvSpPr>
          <p:cNvPr id="219" name="Shape 180"/>
          <p:cNvSpPr/>
          <p:nvPr/>
        </p:nvSpPr>
        <p:spPr>
          <a:xfrm>
            <a:off x="8869680" y="6364224"/>
            <a:ext cx="3044952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C9D6EA"/>
            </a:solidFill>
            <a:prstDash val="solid"/>
          </a:ln>
        </p:spPr>
      </p:sp>
      <p:sp>
        <p:nvSpPr>
          <p:cNvPr id="220" name="Shape 181"/>
          <p:cNvSpPr/>
          <p:nvPr/>
        </p:nvSpPr>
        <p:spPr>
          <a:xfrm>
            <a:off x="8961120" y="6446520"/>
            <a:ext cx="320040" cy="201168"/>
          </a:xfrm>
          <a:prstGeom prst="roundRect">
            <a:avLst>
              <a:gd name="adj" fmla="val 13636"/>
            </a:avLst>
          </a:prstGeom>
          <a:solidFill>
            <a:srgbClr val="FFF1CC"/>
          </a:solidFill>
          <a:ln w="6350">
            <a:solidFill>
              <a:srgbClr val="F2D27A"/>
            </a:solidFill>
            <a:prstDash val="solid"/>
          </a:ln>
        </p:spPr>
      </p:sp>
      <p:sp>
        <p:nvSpPr>
          <p:cNvPr id="221" name="Text 182"/>
          <p:cNvSpPr txBox="1"/>
          <p:nvPr/>
        </p:nvSpPr>
        <p:spPr>
          <a:xfrm>
            <a:off x="9345168" y="6364224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que muda conforme a decisão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11640312" cy="749808"/>
          </a:xfrm>
          <a:prstGeom prst="roundRect">
            <a:avLst>
              <a:gd name="adj" fmla="val 7317"/>
            </a:avLst>
          </a:prstGeom>
          <a:solidFill>
            <a:srgbClr val="123C7A"/>
          </a:solidFill>
          <a:ln w="12700">
            <a:solidFill>
              <a:srgbClr val="123C7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219456"/>
            <a:ext cx="116403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DE APROVAÇÃO – PROMOÇÃO DE CARGO – GESTÃO / CARREIRA Y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274320" y="585216"/>
            <a:ext cx="11640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MOVIMENTAÇÃO DE PESSOAS  ·  EVENTO 4 DE 5  ·  12 REGRAS CONSOLIDADAS EM 2 ROTAS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20040" y="1280160"/>
            <a:ext cx="914400" cy="402336"/>
          </a:xfrm>
          <a:prstGeom prst="roundRect">
            <a:avLst>
              <a:gd name="adj" fmla="val 50000"/>
            </a:avLst>
          </a:prstGeom>
          <a:solidFill>
            <a:srgbClr val="2E8B3E"/>
          </a:solidFill>
          <a:ln w="12700">
            <a:solidFill>
              <a:srgbClr val="2E8B3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20040" y="1280160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INÍCIO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234440" y="1481328"/>
            <a:ext cx="182880" cy="0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417320" y="1115568"/>
            <a:ext cx="1874520" cy="731520"/>
          </a:xfrm>
          <a:prstGeom prst="roundRect">
            <a:avLst>
              <a:gd name="adj" fmla="val 6250"/>
            </a:avLst>
          </a:prstGeom>
          <a:solidFill>
            <a:srgbClr val="E9F0F9"/>
          </a:solidFill>
          <a:ln w="12700">
            <a:solidFill>
              <a:srgbClr val="C9D6EA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1325880"/>
            <a:ext cx="310896" cy="310896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892808" y="1115568"/>
            <a:ext cx="1353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3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MOTIVO (GESTOR)</a:t>
            </a:r>
            <a:endParaRPr lang="en-US" sz="1050" dirty="0"/>
          </a:p>
          <a:p>
            <a:pPr indent="0" marL="0">
              <a:buNone/>
            </a:pPr>
            <a:r>
              <a:rPr lang="en-US" sz="9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MOVIMENTAÇÃO DE PESSOAS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291840" y="1481328"/>
            <a:ext cx="182880" cy="0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3474720" y="1115568"/>
            <a:ext cx="2331720" cy="731520"/>
          </a:xfrm>
          <a:prstGeom prst="roundRect">
            <a:avLst>
              <a:gd name="adj" fmla="val 6250"/>
            </a:avLst>
          </a:prstGeom>
          <a:solidFill>
            <a:srgbClr val="E9F0F9"/>
          </a:solidFill>
          <a:ln w="12700">
            <a:solidFill>
              <a:srgbClr val="C9D6EA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325880"/>
            <a:ext cx="310896" cy="31089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950208" y="1115568"/>
            <a:ext cx="1810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3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EVENTO (C&amp;R)</a:t>
            </a:r>
            <a:endParaRPr lang="en-US" sz="1050" dirty="0"/>
          </a:p>
          <a:p>
            <a:pPr indent="0" marL="0">
              <a:buNone/>
            </a:pPr>
            <a:r>
              <a:rPr lang="en-US" sz="9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PROMOÇÃO DE CARGO (GESTÃO / CARREIRA Y)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806440" y="1481328"/>
            <a:ext cx="182880" cy="0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5989320" y="1115568"/>
            <a:ext cx="1783080" cy="731520"/>
          </a:xfrm>
          <a:prstGeom prst="roundRect">
            <a:avLst>
              <a:gd name="adj" fmla="val 6250"/>
            </a:avLst>
          </a:prstGeom>
          <a:solidFill>
            <a:srgbClr val="E3F1E4"/>
          </a:solidFill>
          <a:ln w="12700">
            <a:solidFill>
              <a:srgbClr val="A8D1A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071616" y="1307592"/>
            <a:ext cx="347472" cy="347472"/>
          </a:xfrm>
          <a:prstGeom prst="ellipse">
            <a:avLst/>
          </a:prstGeom>
          <a:solidFill>
            <a:srgbClr val="2E8B3E"/>
          </a:solidFill>
          <a:ln w="12700">
            <a:solidFill>
              <a:srgbClr val="2E8B3E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3912" y="1389888"/>
            <a:ext cx="182880" cy="18288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492240" y="1115568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INICIAR ANÁLISE DAS CONDIÇÕES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10287000" y="1115568"/>
            <a:ext cx="162763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9D6EA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10287000" y="1115568"/>
            <a:ext cx="1627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3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regras</a:t>
            </a:r>
            <a:endParaRPr lang="en-US" sz="15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2 rotas de aprovação</a:t>
            </a:r>
            <a:endParaRPr lang="en-US" sz="1500" dirty="0"/>
          </a:p>
        </p:txBody>
      </p:sp>
      <p:sp>
        <p:nvSpPr>
          <p:cNvPr id="22" name="Shape 17"/>
          <p:cNvSpPr/>
          <p:nvPr/>
        </p:nvSpPr>
        <p:spPr>
          <a:xfrm>
            <a:off x="7772400" y="1481328"/>
            <a:ext cx="393192" cy="0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  <a:tailEnd type="triangle"/>
          </a:ln>
        </p:spPr>
      </p:sp>
      <p:sp>
        <p:nvSpPr>
          <p:cNvPr id="23" name="Shape 18"/>
          <p:cNvSpPr/>
          <p:nvPr/>
        </p:nvSpPr>
        <p:spPr>
          <a:xfrm>
            <a:off x="8165592" y="1024128"/>
            <a:ext cx="1828800" cy="914400"/>
          </a:xfrm>
          <a:prstGeom prst="diamond">
            <a:avLst/>
          </a:prstGeom>
          <a:solidFill>
            <a:srgbClr val="D6E4F5"/>
          </a:solidFill>
          <a:ln w="19050">
            <a:solidFill>
              <a:srgbClr val="2B4F8C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8421624" y="1207008"/>
            <a:ext cx="1316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3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ALTERA GESTOR?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9079992" y="1938528"/>
            <a:ext cx="0" cy="210312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3154680" y="2148840"/>
            <a:ext cx="5925312" cy="0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3154680" y="2148840"/>
            <a:ext cx="0" cy="137160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  <a:tailEnd type="triangle"/>
          </a:ln>
        </p:spPr>
      </p:sp>
      <p:sp>
        <p:nvSpPr>
          <p:cNvPr id="28" name="Shape 23"/>
          <p:cNvSpPr/>
          <p:nvPr/>
        </p:nvSpPr>
        <p:spPr>
          <a:xfrm>
            <a:off x="9079992" y="2148840"/>
            <a:ext cx="0" cy="137160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  <a:tailEnd type="triangle"/>
          </a:ln>
        </p:spPr>
      </p:sp>
      <p:sp>
        <p:nvSpPr>
          <p:cNvPr id="29" name="Text 24"/>
          <p:cNvSpPr txBox="1"/>
          <p:nvPr/>
        </p:nvSpPr>
        <p:spPr>
          <a:xfrm>
            <a:off x="3246120" y="19476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endParaRPr lang="en-US" sz="1000" dirty="0"/>
          </a:p>
        </p:txBody>
      </p:sp>
      <p:sp>
        <p:nvSpPr>
          <p:cNvPr id="30" name="Text 25"/>
          <p:cNvSpPr txBox="1"/>
          <p:nvPr/>
        </p:nvSpPr>
        <p:spPr>
          <a:xfrm>
            <a:off x="9171432" y="21305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320040" y="2578608"/>
            <a:ext cx="5669280" cy="3694176"/>
          </a:xfrm>
          <a:prstGeom prst="roundRect">
            <a:avLst>
              <a:gd name="adj" fmla="val 1485"/>
            </a:avLst>
          </a:prstGeom>
          <a:solidFill>
            <a:srgbClr val="EFF3F9"/>
          </a:solidFill>
          <a:ln w="12700">
            <a:solidFill>
              <a:srgbClr val="9AB5D7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320040" y="2578608"/>
            <a:ext cx="5669280" cy="365760"/>
          </a:xfrm>
          <a:prstGeom prst="roundRect">
            <a:avLst>
              <a:gd name="adj" fmla="val 15000"/>
            </a:avLst>
          </a:prstGeom>
          <a:solidFill>
            <a:srgbClr val="1F5AA6"/>
          </a:solidFill>
          <a:ln w="12700">
            <a:solidFill>
              <a:srgbClr val="1F5AA6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320040" y="2807208"/>
            <a:ext cx="5669280" cy="137160"/>
          </a:xfrm>
          <a:prstGeom prst="rect">
            <a:avLst/>
          </a:prstGeom>
          <a:solidFill>
            <a:srgbClr val="1F5AA6"/>
          </a:solidFill>
          <a:ln w="12700">
            <a:solidFill>
              <a:srgbClr val="1F5AA6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2926080" y="2286000"/>
            <a:ext cx="457200" cy="457200"/>
          </a:xfrm>
          <a:prstGeom prst="ellipse">
            <a:avLst/>
          </a:prstGeom>
          <a:solidFill>
            <a:srgbClr val="1F5AA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5" name="Text 30"/>
          <p:cNvSpPr txBox="1"/>
          <p:nvPr/>
        </p:nvSpPr>
        <p:spPr>
          <a:xfrm>
            <a:off x="292608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36" name="Text 31"/>
          <p:cNvSpPr txBox="1"/>
          <p:nvPr/>
        </p:nvSpPr>
        <p:spPr>
          <a:xfrm>
            <a:off x="429768" y="25786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 B</a:t>
            </a:r>
            <a:endParaRPr lang="en-US" sz="1300" dirty="0"/>
          </a:p>
        </p:txBody>
      </p:sp>
      <p:sp>
        <p:nvSpPr>
          <p:cNvPr id="37" name="Text 32"/>
          <p:cNvSpPr txBox="1"/>
          <p:nvPr/>
        </p:nvSpPr>
        <p:spPr>
          <a:xfrm>
            <a:off x="4663440" y="2578608"/>
            <a:ext cx="1216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regras · 11 etapas</a:t>
            </a:r>
            <a:endParaRPr lang="en-US" sz="950" dirty="0"/>
          </a:p>
        </p:txBody>
      </p:sp>
      <p:sp>
        <p:nvSpPr>
          <p:cNvPr id="38" name="Text 33"/>
          <p:cNvSpPr txBox="1"/>
          <p:nvPr/>
        </p:nvSpPr>
        <p:spPr>
          <a:xfrm>
            <a:off x="411480" y="3035808"/>
            <a:ext cx="237744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850" dirty="0"/>
          </a:p>
        </p:txBody>
      </p:sp>
      <p:pic>
        <p:nvPicPr>
          <p:cNvPr id="3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3081909"/>
            <a:ext cx="173736" cy="173736"/>
          </a:xfrm>
          <a:prstGeom prst="rect">
            <a:avLst/>
          </a:prstGeom>
        </p:spPr>
      </p:pic>
      <p:sp>
        <p:nvSpPr>
          <p:cNvPr id="40" name="Text 34"/>
          <p:cNvSpPr txBox="1"/>
          <p:nvPr/>
        </p:nvSpPr>
        <p:spPr>
          <a:xfrm>
            <a:off x="886968" y="3035808"/>
            <a:ext cx="2075688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CARREIRA E RECOMPENSA</a:t>
            </a:r>
            <a:endParaRPr lang="en-US" sz="850" dirty="0"/>
          </a:p>
        </p:txBody>
      </p:sp>
      <p:sp>
        <p:nvSpPr>
          <p:cNvPr id="41" name="Text 35"/>
          <p:cNvSpPr txBox="1"/>
          <p:nvPr/>
        </p:nvSpPr>
        <p:spPr>
          <a:xfrm>
            <a:off x="2953512" y="3035808"/>
            <a:ext cx="676656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42" name="Text 36"/>
          <p:cNvSpPr txBox="1"/>
          <p:nvPr/>
        </p:nvSpPr>
        <p:spPr>
          <a:xfrm>
            <a:off x="411480" y="3301746"/>
            <a:ext cx="237744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850" dirty="0"/>
          </a:p>
        </p:txBody>
      </p:sp>
      <p:pic>
        <p:nvPicPr>
          <p:cNvPr id="4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3347847"/>
            <a:ext cx="173736" cy="173736"/>
          </a:xfrm>
          <a:prstGeom prst="rect">
            <a:avLst/>
          </a:prstGeom>
        </p:spPr>
      </p:pic>
      <p:sp>
        <p:nvSpPr>
          <p:cNvPr id="44" name="Text 37"/>
          <p:cNvSpPr txBox="1"/>
          <p:nvPr/>
        </p:nvSpPr>
        <p:spPr>
          <a:xfrm>
            <a:off x="886968" y="3301746"/>
            <a:ext cx="2075688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850" dirty="0"/>
          </a:p>
        </p:txBody>
      </p:sp>
      <p:sp>
        <p:nvSpPr>
          <p:cNvPr id="45" name="Text 38"/>
          <p:cNvSpPr txBox="1"/>
          <p:nvPr/>
        </p:nvSpPr>
        <p:spPr>
          <a:xfrm>
            <a:off x="2953512" y="3301746"/>
            <a:ext cx="676656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46" name="Text 39"/>
          <p:cNvSpPr txBox="1"/>
          <p:nvPr/>
        </p:nvSpPr>
        <p:spPr>
          <a:xfrm>
            <a:off x="411480" y="3567684"/>
            <a:ext cx="237744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850" dirty="0"/>
          </a:p>
        </p:txBody>
      </p:sp>
      <p:pic>
        <p:nvPicPr>
          <p:cNvPr id="4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" y="3613785"/>
            <a:ext cx="173736" cy="173736"/>
          </a:xfrm>
          <a:prstGeom prst="rect">
            <a:avLst/>
          </a:prstGeom>
        </p:spPr>
      </p:pic>
      <p:sp>
        <p:nvSpPr>
          <p:cNvPr id="48" name="Text 40"/>
          <p:cNvSpPr txBox="1"/>
          <p:nvPr/>
        </p:nvSpPr>
        <p:spPr>
          <a:xfrm>
            <a:off x="886968" y="3567684"/>
            <a:ext cx="2075688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DESENV. HUMANO ORGANIZACIONAL</a:t>
            </a:r>
            <a:endParaRPr lang="en-US" sz="750" dirty="0"/>
          </a:p>
        </p:txBody>
      </p:sp>
      <p:sp>
        <p:nvSpPr>
          <p:cNvPr id="49" name="Text 41"/>
          <p:cNvSpPr txBox="1"/>
          <p:nvPr/>
        </p:nvSpPr>
        <p:spPr>
          <a:xfrm>
            <a:off x="2953512" y="3567684"/>
            <a:ext cx="676656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50" name="Text 42"/>
          <p:cNvSpPr txBox="1"/>
          <p:nvPr/>
        </p:nvSpPr>
        <p:spPr>
          <a:xfrm>
            <a:off x="411480" y="3833622"/>
            <a:ext cx="237744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850" dirty="0"/>
          </a:p>
        </p:txBody>
      </p:sp>
      <p:pic>
        <p:nvPicPr>
          <p:cNvPr id="5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368" y="3879723"/>
            <a:ext cx="173736" cy="173736"/>
          </a:xfrm>
          <a:prstGeom prst="rect">
            <a:avLst/>
          </a:prstGeom>
        </p:spPr>
      </p:pic>
      <p:sp>
        <p:nvSpPr>
          <p:cNvPr id="52" name="Text 43"/>
          <p:cNvSpPr txBox="1"/>
          <p:nvPr/>
        </p:nvSpPr>
        <p:spPr>
          <a:xfrm>
            <a:off x="886968" y="3833622"/>
            <a:ext cx="2075688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TREINAMENTO</a:t>
            </a:r>
            <a:endParaRPr lang="en-US" sz="850" dirty="0"/>
          </a:p>
        </p:txBody>
      </p:sp>
      <p:sp>
        <p:nvSpPr>
          <p:cNvPr id="53" name="Text 44"/>
          <p:cNvSpPr txBox="1"/>
          <p:nvPr/>
        </p:nvSpPr>
        <p:spPr>
          <a:xfrm>
            <a:off x="2953512" y="3833622"/>
            <a:ext cx="676656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54" name="Text 45"/>
          <p:cNvSpPr txBox="1"/>
          <p:nvPr/>
        </p:nvSpPr>
        <p:spPr>
          <a:xfrm>
            <a:off x="411480" y="4099560"/>
            <a:ext cx="237744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850" dirty="0"/>
          </a:p>
        </p:txBody>
      </p:sp>
      <p:pic>
        <p:nvPicPr>
          <p:cNvPr id="5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368" y="4145661"/>
            <a:ext cx="173736" cy="173736"/>
          </a:xfrm>
          <a:prstGeom prst="rect">
            <a:avLst/>
          </a:prstGeom>
        </p:spPr>
      </p:pic>
      <p:sp>
        <p:nvSpPr>
          <p:cNvPr id="56" name="Text 46"/>
          <p:cNvSpPr txBox="1"/>
          <p:nvPr/>
        </p:nvSpPr>
        <p:spPr>
          <a:xfrm>
            <a:off x="886968" y="4099560"/>
            <a:ext cx="2075688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MEDICINA</a:t>
            </a:r>
            <a:endParaRPr lang="en-US" sz="850" dirty="0"/>
          </a:p>
        </p:txBody>
      </p:sp>
      <p:sp>
        <p:nvSpPr>
          <p:cNvPr id="57" name="Text 47"/>
          <p:cNvSpPr txBox="1"/>
          <p:nvPr/>
        </p:nvSpPr>
        <p:spPr>
          <a:xfrm>
            <a:off x="2953512" y="4099560"/>
            <a:ext cx="676656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58" name="Text 48"/>
          <p:cNvSpPr txBox="1"/>
          <p:nvPr/>
        </p:nvSpPr>
        <p:spPr>
          <a:xfrm>
            <a:off x="411480" y="4365498"/>
            <a:ext cx="237744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</a:t>
            </a:r>
            <a:endParaRPr lang="en-US" sz="850" dirty="0"/>
          </a:p>
        </p:txBody>
      </p:sp>
      <p:pic>
        <p:nvPicPr>
          <p:cNvPr id="5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8368" y="4411599"/>
            <a:ext cx="173736" cy="173736"/>
          </a:xfrm>
          <a:prstGeom prst="rect">
            <a:avLst/>
          </a:prstGeom>
        </p:spPr>
      </p:pic>
      <p:sp>
        <p:nvSpPr>
          <p:cNvPr id="60" name="Text 49"/>
          <p:cNvSpPr txBox="1"/>
          <p:nvPr/>
        </p:nvSpPr>
        <p:spPr>
          <a:xfrm>
            <a:off x="886968" y="4365498"/>
            <a:ext cx="2075688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DO TRABALHO</a:t>
            </a:r>
            <a:endParaRPr lang="en-US" sz="850" dirty="0"/>
          </a:p>
        </p:txBody>
      </p:sp>
      <p:sp>
        <p:nvSpPr>
          <p:cNvPr id="61" name="Text 50"/>
          <p:cNvSpPr txBox="1"/>
          <p:nvPr/>
        </p:nvSpPr>
        <p:spPr>
          <a:xfrm>
            <a:off x="2953512" y="4365498"/>
            <a:ext cx="676656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62" name="Text 51"/>
          <p:cNvSpPr txBox="1"/>
          <p:nvPr/>
        </p:nvSpPr>
        <p:spPr>
          <a:xfrm>
            <a:off x="411480" y="4631436"/>
            <a:ext cx="237744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</a:t>
            </a:r>
            <a:endParaRPr lang="en-US" sz="850" dirty="0"/>
          </a:p>
        </p:txBody>
      </p:sp>
      <p:pic>
        <p:nvPicPr>
          <p:cNvPr id="6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8368" y="4677537"/>
            <a:ext cx="173736" cy="173736"/>
          </a:xfrm>
          <a:prstGeom prst="rect">
            <a:avLst/>
          </a:prstGeom>
        </p:spPr>
      </p:pic>
      <p:sp>
        <p:nvSpPr>
          <p:cNvPr id="64" name="Text 52"/>
          <p:cNvSpPr txBox="1"/>
          <p:nvPr/>
        </p:nvSpPr>
        <p:spPr>
          <a:xfrm>
            <a:off x="886968" y="4631436"/>
            <a:ext cx="2075688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 SOLICITANTE</a:t>
            </a:r>
            <a:endParaRPr lang="en-US" sz="850" dirty="0"/>
          </a:p>
        </p:txBody>
      </p:sp>
      <p:sp>
        <p:nvSpPr>
          <p:cNvPr id="65" name="Text 53"/>
          <p:cNvSpPr txBox="1"/>
          <p:nvPr/>
        </p:nvSpPr>
        <p:spPr>
          <a:xfrm>
            <a:off x="2953512" y="4631436"/>
            <a:ext cx="676656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8A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CONTRIBUINTE</a:t>
            </a:r>
            <a:endParaRPr lang="en-US" sz="700" dirty="0"/>
          </a:p>
        </p:txBody>
      </p:sp>
      <p:sp>
        <p:nvSpPr>
          <p:cNvPr id="66" name="Text 54"/>
          <p:cNvSpPr txBox="1"/>
          <p:nvPr/>
        </p:nvSpPr>
        <p:spPr>
          <a:xfrm>
            <a:off x="411480" y="4897374"/>
            <a:ext cx="237744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</a:t>
            </a:r>
            <a:endParaRPr lang="en-US" sz="850" dirty="0"/>
          </a:p>
        </p:txBody>
      </p:sp>
      <p:pic>
        <p:nvPicPr>
          <p:cNvPr id="6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8368" y="4943475"/>
            <a:ext cx="173736" cy="173736"/>
          </a:xfrm>
          <a:prstGeom prst="rect">
            <a:avLst/>
          </a:prstGeom>
        </p:spPr>
      </p:pic>
      <p:sp>
        <p:nvSpPr>
          <p:cNvPr id="68" name="Text 55"/>
          <p:cNvSpPr txBox="1"/>
          <p:nvPr/>
        </p:nvSpPr>
        <p:spPr>
          <a:xfrm>
            <a:off x="886968" y="4897374"/>
            <a:ext cx="2075688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COLABORADOR</a:t>
            </a:r>
            <a:endParaRPr lang="en-US" sz="850" dirty="0"/>
          </a:p>
        </p:txBody>
      </p:sp>
      <p:sp>
        <p:nvSpPr>
          <p:cNvPr id="69" name="Text 56"/>
          <p:cNvSpPr txBox="1"/>
          <p:nvPr/>
        </p:nvSpPr>
        <p:spPr>
          <a:xfrm>
            <a:off x="2953512" y="4897374"/>
            <a:ext cx="676656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70" name="Text 57"/>
          <p:cNvSpPr txBox="1"/>
          <p:nvPr/>
        </p:nvSpPr>
        <p:spPr>
          <a:xfrm>
            <a:off x="411480" y="5163312"/>
            <a:ext cx="237744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</a:t>
            </a:r>
            <a:endParaRPr lang="en-US" sz="850" dirty="0"/>
          </a:p>
        </p:txBody>
      </p:sp>
      <p:pic>
        <p:nvPicPr>
          <p:cNvPr id="71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8368" y="5209413"/>
            <a:ext cx="173736" cy="173736"/>
          </a:xfrm>
          <a:prstGeom prst="rect">
            <a:avLst/>
          </a:prstGeom>
        </p:spPr>
      </p:pic>
      <p:sp>
        <p:nvSpPr>
          <p:cNvPr id="72" name="Text 58"/>
          <p:cNvSpPr txBox="1"/>
          <p:nvPr/>
        </p:nvSpPr>
        <p:spPr>
          <a:xfrm>
            <a:off x="886968" y="5163312"/>
            <a:ext cx="2075688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CARREIRA E RECOMPENSA</a:t>
            </a:r>
            <a:endParaRPr lang="en-US" sz="850" dirty="0"/>
          </a:p>
        </p:txBody>
      </p:sp>
      <p:sp>
        <p:nvSpPr>
          <p:cNvPr id="73" name="Text 59"/>
          <p:cNvSpPr txBox="1"/>
          <p:nvPr/>
        </p:nvSpPr>
        <p:spPr>
          <a:xfrm>
            <a:off x="2953512" y="5163312"/>
            <a:ext cx="676656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74" name="Text 60"/>
          <p:cNvSpPr txBox="1"/>
          <p:nvPr/>
        </p:nvSpPr>
        <p:spPr>
          <a:xfrm>
            <a:off x="411480" y="5429250"/>
            <a:ext cx="237744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</a:t>
            </a:r>
            <a:endParaRPr lang="en-US" sz="850" dirty="0"/>
          </a:p>
        </p:txBody>
      </p:sp>
      <p:pic>
        <p:nvPicPr>
          <p:cNvPr id="75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8368" y="5475351"/>
            <a:ext cx="173736" cy="173736"/>
          </a:xfrm>
          <a:prstGeom prst="rect">
            <a:avLst/>
          </a:prstGeom>
        </p:spPr>
      </p:pic>
      <p:sp>
        <p:nvSpPr>
          <p:cNvPr id="76" name="Text 61"/>
          <p:cNvSpPr txBox="1"/>
          <p:nvPr/>
        </p:nvSpPr>
        <p:spPr>
          <a:xfrm>
            <a:off x="886968" y="5429250"/>
            <a:ext cx="2075688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CONTROLADORIA</a:t>
            </a:r>
            <a:endParaRPr lang="en-US" sz="850" dirty="0"/>
          </a:p>
        </p:txBody>
      </p:sp>
      <p:sp>
        <p:nvSpPr>
          <p:cNvPr id="77" name="Text 62"/>
          <p:cNvSpPr txBox="1"/>
          <p:nvPr/>
        </p:nvSpPr>
        <p:spPr>
          <a:xfrm>
            <a:off x="2953512" y="5429250"/>
            <a:ext cx="676656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CÓPIA</a:t>
            </a:r>
            <a:endParaRPr lang="en-US" sz="700" dirty="0"/>
          </a:p>
        </p:txBody>
      </p:sp>
      <p:sp>
        <p:nvSpPr>
          <p:cNvPr id="78" name="Text 63"/>
          <p:cNvSpPr txBox="1"/>
          <p:nvPr/>
        </p:nvSpPr>
        <p:spPr>
          <a:xfrm>
            <a:off x="411480" y="5695188"/>
            <a:ext cx="237744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</a:t>
            </a:r>
            <a:endParaRPr lang="en-US" sz="850" dirty="0"/>
          </a:p>
        </p:txBody>
      </p:sp>
      <p:pic>
        <p:nvPicPr>
          <p:cNvPr id="79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8368" y="5741289"/>
            <a:ext cx="173736" cy="173736"/>
          </a:xfrm>
          <a:prstGeom prst="rect">
            <a:avLst/>
          </a:prstGeom>
        </p:spPr>
      </p:pic>
      <p:sp>
        <p:nvSpPr>
          <p:cNvPr id="80" name="Text 64"/>
          <p:cNvSpPr txBox="1"/>
          <p:nvPr/>
        </p:nvSpPr>
        <p:spPr>
          <a:xfrm>
            <a:off x="886968" y="5695188"/>
            <a:ext cx="2075688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FOLHA DE PAGAMENTO</a:t>
            </a:r>
            <a:endParaRPr lang="en-US" sz="850" dirty="0"/>
          </a:p>
        </p:txBody>
      </p:sp>
      <p:sp>
        <p:nvSpPr>
          <p:cNvPr id="81" name="Text 65"/>
          <p:cNvSpPr txBox="1"/>
          <p:nvPr/>
        </p:nvSpPr>
        <p:spPr>
          <a:xfrm>
            <a:off x="2953512" y="5695188"/>
            <a:ext cx="676656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CÓPIA</a:t>
            </a:r>
            <a:endParaRPr lang="en-US" sz="700" dirty="0"/>
          </a:p>
        </p:txBody>
      </p:sp>
      <p:sp>
        <p:nvSpPr>
          <p:cNvPr id="82" name="Shape 66"/>
          <p:cNvSpPr/>
          <p:nvPr/>
        </p:nvSpPr>
        <p:spPr>
          <a:xfrm>
            <a:off x="3813048" y="3035808"/>
            <a:ext cx="2066544" cy="3127248"/>
          </a:xfrm>
          <a:prstGeom prst="roundRect">
            <a:avLst>
              <a:gd name="adj" fmla="val 1770"/>
            </a:avLst>
          </a:prstGeom>
          <a:solidFill>
            <a:srgbClr val="FFFFFF"/>
          </a:solidFill>
          <a:ln w="9525">
            <a:solidFill>
              <a:srgbClr val="A5BDDB"/>
            </a:solidFill>
            <a:prstDash val="solid"/>
          </a:ln>
        </p:spPr>
      </p:sp>
      <p:sp>
        <p:nvSpPr>
          <p:cNvPr id="83" name="Text 67"/>
          <p:cNvSpPr txBox="1"/>
          <p:nvPr/>
        </p:nvSpPr>
        <p:spPr>
          <a:xfrm>
            <a:off x="3941064" y="3145536"/>
            <a:ext cx="1810512" cy="2907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SE APLICA</a:t>
            </a:r>
            <a:endParaRPr lang="en-US" sz="950" dirty="0"/>
          </a:p>
          <a:p>
            <a:pPr indent="0" marL="0">
              <a:buNone/>
            </a:pPr>
            <a:r>
              <a:rPr lang="en-US" sz="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Evento: </a:t>
            </a:r>
            <a:pPr indent="0" marL="0">
              <a:buNone/>
            </a:pPr>
            <a:r>
              <a:rPr lang="en-US" sz="9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PROMOÇÃO DE CARGO (GESTÃO / CARREIRA Y)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Mão de obra destino: </a:t>
            </a:r>
            <a:pPr indent="0" marL="0">
              <a:buNone/>
            </a:pPr>
            <a:r>
              <a:rPr lang="en-US" sz="9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Altera gestor: </a:t>
            </a:r>
            <a:pPr indent="0" marL="0">
              <a:buNone/>
            </a:pPr>
            <a:r>
              <a:rPr lang="en-US" sz="9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na matriz: </a:t>
            </a:r>
            <a:pPr indent="0" marL="0">
              <a:buNone/>
            </a:pPr>
            <a:r>
              <a:rPr lang="en-US" sz="9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  <a:p>
            <a:pPr indent="0" marL="0">
              <a:buNone/>
            </a:pP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50" dirty="0"/>
          </a:p>
          <a:p>
            <a:pPr indent="0" marL="0">
              <a:buNone/>
            </a:pPr>
            <a:r>
              <a:rPr lang="en-US" sz="10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COMPOSIÇÃO</a:t>
            </a:r>
            <a:endParaRPr lang="en-US" sz="950" dirty="0"/>
          </a:p>
          <a:p>
            <a:pPr indent="0" marL="0">
              <a:buNone/>
            </a:pPr>
            <a:r>
              <a:rPr lang="en-US" sz="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aprovações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contribuinte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cópias</a:t>
            </a:r>
            <a:endParaRPr lang="en-US" sz="950" dirty="0"/>
          </a:p>
        </p:txBody>
      </p:sp>
      <p:sp>
        <p:nvSpPr>
          <p:cNvPr id="84" name="Shape 68"/>
          <p:cNvSpPr/>
          <p:nvPr/>
        </p:nvSpPr>
        <p:spPr>
          <a:xfrm>
            <a:off x="6245352" y="2578608"/>
            <a:ext cx="5669280" cy="3694176"/>
          </a:xfrm>
          <a:prstGeom prst="roundRect">
            <a:avLst>
              <a:gd name="adj" fmla="val 1485"/>
            </a:avLst>
          </a:prstGeom>
          <a:solidFill>
            <a:srgbClr val="EEF7F7"/>
          </a:solidFill>
          <a:ln w="12700">
            <a:solidFill>
              <a:srgbClr val="93CBCB"/>
            </a:solidFill>
            <a:prstDash val="solid"/>
          </a:ln>
        </p:spPr>
      </p:sp>
      <p:sp>
        <p:nvSpPr>
          <p:cNvPr id="85" name="Shape 69"/>
          <p:cNvSpPr/>
          <p:nvPr/>
        </p:nvSpPr>
        <p:spPr>
          <a:xfrm>
            <a:off x="6245352" y="2578608"/>
            <a:ext cx="5669280" cy="365760"/>
          </a:xfrm>
          <a:prstGeom prst="roundRect">
            <a:avLst>
              <a:gd name="adj" fmla="val 15000"/>
            </a:avLst>
          </a:prstGeom>
          <a:solidFill>
            <a:srgbClr val="0E8C8C"/>
          </a:solidFill>
          <a:ln w="12700">
            <a:solidFill>
              <a:srgbClr val="0E8C8C"/>
            </a:solidFill>
            <a:prstDash val="solid"/>
          </a:ln>
        </p:spPr>
      </p:sp>
      <p:sp>
        <p:nvSpPr>
          <p:cNvPr id="86" name="Shape 70"/>
          <p:cNvSpPr/>
          <p:nvPr/>
        </p:nvSpPr>
        <p:spPr>
          <a:xfrm>
            <a:off x="6245352" y="2807208"/>
            <a:ext cx="5669280" cy="137160"/>
          </a:xfrm>
          <a:prstGeom prst="rect">
            <a:avLst/>
          </a:prstGeom>
          <a:solidFill>
            <a:srgbClr val="0E8C8C"/>
          </a:solidFill>
          <a:ln w="12700">
            <a:solidFill>
              <a:srgbClr val="0E8C8C"/>
            </a:solidFill>
            <a:prstDash val="solid"/>
          </a:ln>
        </p:spPr>
      </p:sp>
      <p:sp>
        <p:nvSpPr>
          <p:cNvPr id="87" name="Shape 71"/>
          <p:cNvSpPr/>
          <p:nvPr/>
        </p:nvSpPr>
        <p:spPr>
          <a:xfrm>
            <a:off x="8851392" y="2286000"/>
            <a:ext cx="457200" cy="457200"/>
          </a:xfrm>
          <a:prstGeom prst="ellipse">
            <a:avLst/>
          </a:prstGeom>
          <a:solidFill>
            <a:srgbClr val="0E8C8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8" name="Text 72"/>
          <p:cNvSpPr txBox="1"/>
          <p:nvPr/>
        </p:nvSpPr>
        <p:spPr>
          <a:xfrm>
            <a:off x="8851392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800" dirty="0"/>
          </a:p>
        </p:txBody>
      </p:sp>
      <p:sp>
        <p:nvSpPr>
          <p:cNvPr id="89" name="Text 73"/>
          <p:cNvSpPr txBox="1"/>
          <p:nvPr/>
        </p:nvSpPr>
        <p:spPr>
          <a:xfrm>
            <a:off x="6355080" y="25786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 F</a:t>
            </a:r>
            <a:endParaRPr lang="en-US" sz="1300" dirty="0"/>
          </a:p>
        </p:txBody>
      </p:sp>
      <p:sp>
        <p:nvSpPr>
          <p:cNvPr id="90" name="Text 74"/>
          <p:cNvSpPr txBox="1"/>
          <p:nvPr/>
        </p:nvSpPr>
        <p:spPr>
          <a:xfrm>
            <a:off x="10588752" y="2578608"/>
            <a:ext cx="1216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regras · 12 etapas</a:t>
            </a:r>
            <a:endParaRPr lang="en-US" sz="950" dirty="0"/>
          </a:p>
        </p:txBody>
      </p:sp>
      <p:sp>
        <p:nvSpPr>
          <p:cNvPr id="91" name="Shape 75"/>
          <p:cNvSpPr/>
          <p:nvPr/>
        </p:nvSpPr>
        <p:spPr>
          <a:xfrm>
            <a:off x="6300216" y="3044952"/>
            <a:ext cx="3291840" cy="247650"/>
          </a:xfrm>
          <a:prstGeom prst="roundRect">
            <a:avLst>
              <a:gd name="adj" fmla="val 11077"/>
            </a:avLst>
          </a:prstGeom>
          <a:solidFill>
            <a:srgbClr val="FFF1CC"/>
          </a:solidFill>
          <a:ln w="6350">
            <a:solidFill>
              <a:srgbClr val="F2D27A"/>
            </a:solidFill>
            <a:prstDash val="solid"/>
          </a:ln>
        </p:spPr>
      </p:sp>
      <p:sp>
        <p:nvSpPr>
          <p:cNvPr id="92" name="Text 76"/>
          <p:cNvSpPr txBox="1"/>
          <p:nvPr/>
        </p:nvSpPr>
        <p:spPr>
          <a:xfrm>
            <a:off x="6336792" y="3035808"/>
            <a:ext cx="237744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850" dirty="0"/>
          </a:p>
        </p:txBody>
      </p:sp>
      <p:pic>
        <p:nvPicPr>
          <p:cNvPr id="93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83680" y="3081909"/>
            <a:ext cx="173736" cy="173736"/>
          </a:xfrm>
          <a:prstGeom prst="rect">
            <a:avLst/>
          </a:prstGeom>
        </p:spPr>
      </p:pic>
      <p:sp>
        <p:nvSpPr>
          <p:cNvPr id="94" name="Text 77"/>
          <p:cNvSpPr txBox="1"/>
          <p:nvPr/>
        </p:nvSpPr>
        <p:spPr>
          <a:xfrm>
            <a:off x="6812280" y="3035808"/>
            <a:ext cx="2075688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 ATUAL</a:t>
            </a:r>
            <a:endParaRPr lang="en-US" sz="850" dirty="0"/>
          </a:p>
        </p:txBody>
      </p:sp>
      <p:sp>
        <p:nvSpPr>
          <p:cNvPr id="95" name="Text 78"/>
          <p:cNvSpPr txBox="1"/>
          <p:nvPr/>
        </p:nvSpPr>
        <p:spPr>
          <a:xfrm>
            <a:off x="8878824" y="3035808"/>
            <a:ext cx="676656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96" name="Text 79"/>
          <p:cNvSpPr txBox="1"/>
          <p:nvPr/>
        </p:nvSpPr>
        <p:spPr>
          <a:xfrm>
            <a:off x="6336792" y="3301746"/>
            <a:ext cx="237744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850" dirty="0"/>
          </a:p>
        </p:txBody>
      </p:sp>
      <p:pic>
        <p:nvPicPr>
          <p:cNvPr id="9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83680" y="3347847"/>
            <a:ext cx="173736" cy="173736"/>
          </a:xfrm>
          <a:prstGeom prst="rect">
            <a:avLst/>
          </a:prstGeom>
        </p:spPr>
      </p:pic>
      <p:sp>
        <p:nvSpPr>
          <p:cNvPr id="98" name="Text 80"/>
          <p:cNvSpPr txBox="1"/>
          <p:nvPr/>
        </p:nvSpPr>
        <p:spPr>
          <a:xfrm>
            <a:off x="6812280" y="3301746"/>
            <a:ext cx="2075688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CARREIRA E RECOMPENSA</a:t>
            </a:r>
            <a:endParaRPr lang="en-US" sz="850" dirty="0"/>
          </a:p>
        </p:txBody>
      </p:sp>
      <p:sp>
        <p:nvSpPr>
          <p:cNvPr id="99" name="Text 81"/>
          <p:cNvSpPr txBox="1"/>
          <p:nvPr/>
        </p:nvSpPr>
        <p:spPr>
          <a:xfrm>
            <a:off x="8878824" y="3301746"/>
            <a:ext cx="676656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00" name="Text 82"/>
          <p:cNvSpPr txBox="1"/>
          <p:nvPr/>
        </p:nvSpPr>
        <p:spPr>
          <a:xfrm>
            <a:off x="6336792" y="3567684"/>
            <a:ext cx="237744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850" dirty="0"/>
          </a:p>
        </p:txBody>
      </p:sp>
      <p:pic>
        <p:nvPicPr>
          <p:cNvPr id="101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583680" y="3613785"/>
            <a:ext cx="173736" cy="173736"/>
          </a:xfrm>
          <a:prstGeom prst="rect">
            <a:avLst/>
          </a:prstGeom>
        </p:spPr>
      </p:pic>
      <p:sp>
        <p:nvSpPr>
          <p:cNvPr id="102" name="Text 83"/>
          <p:cNvSpPr txBox="1"/>
          <p:nvPr/>
        </p:nvSpPr>
        <p:spPr>
          <a:xfrm>
            <a:off x="6812280" y="3567684"/>
            <a:ext cx="2075688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850" dirty="0"/>
          </a:p>
        </p:txBody>
      </p:sp>
      <p:sp>
        <p:nvSpPr>
          <p:cNvPr id="103" name="Text 84"/>
          <p:cNvSpPr txBox="1"/>
          <p:nvPr/>
        </p:nvSpPr>
        <p:spPr>
          <a:xfrm>
            <a:off x="8878824" y="3567684"/>
            <a:ext cx="676656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04" name="Text 85"/>
          <p:cNvSpPr txBox="1"/>
          <p:nvPr/>
        </p:nvSpPr>
        <p:spPr>
          <a:xfrm>
            <a:off x="6336792" y="3833622"/>
            <a:ext cx="237744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850" dirty="0"/>
          </a:p>
        </p:txBody>
      </p:sp>
      <p:pic>
        <p:nvPicPr>
          <p:cNvPr id="105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583680" y="3879723"/>
            <a:ext cx="173736" cy="173736"/>
          </a:xfrm>
          <a:prstGeom prst="rect">
            <a:avLst/>
          </a:prstGeom>
        </p:spPr>
      </p:pic>
      <p:sp>
        <p:nvSpPr>
          <p:cNvPr id="106" name="Text 86"/>
          <p:cNvSpPr txBox="1"/>
          <p:nvPr/>
        </p:nvSpPr>
        <p:spPr>
          <a:xfrm>
            <a:off x="6812280" y="3833622"/>
            <a:ext cx="2075688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DESENV. HUMANO ORGANIZACIONAL</a:t>
            </a:r>
            <a:endParaRPr lang="en-US" sz="750" dirty="0"/>
          </a:p>
        </p:txBody>
      </p:sp>
      <p:sp>
        <p:nvSpPr>
          <p:cNvPr id="107" name="Text 87"/>
          <p:cNvSpPr txBox="1"/>
          <p:nvPr/>
        </p:nvSpPr>
        <p:spPr>
          <a:xfrm>
            <a:off x="8878824" y="3833622"/>
            <a:ext cx="676656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08" name="Text 88"/>
          <p:cNvSpPr txBox="1"/>
          <p:nvPr/>
        </p:nvSpPr>
        <p:spPr>
          <a:xfrm>
            <a:off x="6336792" y="4099560"/>
            <a:ext cx="237744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850" dirty="0"/>
          </a:p>
        </p:txBody>
      </p:sp>
      <p:pic>
        <p:nvPicPr>
          <p:cNvPr id="109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583680" y="4145661"/>
            <a:ext cx="173736" cy="173736"/>
          </a:xfrm>
          <a:prstGeom prst="rect">
            <a:avLst/>
          </a:prstGeom>
        </p:spPr>
      </p:pic>
      <p:sp>
        <p:nvSpPr>
          <p:cNvPr id="110" name="Text 89"/>
          <p:cNvSpPr txBox="1"/>
          <p:nvPr/>
        </p:nvSpPr>
        <p:spPr>
          <a:xfrm>
            <a:off x="6812280" y="4099560"/>
            <a:ext cx="2075688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TREINAMENTO</a:t>
            </a:r>
            <a:endParaRPr lang="en-US" sz="850" dirty="0"/>
          </a:p>
        </p:txBody>
      </p:sp>
      <p:sp>
        <p:nvSpPr>
          <p:cNvPr id="111" name="Text 90"/>
          <p:cNvSpPr txBox="1"/>
          <p:nvPr/>
        </p:nvSpPr>
        <p:spPr>
          <a:xfrm>
            <a:off x="8878824" y="4099560"/>
            <a:ext cx="676656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12" name="Text 91"/>
          <p:cNvSpPr txBox="1"/>
          <p:nvPr/>
        </p:nvSpPr>
        <p:spPr>
          <a:xfrm>
            <a:off x="6336792" y="4365498"/>
            <a:ext cx="237744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</a:t>
            </a:r>
            <a:endParaRPr lang="en-US" sz="850" dirty="0"/>
          </a:p>
        </p:txBody>
      </p:sp>
      <p:pic>
        <p:nvPicPr>
          <p:cNvPr id="113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583680" y="4411599"/>
            <a:ext cx="173736" cy="173736"/>
          </a:xfrm>
          <a:prstGeom prst="rect">
            <a:avLst/>
          </a:prstGeom>
        </p:spPr>
      </p:pic>
      <p:sp>
        <p:nvSpPr>
          <p:cNvPr id="114" name="Text 92"/>
          <p:cNvSpPr txBox="1"/>
          <p:nvPr/>
        </p:nvSpPr>
        <p:spPr>
          <a:xfrm>
            <a:off x="6812280" y="4365498"/>
            <a:ext cx="2075688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MEDICINA</a:t>
            </a:r>
            <a:endParaRPr lang="en-US" sz="850" dirty="0"/>
          </a:p>
        </p:txBody>
      </p:sp>
      <p:sp>
        <p:nvSpPr>
          <p:cNvPr id="115" name="Text 93"/>
          <p:cNvSpPr txBox="1"/>
          <p:nvPr/>
        </p:nvSpPr>
        <p:spPr>
          <a:xfrm>
            <a:off x="8878824" y="4365498"/>
            <a:ext cx="676656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16" name="Text 94"/>
          <p:cNvSpPr txBox="1"/>
          <p:nvPr/>
        </p:nvSpPr>
        <p:spPr>
          <a:xfrm>
            <a:off x="6336792" y="4631436"/>
            <a:ext cx="237744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</a:t>
            </a:r>
            <a:endParaRPr lang="en-US" sz="850" dirty="0"/>
          </a:p>
        </p:txBody>
      </p:sp>
      <p:pic>
        <p:nvPicPr>
          <p:cNvPr id="117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583680" y="4677537"/>
            <a:ext cx="173736" cy="173736"/>
          </a:xfrm>
          <a:prstGeom prst="rect">
            <a:avLst/>
          </a:prstGeom>
        </p:spPr>
      </p:pic>
      <p:sp>
        <p:nvSpPr>
          <p:cNvPr id="118" name="Text 95"/>
          <p:cNvSpPr txBox="1"/>
          <p:nvPr/>
        </p:nvSpPr>
        <p:spPr>
          <a:xfrm>
            <a:off x="6812280" y="4631436"/>
            <a:ext cx="2075688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DO TRABALHO</a:t>
            </a:r>
            <a:endParaRPr lang="en-US" sz="850" dirty="0"/>
          </a:p>
        </p:txBody>
      </p:sp>
      <p:sp>
        <p:nvSpPr>
          <p:cNvPr id="119" name="Text 96"/>
          <p:cNvSpPr txBox="1"/>
          <p:nvPr/>
        </p:nvSpPr>
        <p:spPr>
          <a:xfrm>
            <a:off x="8878824" y="4631436"/>
            <a:ext cx="676656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20" name="Text 97"/>
          <p:cNvSpPr txBox="1"/>
          <p:nvPr/>
        </p:nvSpPr>
        <p:spPr>
          <a:xfrm>
            <a:off x="6336792" y="4897374"/>
            <a:ext cx="237744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</a:t>
            </a:r>
            <a:endParaRPr lang="en-US" sz="850" dirty="0"/>
          </a:p>
        </p:txBody>
      </p:sp>
      <p:pic>
        <p:nvPicPr>
          <p:cNvPr id="121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583680" y="4943475"/>
            <a:ext cx="173736" cy="173736"/>
          </a:xfrm>
          <a:prstGeom prst="rect">
            <a:avLst/>
          </a:prstGeom>
        </p:spPr>
      </p:pic>
      <p:sp>
        <p:nvSpPr>
          <p:cNvPr id="122" name="Text 98"/>
          <p:cNvSpPr txBox="1"/>
          <p:nvPr/>
        </p:nvSpPr>
        <p:spPr>
          <a:xfrm>
            <a:off x="6812280" y="4897374"/>
            <a:ext cx="2075688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 SOLICITANTE</a:t>
            </a:r>
            <a:endParaRPr lang="en-US" sz="850" dirty="0"/>
          </a:p>
        </p:txBody>
      </p:sp>
      <p:sp>
        <p:nvSpPr>
          <p:cNvPr id="123" name="Text 99"/>
          <p:cNvSpPr txBox="1"/>
          <p:nvPr/>
        </p:nvSpPr>
        <p:spPr>
          <a:xfrm>
            <a:off x="8878824" y="4897374"/>
            <a:ext cx="676656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8A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CONTRIBUINTE</a:t>
            </a:r>
            <a:endParaRPr lang="en-US" sz="700" dirty="0"/>
          </a:p>
        </p:txBody>
      </p:sp>
      <p:sp>
        <p:nvSpPr>
          <p:cNvPr id="124" name="Text 100"/>
          <p:cNvSpPr txBox="1"/>
          <p:nvPr/>
        </p:nvSpPr>
        <p:spPr>
          <a:xfrm>
            <a:off x="6336792" y="5163312"/>
            <a:ext cx="237744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</a:t>
            </a:r>
            <a:endParaRPr lang="en-US" sz="850" dirty="0"/>
          </a:p>
        </p:txBody>
      </p:sp>
      <p:pic>
        <p:nvPicPr>
          <p:cNvPr id="125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583680" y="5209413"/>
            <a:ext cx="173736" cy="173736"/>
          </a:xfrm>
          <a:prstGeom prst="rect">
            <a:avLst/>
          </a:prstGeom>
        </p:spPr>
      </p:pic>
      <p:sp>
        <p:nvSpPr>
          <p:cNvPr id="126" name="Text 101"/>
          <p:cNvSpPr txBox="1"/>
          <p:nvPr/>
        </p:nvSpPr>
        <p:spPr>
          <a:xfrm>
            <a:off x="6812280" y="5163312"/>
            <a:ext cx="2075688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COLABORADOR</a:t>
            </a:r>
            <a:endParaRPr lang="en-US" sz="850" dirty="0"/>
          </a:p>
        </p:txBody>
      </p:sp>
      <p:sp>
        <p:nvSpPr>
          <p:cNvPr id="127" name="Text 102"/>
          <p:cNvSpPr txBox="1"/>
          <p:nvPr/>
        </p:nvSpPr>
        <p:spPr>
          <a:xfrm>
            <a:off x="8878824" y="5163312"/>
            <a:ext cx="676656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28" name="Text 103"/>
          <p:cNvSpPr txBox="1"/>
          <p:nvPr/>
        </p:nvSpPr>
        <p:spPr>
          <a:xfrm>
            <a:off x="6336792" y="5429250"/>
            <a:ext cx="237744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</a:t>
            </a:r>
            <a:endParaRPr lang="en-US" sz="850" dirty="0"/>
          </a:p>
        </p:txBody>
      </p:sp>
      <p:pic>
        <p:nvPicPr>
          <p:cNvPr id="129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583680" y="5475351"/>
            <a:ext cx="173736" cy="173736"/>
          </a:xfrm>
          <a:prstGeom prst="rect">
            <a:avLst/>
          </a:prstGeom>
        </p:spPr>
      </p:pic>
      <p:sp>
        <p:nvSpPr>
          <p:cNvPr id="130" name="Text 104"/>
          <p:cNvSpPr txBox="1"/>
          <p:nvPr/>
        </p:nvSpPr>
        <p:spPr>
          <a:xfrm>
            <a:off x="6812280" y="5429250"/>
            <a:ext cx="2075688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CARREIRA E RECOMPENSA</a:t>
            </a:r>
            <a:endParaRPr lang="en-US" sz="850" dirty="0"/>
          </a:p>
        </p:txBody>
      </p:sp>
      <p:sp>
        <p:nvSpPr>
          <p:cNvPr id="131" name="Text 105"/>
          <p:cNvSpPr txBox="1"/>
          <p:nvPr/>
        </p:nvSpPr>
        <p:spPr>
          <a:xfrm>
            <a:off x="8878824" y="5429250"/>
            <a:ext cx="676656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32" name="Text 106"/>
          <p:cNvSpPr txBox="1"/>
          <p:nvPr/>
        </p:nvSpPr>
        <p:spPr>
          <a:xfrm>
            <a:off x="6336792" y="5695188"/>
            <a:ext cx="237744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</a:t>
            </a:r>
            <a:endParaRPr lang="en-US" sz="850" dirty="0"/>
          </a:p>
        </p:txBody>
      </p:sp>
      <p:pic>
        <p:nvPicPr>
          <p:cNvPr id="133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583680" y="5741289"/>
            <a:ext cx="173736" cy="173736"/>
          </a:xfrm>
          <a:prstGeom prst="rect">
            <a:avLst/>
          </a:prstGeom>
        </p:spPr>
      </p:pic>
      <p:sp>
        <p:nvSpPr>
          <p:cNvPr id="134" name="Text 107"/>
          <p:cNvSpPr txBox="1"/>
          <p:nvPr/>
        </p:nvSpPr>
        <p:spPr>
          <a:xfrm>
            <a:off x="6812280" y="5695188"/>
            <a:ext cx="2075688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CONTROLADORIA</a:t>
            </a:r>
            <a:endParaRPr lang="en-US" sz="850" dirty="0"/>
          </a:p>
        </p:txBody>
      </p:sp>
      <p:sp>
        <p:nvSpPr>
          <p:cNvPr id="135" name="Text 108"/>
          <p:cNvSpPr txBox="1"/>
          <p:nvPr/>
        </p:nvSpPr>
        <p:spPr>
          <a:xfrm>
            <a:off x="8878824" y="5695188"/>
            <a:ext cx="676656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CÓPIA</a:t>
            </a:r>
            <a:endParaRPr lang="en-US" sz="700" dirty="0"/>
          </a:p>
        </p:txBody>
      </p:sp>
      <p:sp>
        <p:nvSpPr>
          <p:cNvPr id="136" name="Text 109"/>
          <p:cNvSpPr txBox="1"/>
          <p:nvPr/>
        </p:nvSpPr>
        <p:spPr>
          <a:xfrm>
            <a:off x="6336792" y="5961126"/>
            <a:ext cx="237744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</a:t>
            </a:r>
            <a:endParaRPr lang="en-US" sz="850" dirty="0"/>
          </a:p>
        </p:txBody>
      </p:sp>
      <p:pic>
        <p:nvPicPr>
          <p:cNvPr id="137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583680" y="6007227"/>
            <a:ext cx="173736" cy="173736"/>
          </a:xfrm>
          <a:prstGeom prst="rect">
            <a:avLst/>
          </a:prstGeom>
        </p:spPr>
      </p:pic>
      <p:sp>
        <p:nvSpPr>
          <p:cNvPr id="138" name="Text 110"/>
          <p:cNvSpPr txBox="1"/>
          <p:nvPr/>
        </p:nvSpPr>
        <p:spPr>
          <a:xfrm>
            <a:off x="6812280" y="5961126"/>
            <a:ext cx="2075688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FOLHA DE PAGAMENTO</a:t>
            </a:r>
            <a:endParaRPr lang="en-US" sz="850" dirty="0"/>
          </a:p>
        </p:txBody>
      </p:sp>
      <p:sp>
        <p:nvSpPr>
          <p:cNvPr id="139" name="Text 111"/>
          <p:cNvSpPr txBox="1"/>
          <p:nvPr/>
        </p:nvSpPr>
        <p:spPr>
          <a:xfrm>
            <a:off x="8878824" y="5961126"/>
            <a:ext cx="676656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CÓPIA</a:t>
            </a:r>
            <a:endParaRPr lang="en-US" sz="700" dirty="0"/>
          </a:p>
        </p:txBody>
      </p:sp>
      <p:sp>
        <p:nvSpPr>
          <p:cNvPr id="140" name="Shape 112"/>
          <p:cNvSpPr/>
          <p:nvPr/>
        </p:nvSpPr>
        <p:spPr>
          <a:xfrm>
            <a:off x="9738360" y="3035808"/>
            <a:ext cx="2066544" cy="3127248"/>
          </a:xfrm>
          <a:prstGeom prst="roundRect">
            <a:avLst>
              <a:gd name="adj" fmla="val 1770"/>
            </a:avLst>
          </a:prstGeom>
          <a:solidFill>
            <a:srgbClr val="FFFFFF"/>
          </a:solidFill>
          <a:ln w="9525">
            <a:solidFill>
              <a:srgbClr val="9FD1D1"/>
            </a:solidFill>
            <a:prstDash val="solid"/>
          </a:ln>
        </p:spPr>
      </p:sp>
      <p:sp>
        <p:nvSpPr>
          <p:cNvPr id="141" name="Text 113"/>
          <p:cNvSpPr txBox="1"/>
          <p:nvPr/>
        </p:nvSpPr>
        <p:spPr>
          <a:xfrm>
            <a:off x="9866376" y="3145536"/>
            <a:ext cx="1810512" cy="2907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SE APLICA</a:t>
            </a:r>
            <a:endParaRPr lang="en-US" sz="950" dirty="0"/>
          </a:p>
          <a:p>
            <a:pPr indent="0" marL="0">
              <a:buNone/>
            </a:pPr>
            <a:r>
              <a:rPr lang="en-US" sz="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Evento: </a:t>
            </a:r>
            <a:pPr indent="0" marL="0">
              <a:buNone/>
            </a:pPr>
            <a:r>
              <a:rPr lang="en-US" sz="9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PROMOÇÃO DE CARGO (GESTÃO / CARREIRA Y)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Mão de obra destino: </a:t>
            </a:r>
            <a:pPr indent="0" marL="0">
              <a:buNone/>
            </a:pPr>
            <a:r>
              <a:rPr lang="en-US" sz="9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Altera gestor: </a:t>
            </a:r>
            <a:pPr indent="0" marL="0">
              <a:buNone/>
            </a:pPr>
            <a:r>
              <a:rPr lang="en-US" sz="9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na matriz: </a:t>
            </a:r>
            <a:pPr indent="0" marL="0">
              <a:buNone/>
            </a:pPr>
            <a:r>
              <a:rPr lang="en-US" sz="9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  <a:p>
            <a:pPr indent="0" marL="0">
              <a:buNone/>
            </a:pP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50" dirty="0"/>
          </a:p>
          <a:p>
            <a:pPr indent="0" marL="0">
              <a:buNone/>
            </a:pPr>
            <a:r>
              <a:rPr lang="en-US" sz="1000" b="1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COMPOSIÇÃO</a:t>
            </a:r>
            <a:endParaRPr lang="en-US" sz="950" dirty="0"/>
          </a:p>
          <a:p>
            <a:pPr indent="0" marL="0">
              <a:buNone/>
            </a:pPr>
            <a:r>
              <a:rPr lang="en-US" sz="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aprovações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contribuinte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cópias</a:t>
            </a:r>
            <a:endParaRPr lang="en-US" sz="950" dirty="0"/>
          </a:p>
        </p:txBody>
      </p:sp>
      <p:sp>
        <p:nvSpPr>
          <p:cNvPr id="142" name="Shape 114"/>
          <p:cNvSpPr/>
          <p:nvPr/>
        </p:nvSpPr>
        <p:spPr>
          <a:xfrm>
            <a:off x="320040" y="6364224"/>
            <a:ext cx="8412480" cy="365760"/>
          </a:xfrm>
          <a:prstGeom prst="roundRect">
            <a:avLst>
              <a:gd name="adj" fmla="val 12500"/>
            </a:avLst>
          </a:prstGeom>
          <a:solidFill>
            <a:srgbClr val="E9F0F9"/>
          </a:solidFill>
          <a:ln w="12700">
            <a:solidFill>
              <a:srgbClr val="C9D6EA"/>
            </a:solidFill>
            <a:prstDash val="solid"/>
          </a:ln>
        </p:spPr>
      </p:sp>
      <p:sp>
        <p:nvSpPr>
          <p:cNvPr id="143" name="Text 115"/>
          <p:cNvSpPr txBox="1"/>
          <p:nvPr/>
        </p:nvSpPr>
        <p:spPr>
          <a:xfrm>
            <a:off x="429768" y="636422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23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ALTERAM A ROTA NESTE EVENTO:  </a:t>
            </a:r>
            <a:pPr indent="0" marL="0">
              <a:buNone/>
            </a:pP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 filial / Muda setor (NÃO/NÃO · NÃO/SIM · SIM/SIM)  ·  Natureza atual: Gestão ou Não gestão  ·  Natureza destino: Gestão  ·  Mão de obra de destino: sempre MOI</a:t>
            </a:r>
            <a:endParaRPr lang="en-US" sz="800" dirty="0"/>
          </a:p>
        </p:txBody>
      </p:sp>
      <p:sp>
        <p:nvSpPr>
          <p:cNvPr id="144" name="Shape 116"/>
          <p:cNvSpPr/>
          <p:nvPr/>
        </p:nvSpPr>
        <p:spPr>
          <a:xfrm>
            <a:off x="8869680" y="6364224"/>
            <a:ext cx="3044952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C9D6EA"/>
            </a:solidFill>
            <a:prstDash val="solid"/>
          </a:ln>
        </p:spPr>
      </p:sp>
      <p:sp>
        <p:nvSpPr>
          <p:cNvPr id="145" name="Shape 117"/>
          <p:cNvSpPr/>
          <p:nvPr/>
        </p:nvSpPr>
        <p:spPr>
          <a:xfrm>
            <a:off x="8961120" y="6446520"/>
            <a:ext cx="320040" cy="201168"/>
          </a:xfrm>
          <a:prstGeom prst="roundRect">
            <a:avLst>
              <a:gd name="adj" fmla="val 13636"/>
            </a:avLst>
          </a:prstGeom>
          <a:solidFill>
            <a:srgbClr val="FFF1CC"/>
          </a:solidFill>
          <a:ln w="6350">
            <a:solidFill>
              <a:srgbClr val="F2D27A"/>
            </a:solidFill>
            <a:prstDash val="solid"/>
          </a:ln>
        </p:spPr>
      </p:sp>
      <p:sp>
        <p:nvSpPr>
          <p:cNvPr id="146" name="Text 118"/>
          <p:cNvSpPr txBox="1"/>
          <p:nvPr/>
        </p:nvSpPr>
        <p:spPr>
          <a:xfrm>
            <a:off x="9345168" y="6364224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que muda conforme a decisão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11640312" cy="749808"/>
          </a:xfrm>
          <a:prstGeom prst="roundRect">
            <a:avLst>
              <a:gd name="adj" fmla="val 7317"/>
            </a:avLst>
          </a:prstGeom>
          <a:solidFill>
            <a:srgbClr val="123C7A"/>
          </a:solidFill>
          <a:ln w="12700">
            <a:solidFill>
              <a:srgbClr val="123C7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219456"/>
            <a:ext cx="116403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DE APROVAÇÃO – PROMOÇÃO DE CARGO – LIDERANÇA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274320" y="585216"/>
            <a:ext cx="11640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MOVIMENTAÇÃO DE PESSOAS  ·  EVENTO 5 DE 5  ·  12 REGRAS CONSOLIDADAS EM 4 ROTAS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20040" y="1280160"/>
            <a:ext cx="914400" cy="402336"/>
          </a:xfrm>
          <a:prstGeom prst="roundRect">
            <a:avLst>
              <a:gd name="adj" fmla="val 50000"/>
            </a:avLst>
          </a:prstGeom>
          <a:solidFill>
            <a:srgbClr val="2E8B3E"/>
          </a:solidFill>
          <a:ln w="12700">
            <a:solidFill>
              <a:srgbClr val="2E8B3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20040" y="1280160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INÍCIO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234440" y="1481328"/>
            <a:ext cx="182880" cy="0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417320" y="1115568"/>
            <a:ext cx="1874520" cy="731520"/>
          </a:xfrm>
          <a:prstGeom prst="roundRect">
            <a:avLst>
              <a:gd name="adj" fmla="val 6250"/>
            </a:avLst>
          </a:prstGeom>
          <a:solidFill>
            <a:srgbClr val="E9F0F9"/>
          </a:solidFill>
          <a:ln w="12700">
            <a:solidFill>
              <a:srgbClr val="C9D6EA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1325880"/>
            <a:ext cx="310896" cy="310896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892808" y="1115568"/>
            <a:ext cx="1353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3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MOTIVO (GESTOR)</a:t>
            </a:r>
            <a:endParaRPr lang="en-US" sz="1050" dirty="0"/>
          </a:p>
          <a:p>
            <a:pPr indent="0" marL="0">
              <a:buNone/>
            </a:pPr>
            <a:r>
              <a:rPr lang="en-US" sz="9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MOVIMENTAÇÃO DE PESSOAS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291840" y="1481328"/>
            <a:ext cx="182880" cy="0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3474720" y="1115568"/>
            <a:ext cx="2331720" cy="731520"/>
          </a:xfrm>
          <a:prstGeom prst="roundRect">
            <a:avLst>
              <a:gd name="adj" fmla="val 6250"/>
            </a:avLst>
          </a:prstGeom>
          <a:solidFill>
            <a:srgbClr val="E9F0F9"/>
          </a:solidFill>
          <a:ln w="12700">
            <a:solidFill>
              <a:srgbClr val="C9D6EA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325880"/>
            <a:ext cx="310896" cy="31089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950208" y="1115568"/>
            <a:ext cx="1810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3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EVENTO (C&amp;R)</a:t>
            </a:r>
            <a:endParaRPr lang="en-US" sz="1050" dirty="0"/>
          </a:p>
          <a:p>
            <a:pPr indent="0" marL="0">
              <a:buNone/>
            </a:pPr>
            <a:r>
              <a:rPr lang="en-US" sz="9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PROMOÇÃO DE CARGO (LIDERANÇA)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806440" y="1481328"/>
            <a:ext cx="182880" cy="0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5989320" y="1115568"/>
            <a:ext cx="1783080" cy="731520"/>
          </a:xfrm>
          <a:prstGeom prst="roundRect">
            <a:avLst>
              <a:gd name="adj" fmla="val 6250"/>
            </a:avLst>
          </a:prstGeom>
          <a:solidFill>
            <a:srgbClr val="E3F1E4"/>
          </a:solidFill>
          <a:ln w="12700">
            <a:solidFill>
              <a:srgbClr val="A8D1A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071616" y="1307592"/>
            <a:ext cx="347472" cy="347472"/>
          </a:xfrm>
          <a:prstGeom prst="ellipse">
            <a:avLst/>
          </a:prstGeom>
          <a:solidFill>
            <a:srgbClr val="2E8B3E"/>
          </a:solidFill>
          <a:ln w="12700">
            <a:solidFill>
              <a:srgbClr val="2E8B3E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3912" y="1389888"/>
            <a:ext cx="182880" cy="18288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492240" y="1115568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INICIAR ANÁLISE DAS CONDIÇÕES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10287000" y="1115568"/>
            <a:ext cx="162763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9D6EA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10287000" y="1115568"/>
            <a:ext cx="1627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3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regras</a:t>
            </a:r>
            <a:endParaRPr lang="en-US" sz="15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4 rotas de aprovação</a:t>
            </a:r>
            <a:endParaRPr lang="en-US" sz="1500" dirty="0"/>
          </a:p>
        </p:txBody>
      </p:sp>
      <p:sp>
        <p:nvSpPr>
          <p:cNvPr id="22" name="Shape 17"/>
          <p:cNvSpPr/>
          <p:nvPr/>
        </p:nvSpPr>
        <p:spPr>
          <a:xfrm>
            <a:off x="7772400" y="1481328"/>
            <a:ext cx="381076" cy="0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  <a:tailEnd type="triangle"/>
          </a:ln>
        </p:spPr>
      </p:sp>
      <p:sp>
        <p:nvSpPr>
          <p:cNvPr id="23" name="Shape 18"/>
          <p:cNvSpPr/>
          <p:nvPr/>
        </p:nvSpPr>
        <p:spPr>
          <a:xfrm>
            <a:off x="8153476" y="1024128"/>
            <a:ext cx="1828800" cy="914400"/>
          </a:xfrm>
          <a:prstGeom prst="diamond">
            <a:avLst/>
          </a:prstGeom>
          <a:solidFill>
            <a:srgbClr val="D6E4F5"/>
          </a:solidFill>
          <a:ln w="19050">
            <a:solidFill>
              <a:srgbClr val="2B4F8C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8409508" y="1207008"/>
            <a:ext cx="1316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23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MÃO DE OBRA DE DESTINO É MOD?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9067876" y="1938528"/>
            <a:ext cx="0" cy="109728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3166796" y="2048256"/>
            <a:ext cx="5901080" cy="0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3166796" y="2048256"/>
            <a:ext cx="0" cy="164592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  <a:tailEnd type="triangle"/>
          </a:ln>
        </p:spPr>
      </p:sp>
      <p:sp>
        <p:nvSpPr>
          <p:cNvPr id="28" name="Shape 23"/>
          <p:cNvSpPr/>
          <p:nvPr/>
        </p:nvSpPr>
        <p:spPr>
          <a:xfrm>
            <a:off x="9067876" y="2048256"/>
            <a:ext cx="0" cy="164592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  <a:tailEnd type="triangle"/>
          </a:ln>
        </p:spPr>
      </p:sp>
      <p:sp>
        <p:nvSpPr>
          <p:cNvPr id="29" name="Text 24"/>
          <p:cNvSpPr txBox="1"/>
          <p:nvPr/>
        </p:nvSpPr>
        <p:spPr>
          <a:xfrm>
            <a:off x="3239948" y="18470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 (MOD)</a:t>
            </a:r>
            <a:endParaRPr lang="en-US" sz="1000" dirty="0"/>
          </a:p>
        </p:txBody>
      </p:sp>
      <p:sp>
        <p:nvSpPr>
          <p:cNvPr id="30" name="Text 25"/>
          <p:cNvSpPr txBox="1"/>
          <p:nvPr/>
        </p:nvSpPr>
        <p:spPr>
          <a:xfrm>
            <a:off x="9141028" y="202996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(MOI)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2366696" y="2212848"/>
            <a:ext cx="1600200" cy="658368"/>
          </a:xfrm>
          <a:prstGeom prst="diamond">
            <a:avLst/>
          </a:prstGeom>
          <a:solidFill>
            <a:srgbClr val="D6E4F5"/>
          </a:solidFill>
          <a:ln w="19050">
            <a:solidFill>
              <a:srgbClr val="2B4F8C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2590724" y="2344522"/>
            <a:ext cx="1152144" cy="395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23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ALTERA GESTOR?</a:t>
            </a:r>
            <a:endParaRPr lang="en-US" sz="950" dirty="0"/>
          </a:p>
        </p:txBody>
      </p:sp>
      <p:sp>
        <p:nvSpPr>
          <p:cNvPr id="33" name="Shape 28"/>
          <p:cNvSpPr/>
          <p:nvPr/>
        </p:nvSpPr>
        <p:spPr>
          <a:xfrm flipH="1">
            <a:off x="1691526" y="2542032"/>
            <a:ext cx="675170" cy="0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1691526" y="2542032"/>
            <a:ext cx="0" cy="310896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  <a:tailEnd type="triangle"/>
          </a:ln>
        </p:spPr>
      </p:sp>
      <p:sp>
        <p:nvSpPr>
          <p:cNvPr id="35" name="Shape 30"/>
          <p:cNvSpPr/>
          <p:nvPr/>
        </p:nvSpPr>
        <p:spPr>
          <a:xfrm>
            <a:off x="3966896" y="2542032"/>
            <a:ext cx="675170" cy="0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4642066" y="2542032"/>
            <a:ext cx="0" cy="310896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  <a:tailEnd type="triangle"/>
          </a:ln>
        </p:spPr>
      </p:sp>
      <p:sp>
        <p:nvSpPr>
          <p:cNvPr id="37" name="Text 32"/>
          <p:cNvSpPr txBox="1"/>
          <p:nvPr/>
        </p:nvSpPr>
        <p:spPr>
          <a:xfrm>
            <a:off x="1764678" y="232257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endParaRPr lang="en-US" sz="1000" dirty="0"/>
          </a:p>
        </p:txBody>
      </p:sp>
      <p:sp>
        <p:nvSpPr>
          <p:cNvPr id="38" name="Text 33"/>
          <p:cNvSpPr txBox="1"/>
          <p:nvPr/>
        </p:nvSpPr>
        <p:spPr>
          <a:xfrm>
            <a:off x="4203154" y="232257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</a:t>
            </a:r>
            <a:endParaRPr lang="en-US" sz="1000" dirty="0"/>
          </a:p>
        </p:txBody>
      </p:sp>
      <p:sp>
        <p:nvSpPr>
          <p:cNvPr id="39" name="Shape 34"/>
          <p:cNvSpPr/>
          <p:nvPr/>
        </p:nvSpPr>
        <p:spPr>
          <a:xfrm>
            <a:off x="8267776" y="2212848"/>
            <a:ext cx="1600200" cy="658368"/>
          </a:xfrm>
          <a:prstGeom prst="diamond">
            <a:avLst/>
          </a:prstGeom>
          <a:solidFill>
            <a:srgbClr val="D6E4F5"/>
          </a:solidFill>
          <a:ln w="19050">
            <a:solidFill>
              <a:srgbClr val="2B4F8C"/>
            </a:solidFill>
            <a:prstDash val="solid"/>
          </a:ln>
        </p:spPr>
      </p:sp>
      <p:sp>
        <p:nvSpPr>
          <p:cNvPr id="40" name="Text 35"/>
          <p:cNvSpPr txBox="1"/>
          <p:nvPr/>
        </p:nvSpPr>
        <p:spPr>
          <a:xfrm>
            <a:off x="8491804" y="2344522"/>
            <a:ext cx="1152144" cy="395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23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ALTERA GESTOR?</a:t>
            </a:r>
            <a:endParaRPr lang="en-US" sz="950" dirty="0"/>
          </a:p>
        </p:txBody>
      </p:sp>
      <p:sp>
        <p:nvSpPr>
          <p:cNvPr id="41" name="Shape 36"/>
          <p:cNvSpPr/>
          <p:nvPr/>
        </p:nvSpPr>
        <p:spPr>
          <a:xfrm flipH="1">
            <a:off x="7592606" y="2542032"/>
            <a:ext cx="675170" cy="0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7592606" y="2542032"/>
            <a:ext cx="0" cy="310896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  <a:tailEnd type="triangle"/>
          </a:ln>
        </p:spPr>
      </p:sp>
      <p:sp>
        <p:nvSpPr>
          <p:cNvPr id="43" name="Shape 38"/>
          <p:cNvSpPr/>
          <p:nvPr/>
        </p:nvSpPr>
        <p:spPr>
          <a:xfrm>
            <a:off x="9867976" y="2542032"/>
            <a:ext cx="675170" cy="0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10543146" y="2542032"/>
            <a:ext cx="0" cy="310896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  <a:tailEnd type="triangle"/>
          </a:ln>
        </p:spPr>
      </p:sp>
      <p:sp>
        <p:nvSpPr>
          <p:cNvPr id="45" name="Text 40"/>
          <p:cNvSpPr txBox="1"/>
          <p:nvPr/>
        </p:nvSpPr>
        <p:spPr>
          <a:xfrm>
            <a:off x="7665758" y="232257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endParaRPr lang="en-US" sz="1000" dirty="0"/>
          </a:p>
        </p:txBody>
      </p:sp>
      <p:sp>
        <p:nvSpPr>
          <p:cNvPr id="46" name="Text 41"/>
          <p:cNvSpPr txBox="1"/>
          <p:nvPr/>
        </p:nvSpPr>
        <p:spPr>
          <a:xfrm>
            <a:off x="10104234" y="232257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</a:t>
            </a:r>
            <a:endParaRPr lang="en-US" sz="1000" dirty="0"/>
          </a:p>
        </p:txBody>
      </p:sp>
      <p:sp>
        <p:nvSpPr>
          <p:cNvPr id="47" name="Shape 42"/>
          <p:cNvSpPr/>
          <p:nvPr/>
        </p:nvSpPr>
        <p:spPr>
          <a:xfrm>
            <a:off x="320040" y="3127248"/>
            <a:ext cx="2742971" cy="3145536"/>
          </a:xfrm>
          <a:prstGeom prst="roundRect">
            <a:avLst>
              <a:gd name="adj" fmla="val 2000"/>
            </a:avLst>
          </a:prstGeom>
          <a:solidFill>
            <a:srgbClr val="FDF6EF"/>
          </a:solidFill>
          <a:ln w="12700">
            <a:solidFill>
              <a:srgbClr val="F1C39A"/>
            </a:solidFill>
            <a:prstDash val="solid"/>
          </a:ln>
        </p:spPr>
      </p:sp>
      <p:sp>
        <p:nvSpPr>
          <p:cNvPr id="48" name="Shape 43"/>
          <p:cNvSpPr/>
          <p:nvPr/>
        </p:nvSpPr>
        <p:spPr>
          <a:xfrm>
            <a:off x="320040" y="3127248"/>
            <a:ext cx="2742971" cy="365760"/>
          </a:xfrm>
          <a:prstGeom prst="roundRect">
            <a:avLst>
              <a:gd name="adj" fmla="val 15000"/>
            </a:avLst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49" name="Shape 44"/>
          <p:cNvSpPr/>
          <p:nvPr/>
        </p:nvSpPr>
        <p:spPr>
          <a:xfrm>
            <a:off x="320040" y="3355848"/>
            <a:ext cx="2742971" cy="137160"/>
          </a:xfrm>
          <a:prstGeom prst="rect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50" name="Shape 45"/>
          <p:cNvSpPr/>
          <p:nvPr/>
        </p:nvSpPr>
        <p:spPr>
          <a:xfrm>
            <a:off x="1462926" y="2852928"/>
            <a:ext cx="457200" cy="457200"/>
          </a:xfrm>
          <a:prstGeom prst="ellipse">
            <a:avLst/>
          </a:prstGeom>
          <a:solidFill>
            <a:srgbClr val="E07A1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1" name="Text 46"/>
          <p:cNvSpPr txBox="1"/>
          <p:nvPr/>
        </p:nvSpPr>
        <p:spPr>
          <a:xfrm>
            <a:off x="1462926" y="2852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52" name="Text 47"/>
          <p:cNvSpPr txBox="1"/>
          <p:nvPr/>
        </p:nvSpPr>
        <p:spPr>
          <a:xfrm>
            <a:off x="429768" y="31272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 A</a:t>
            </a:r>
            <a:endParaRPr lang="en-US" sz="1300" dirty="0"/>
          </a:p>
        </p:txBody>
      </p:sp>
      <p:sp>
        <p:nvSpPr>
          <p:cNvPr id="53" name="Text 48"/>
          <p:cNvSpPr txBox="1"/>
          <p:nvPr/>
        </p:nvSpPr>
        <p:spPr>
          <a:xfrm>
            <a:off x="1737131" y="3127248"/>
            <a:ext cx="1216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regras · 9 etapas</a:t>
            </a:r>
            <a:endParaRPr lang="en-US" sz="950" dirty="0"/>
          </a:p>
        </p:txBody>
      </p:sp>
      <p:sp>
        <p:nvSpPr>
          <p:cNvPr id="54" name="Text 49"/>
          <p:cNvSpPr txBox="1"/>
          <p:nvPr/>
        </p:nvSpPr>
        <p:spPr>
          <a:xfrm>
            <a:off x="411480" y="3584448"/>
            <a:ext cx="237744" cy="220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850" dirty="0"/>
          </a:p>
        </p:txBody>
      </p:sp>
      <p:pic>
        <p:nvPicPr>
          <p:cNvPr id="5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3607689"/>
            <a:ext cx="173736" cy="173736"/>
          </a:xfrm>
          <a:prstGeom prst="rect">
            <a:avLst/>
          </a:prstGeom>
        </p:spPr>
      </p:pic>
      <p:sp>
        <p:nvSpPr>
          <p:cNvPr id="56" name="Text 50"/>
          <p:cNvSpPr txBox="1"/>
          <p:nvPr/>
        </p:nvSpPr>
        <p:spPr>
          <a:xfrm>
            <a:off x="886968" y="3584448"/>
            <a:ext cx="1417091" cy="220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CARREIRA E RECOMPENSA</a:t>
            </a:r>
            <a:endParaRPr lang="en-US" sz="850" dirty="0"/>
          </a:p>
        </p:txBody>
      </p:sp>
      <p:sp>
        <p:nvSpPr>
          <p:cNvPr id="57" name="Text 51"/>
          <p:cNvSpPr txBox="1"/>
          <p:nvPr/>
        </p:nvSpPr>
        <p:spPr>
          <a:xfrm>
            <a:off x="2294915" y="3584448"/>
            <a:ext cx="676656" cy="220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58" name="Text 52"/>
          <p:cNvSpPr txBox="1"/>
          <p:nvPr/>
        </p:nvSpPr>
        <p:spPr>
          <a:xfrm>
            <a:off x="411480" y="3804666"/>
            <a:ext cx="237744" cy="220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850" dirty="0"/>
          </a:p>
        </p:txBody>
      </p:sp>
      <p:pic>
        <p:nvPicPr>
          <p:cNvPr id="5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3827907"/>
            <a:ext cx="173736" cy="173736"/>
          </a:xfrm>
          <a:prstGeom prst="rect">
            <a:avLst/>
          </a:prstGeom>
        </p:spPr>
      </p:pic>
      <p:sp>
        <p:nvSpPr>
          <p:cNvPr id="60" name="Text 53"/>
          <p:cNvSpPr txBox="1"/>
          <p:nvPr/>
        </p:nvSpPr>
        <p:spPr>
          <a:xfrm>
            <a:off x="886968" y="3804666"/>
            <a:ext cx="1417091" cy="220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850" dirty="0"/>
          </a:p>
        </p:txBody>
      </p:sp>
      <p:sp>
        <p:nvSpPr>
          <p:cNvPr id="61" name="Text 54"/>
          <p:cNvSpPr txBox="1"/>
          <p:nvPr/>
        </p:nvSpPr>
        <p:spPr>
          <a:xfrm>
            <a:off x="2294915" y="3804666"/>
            <a:ext cx="676656" cy="220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62" name="Text 55"/>
          <p:cNvSpPr txBox="1"/>
          <p:nvPr/>
        </p:nvSpPr>
        <p:spPr>
          <a:xfrm>
            <a:off x="411480" y="4024884"/>
            <a:ext cx="237744" cy="220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850" dirty="0"/>
          </a:p>
        </p:txBody>
      </p:sp>
      <p:pic>
        <p:nvPicPr>
          <p:cNvPr id="6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" y="4048125"/>
            <a:ext cx="173736" cy="173736"/>
          </a:xfrm>
          <a:prstGeom prst="rect">
            <a:avLst/>
          </a:prstGeom>
        </p:spPr>
      </p:pic>
      <p:sp>
        <p:nvSpPr>
          <p:cNvPr id="64" name="Text 56"/>
          <p:cNvSpPr txBox="1"/>
          <p:nvPr/>
        </p:nvSpPr>
        <p:spPr>
          <a:xfrm>
            <a:off x="886968" y="4024884"/>
            <a:ext cx="1417091" cy="220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DHO – DESENV. HUMANO ORG.</a:t>
            </a:r>
            <a:endParaRPr lang="en-US" sz="750" dirty="0"/>
          </a:p>
        </p:txBody>
      </p:sp>
      <p:sp>
        <p:nvSpPr>
          <p:cNvPr id="65" name="Text 57"/>
          <p:cNvSpPr txBox="1"/>
          <p:nvPr/>
        </p:nvSpPr>
        <p:spPr>
          <a:xfrm>
            <a:off x="2294915" y="4024884"/>
            <a:ext cx="676656" cy="220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66" name="Text 58"/>
          <p:cNvSpPr txBox="1"/>
          <p:nvPr/>
        </p:nvSpPr>
        <p:spPr>
          <a:xfrm>
            <a:off x="411480" y="4245102"/>
            <a:ext cx="237744" cy="220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850" dirty="0"/>
          </a:p>
        </p:txBody>
      </p:sp>
      <p:pic>
        <p:nvPicPr>
          <p:cNvPr id="6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368" y="4268343"/>
            <a:ext cx="173736" cy="173736"/>
          </a:xfrm>
          <a:prstGeom prst="rect">
            <a:avLst/>
          </a:prstGeom>
        </p:spPr>
      </p:pic>
      <p:sp>
        <p:nvSpPr>
          <p:cNvPr id="68" name="Text 59"/>
          <p:cNvSpPr txBox="1"/>
          <p:nvPr/>
        </p:nvSpPr>
        <p:spPr>
          <a:xfrm>
            <a:off x="886968" y="4245102"/>
            <a:ext cx="1417091" cy="220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TREINAMENTO</a:t>
            </a:r>
            <a:endParaRPr lang="en-US" sz="850" dirty="0"/>
          </a:p>
        </p:txBody>
      </p:sp>
      <p:sp>
        <p:nvSpPr>
          <p:cNvPr id="69" name="Text 60"/>
          <p:cNvSpPr txBox="1"/>
          <p:nvPr/>
        </p:nvSpPr>
        <p:spPr>
          <a:xfrm>
            <a:off x="2294915" y="4245102"/>
            <a:ext cx="676656" cy="220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70" name="Text 61"/>
          <p:cNvSpPr txBox="1"/>
          <p:nvPr/>
        </p:nvSpPr>
        <p:spPr>
          <a:xfrm>
            <a:off x="411480" y="4465320"/>
            <a:ext cx="237744" cy="220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850" dirty="0"/>
          </a:p>
        </p:txBody>
      </p:sp>
      <p:pic>
        <p:nvPicPr>
          <p:cNvPr id="7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368" y="4488561"/>
            <a:ext cx="173736" cy="173736"/>
          </a:xfrm>
          <a:prstGeom prst="rect">
            <a:avLst/>
          </a:prstGeom>
        </p:spPr>
      </p:pic>
      <p:sp>
        <p:nvSpPr>
          <p:cNvPr id="72" name="Text 62"/>
          <p:cNvSpPr txBox="1"/>
          <p:nvPr/>
        </p:nvSpPr>
        <p:spPr>
          <a:xfrm>
            <a:off x="886968" y="4465320"/>
            <a:ext cx="1417091" cy="220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MEDICINA</a:t>
            </a:r>
            <a:endParaRPr lang="en-US" sz="850" dirty="0"/>
          </a:p>
        </p:txBody>
      </p:sp>
      <p:sp>
        <p:nvSpPr>
          <p:cNvPr id="73" name="Text 63"/>
          <p:cNvSpPr txBox="1"/>
          <p:nvPr/>
        </p:nvSpPr>
        <p:spPr>
          <a:xfrm>
            <a:off x="2294915" y="4465320"/>
            <a:ext cx="676656" cy="220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74" name="Text 64"/>
          <p:cNvSpPr txBox="1"/>
          <p:nvPr/>
        </p:nvSpPr>
        <p:spPr>
          <a:xfrm>
            <a:off x="411480" y="4685538"/>
            <a:ext cx="237744" cy="220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</a:t>
            </a:r>
            <a:endParaRPr lang="en-US" sz="850" dirty="0"/>
          </a:p>
        </p:txBody>
      </p:sp>
      <p:pic>
        <p:nvPicPr>
          <p:cNvPr id="7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8368" y="4708779"/>
            <a:ext cx="173736" cy="173736"/>
          </a:xfrm>
          <a:prstGeom prst="rect">
            <a:avLst/>
          </a:prstGeom>
        </p:spPr>
      </p:pic>
      <p:sp>
        <p:nvSpPr>
          <p:cNvPr id="76" name="Text 65"/>
          <p:cNvSpPr txBox="1"/>
          <p:nvPr/>
        </p:nvSpPr>
        <p:spPr>
          <a:xfrm>
            <a:off x="886968" y="4685538"/>
            <a:ext cx="1417091" cy="220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DO TRABALHO</a:t>
            </a:r>
            <a:endParaRPr lang="en-US" sz="850" dirty="0"/>
          </a:p>
        </p:txBody>
      </p:sp>
      <p:sp>
        <p:nvSpPr>
          <p:cNvPr id="77" name="Text 66"/>
          <p:cNvSpPr txBox="1"/>
          <p:nvPr/>
        </p:nvSpPr>
        <p:spPr>
          <a:xfrm>
            <a:off x="2294915" y="4685538"/>
            <a:ext cx="676656" cy="220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78" name="Text 67"/>
          <p:cNvSpPr txBox="1"/>
          <p:nvPr/>
        </p:nvSpPr>
        <p:spPr>
          <a:xfrm>
            <a:off x="411480" y="4905756"/>
            <a:ext cx="237744" cy="220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</a:t>
            </a:r>
            <a:endParaRPr lang="en-US" sz="850" dirty="0"/>
          </a:p>
        </p:txBody>
      </p:sp>
      <p:pic>
        <p:nvPicPr>
          <p:cNvPr id="7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8368" y="4928997"/>
            <a:ext cx="173736" cy="173736"/>
          </a:xfrm>
          <a:prstGeom prst="rect">
            <a:avLst/>
          </a:prstGeom>
        </p:spPr>
      </p:pic>
      <p:sp>
        <p:nvSpPr>
          <p:cNvPr id="80" name="Text 68"/>
          <p:cNvSpPr txBox="1"/>
          <p:nvPr/>
        </p:nvSpPr>
        <p:spPr>
          <a:xfrm>
            <a:off x="886968" y="4905756"/>
            <a:ext cx="1417091" cy="220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 SOLICITANTE</a:t>
            </a:r>
            <a:endParaRPr lang="en-US" sz="850" dirty="0"/>
          </a:p>
        </p:txBody>
      </p:sp>
      <p:sp>
        <p:nvSpPr>
          <p:cNvPr id="81" name="Text 69"/>
          <p:cNvSpPr txBox="1"/>
          <p:nvPr/>
        </p:nvSpPr>
        <p:spPr>
          <a:xfrm>
            <a:off x="2294915" y="4905756"/>
            <a:ext cx="676656" cy="220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8A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CONTRIBUINTE</a:t>
            </a:r>
            <a:endParaRPr lang="en-US" sz="700" dirty="0"/>
          </a:p>
        </p:txBody>
      </p:sp>
      <p:sp>
        <p:nvSpPr>
          <p:cNvPr id="82" name="Text 70"/>
          <p:cNvSpPr txBox="1"/>
          <p:nvPr/>
        </p:nvSpPr>
        <p:spPr>
          <a:xfrm>
            <a:off x="411480" y="5125974"/>
            <a:ext cx="237744" cy="220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</a:t>
            </a:r>
            <a:endParaRPr lang="en-US" sz="850" dirty="0"/>
          </a:p>
        </p:txBody>
      </p:sp>
      <p:pic>
        <p:nvPicPr>
          <p:cNvPr id="8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8368" y="5149215"/>
            <a:ext cx="173736" cy="173736"/>
          </a:xfrm>
          <a:prstGeom prst="rect">
            <a:avLst/>
          </a:prstGeom>
        </p:spPr>
      </p:pic>
      <p:sp>
        <p:nvSpPr>
          <p:cNvPr id="84" name="Text 71"/>
          <p:cNvSpPr txBox="1"/>
          <p:nvPr/>
        </p:nvSpPr>
        <p:spPr>
          <a:xfrm>
            <a:off x="886968" y="5125974"/>
            <a:ext cx="1417091" cy="220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COLABORADOR</a:t>
            </a:r>
            <a:endParaRPr lang="en-US" sz="850" dirty="0"/>
          </a:p>
        </p:txBody>
      </p:sp>
      <p:sp>
        <p:nvSpPr>
          <p:cNvPr id="85" name="Text 72"/>
          <p:cNvSpPr txBox="1"/>
          <p:nvPr/>
        </p:nvSpPr>
        <p:spPr>
          <a:xfrm>
            <a:off x="2294915" y="5125974"/>
            <a:ext cx="676656" cy="220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86" name="Text 73"/>
          <p:cNvSpPr txBox="1"/>
          <p:nvPr/>
        </p:nvSpPr>
        <p:spPr>
          <a:xfrm>
            <a:off x="411480" y="5346192"/>
            <a:ext cx="237744" cy="220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</a:t>
            </a:r>
            <a:endParaRPr lang="en-US" sz="850" dirty="0"/>
          </a:p>
        </p:txBody>
      </p:sp>
      <p:pic>
        <p:nvPicPr>
          <p:cNvPr id="87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8368" y="5369433"/>
            <a:ext cx="173736" cy="173736"/>
          </a:xfrm>
          <a:prstGeom prst="rect">
            <a:avLst/>
          </a:prstGeom>
        </p:spPr>
      </p:pic>
      <p:sp>
        <p:nvSpPr>
          <p:cNvPr id="88" name="Text 74"/>
          <p:cNvSpPr txBox="1"/>
          <p:nvPr/>
        </p:nvSpPr>
        <p:spPr>
          <a:xfrm>
            <a:off x="886968" y="5346192"/>
            <a:ext cx="1417091" cy="220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CARREIRA E RECOMPENSA</a:t>
            </a:r>
            <a:endParaRPr lang="en-US" sz="850" dirty="0"/>
          </a:p>
        </p:txBody>
      </p:sp>
      <p:sp>
        <p:nvSpPr>
          <p:cNvPr id="89" name="Text 75"/>
          <p:cNvSpPr txBox="1"/>
          <p:nvPr/>
        </p:nvSpPr>
        <p:spPr>
          <a:xfrm>
            <a:off x="2294915" y="5346192"/>
            <a:ext cx="676656" cy="220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90" name="Shape 76"/>
          <p:cNvSpPr/>
          <p:nvPr/>
        </p:nvSpPr>
        <p:spPr>
          <a:xfrm>
            <a:off x="3270580" y="3127248"/>
            <a:ext cx="2742971" cy="3145536"/>
          </a:xfrm>
          <a:prstGeom prst="roundRect">
            <a:avLst>
              <a:gd name="adj" fmla="val 2000"/>
            </a:avLst>
          </a:prstGeom>
          <a:solidFill>
            <a:srgbClr val="FBF1F0"/>
          </a:solidFill>
          <a:ln w="12700">
            <a:solidFill>
              <a:srgbClr val="E3A6A0"/>
            </a:solidFill>
            <a:prstDash val="solid"/>
          </a:ln>
        </p:spPr>
      </p:sp>
      <p:sp>
        <p:nvSpPr>
          <p:cNvPr id="91" name="Shape 77"/>
          <p:cNvSpPr/>
          <p:nvPr/>
        </p:nvSpPr>
        <p:spPr>
          <a:xfrm>
            <a:off x="3270580" y="3127248"/>
            <a:ext cx="2742971" cy="365760"/>
          </a:xfrm>
          <a:prstGeom prst="roundRect">
            <a:avLst>
              <a:gd name="adj" fmla="val 15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2" name="Shape 78"/>
          <p:cNvSpPr/>
          <p:nvPr/>
        </p:nvSpPr>
        <p:spPr>
          <a:xfrm>
            <a:off x="3270580" y="3355848"/>
            <a:ext cx="2742971" cy="1371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3" name="Shape 79"/>
          <p:cNvSpPr/>
          <p:nvPr/>
        </p:nvSpPr>
        <p:spPr>
          <a:xfrm>
            <a:off x="4413466" y="2852928"/>
            <a:ext cx="457200" cy="457200"/>
          </a:xfrm>
          <a:prstGeom prst="ellipse">
            <a:avLst/>
          </a:prstGeom>
          <a:solidFill>
            <a:srgbClr val="C0392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4" name="Text 80"/>
          <p:cNvSpPr txBox="1"/>
          <p:nvPr/>
        </p:nvSpPr>
        <p:spPr>
          <a:xfrm>
            <a:off x="4413466" y="2852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800" dirty="0"/>
          </a:p>
        </p:txBody>
      </p:sp>
      <p:sp>
        <p:nvSpPr>
          <p:cNvPr id="95" name="Text 81"/>
          <p:cNvSpPr txBox="1"/>
          <p:nvPr/>
        </p:nvSpPr>
        <p:spPr>
          <a:xfrm>
            <a:off x="3380308" y="31272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 E</a:t>
            </a:r>
            <a:endParaRPr lang="en-US" sz="1300" dirty="0"/>
          </a:p>
        </p:txBody>
      </p:sp>
      <p:sp>
        <p:nvSpPr>
          <p:cNvPr id="96" name="Text 82"/>
          <p:cNvSpPr txBox="1"/>
          <p:nvPr/>
        </p:nvSpPr>
        <p:spPr>
          <a:xfrm>
            <a:off x="4687672" y="3127248"/>
            <a:ext cx="1216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regras · 10 etapas</a:t>
            </a:r>
            <a:endParaRPr lang="en-US" sz="950" dirty="0"/>
          </a:p>
        </p:txBody>
      </p:sp>
      <p:sp>
        <p:nvSpPr>
          <p:cNvPr id="97" name="Shape 83"/>
          <p:cNvSpPr/>
          <p:nvPr/>
        </p:nvSpPr>
        <p:spPr>
          <a:xfrm>
            <a:off x="3325444" y="3593592"/>
            <a:ext cx="2633243" cy="201930"/>
          </a:xfrm>
          <a:prstGeom prst="roundRect">
            <a:avLst>
              <a:gd name="adj" fmla="val 13585"/>
            </a:avLst>
          </a:prstGeom>
          <a:solidFill>
            <a:srgbClr val="FFF1CC"/>
          </a:solidFill>
          <a:ln w="6350">
            <a:solidFill>
              <a:srgbClr val="F2D27A"/>
            </a:solidFill>
            <a:prstDash val="solid"/>
          </a:ln>
        </p:spPr>
      </p:sp>
      <p:sp>
        <p:nvSpPr>
          <p:cNvPr id="98" name="Text 84"/>
          <p:cNvSpPr txBox="1"/>
          <p:nvPr/>
        </p:nvSpPr>
        <p:spPr>
          <a:xfrm>
            <a:off x="3362020" y="3584448"/>
            <a:ext cx="237744" cy="220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850" dirty="0"/>
          </a:p>
        </p:txBody>
      </p:sp>
      <p:pic>
        <p:nvPicPr>
          <p:cNvPr id="99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608908" y="3607689"/>
            <a:ext cx="173736" cy="173736"/>
          </a:xfrm>
          <a:prstGeom prst="rect">
            <a:avLst/>
          </a:prstGeom>
        </p:spPr>
      </p:pic>
      <p:sp>
        <p:nvSpPr>
          <p:cNvPr id="100" name="Text 85"/>
          <p:cNvSpPr txBox="1"/>
          <p:nvPr/>
        </p:nvSpPr>
        <p:spPr>
          <a:xfrm>
            <a:off x="3837508" y="3584448"/>
            <a:ext cx="1417091" cy="220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 ATUAL</a:t>
            </a:r>
            <a:endParaRPr lang="en-US" sz="850" dirty="0"/>
          </a:p>
        </p:txBody>
      </p:sp>
      <p:sp>
        <p:nvSpPr>
          <p:cNvPr id="101" name="Text 86"/>
          <p:cNvSpPr txBox="1"/>
          <p:nvPr/>
        </p:nvSpPr>
        <p:spPr>
          <a:xfrm>
            <a:off x="5245456" y="3584448"/>
            <a:ext cx="676656" cy="220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02" name="Text 87"/>
          <p:cNvSpPr txBox="1"/>
          <p:nvPr/>
        </p:nvSpPr>
        <p:spPr>
          <a:xfrm>
            <a:off x="3362020" y="3804666"/>
            <a:ext cx="237744" cy="220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850" dirty="0"/>
          </a:p>
        </p:txBody>
      </p:sp>
      <p:pic>
        <p:nvPicPr>
          <p:cNvPr id="103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608908" y="3827907"/>
            <a:ext cx="173736" cy="173736"/>
          </a:xfrm>
          <a:prstGeom prst="rect">
            <a:avLst/>
          </a:prstGeom>
        </p:spPr>
      </p:pic>
      <p:sp>
        <p:nvSpPr>
          <p:cNvPr id="104" name="Text 88"/>
          <p:cNvSpPr txBox="1"/>
          <p:nvPr/>
        </p:nvSpPr>
        <p:spPr>
          <a:xfrm>
            <a:off x="3837508" y="3804666"/>
            <a:ext cx="1417091" cy="220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CARREIRA E RECOMPENSA</a:t>
            </a:r>
            <a:endParaRPr lang="en-US" sz="850" dirty="0"/>
          </a:p>
        </p:txBody>
      </p:sp>
      <p:sp>
        <p:nvSpPr>
          <p:cNvPr id="105" name="Text 89"/>
          <p:cNvSpPr txBox="1"/>
          <p:nvPr/>
        </p:nvSpPr>
        <p:spPr>
          <a:xfrm>
            <a:off x="5245456" y="3804666"/>
            <a:ext cx="676656" cy="220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06" name="Text 90"/>
          <p:cNvSpPr txBox="1"/>
          <p:nvPr/>
        </p:nvSpPr>
        <p:spPr>
          <a:xfrm>
            <a:off x="3362020" y="4024884"/>
            <a:ext cx="237744" cy="220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850" dirty="0"/>
          </a:p>
        </p:txBody>
      </p:sp>
      <p:pic>
        <p:nvPicPr>
          <p:cNvPr id="107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608908" y="4048125"/>
            <a:ext cx="173736" cy="173736"/>
          </a:xfrm>
          <a:prstGeom prst="rect">
            <a:avLst/>
          </a:prstGeom>
        </p:spPr>
      </p:pic>
      <p:sp>
        <p:nvSpPr>
          <p:cNvPr id="108" name="Text 91"/>
          <p:cNvSpPr txBox="1"/>
          <p:nvPr/>
        </p:nvSpPr>
        <p:spPr>
          <a:xfrm>
            <a:off x="3837508" y="4024884"/>
            <a:ext cx="1417091" cy="220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850" dirty="0"/>
          </a:p>
        </p:txBody>
      </p:sp>
      <p:sp>
        <p:nvSpPr>
          <p:cNvPr id="109" name="Text 92"/>
          <p:cNvSpPr txBox="1"/>
          <p:nvPr/>
        </p:nvSpPr>
        <p:spPr>
          <a:xfrm>
            <a:off x="5245456" y="4024884"/>
            <a:ext cx="676656" cy="220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10" name="Text 93"/>
          <p:cNvSpPr txBox="1"/>
          <p:nvPr/>
        </p:nvSpPr>
        <p:spPr>
          <a:xfrm>
            <a:off x="3362020" y="4245102"/>
            <a:ext cx="237744" cy="220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850" dirty="0"/>
          </a:p>
        </p:txBody>
      </p:sp>
      <p:pic>
        <p:nvPicPr>
          <p:cNvPr id="111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608908" y="4268343"/>
            <a:ext cx="173736" cy="173736"/>
          </a:xfrm>
          <a:prstGeom prst="rect">
            <a:avLst/>
          </a:prstGeom>
        </p:spPr>
      </p:pic>
      <p:sp>
        <p:nvSpPr>
          <p:cNvPr id="112" name="Text 94"/>
          <p:cNvSpPr txBox="1"/>
          <p:nvPr/>
        </p:nvSpPr>
        <p:spPr>
          <a:xfrm>
            <a:off x="3837508" y="4245102"/>
            <a:ext cx="1417091" cy="220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DHO – DESENV. HUMANO ORG.</a:t>
            </a:r>
            <a:endParaRPr lang="en-US" sz="750" dirty="0"/>
          </a:p>
        </p:txBody>
      </p:sp>
      <p:sp>
        <p:nvSpPr>
          <p:cNvPr id="113" name="Text 95"/>
          <p:cNvSpPr txBox="1"/>
          <p:nvPr/>
        </p:nvSpPr>
        <p:spPr>
          <a:xfrm>
            <a:off x="5245456" y="4245102"/>
            <a:ext cx="676656" cy="220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14" name="Text 96"/>
          <p:cNvSpPr txBox="1"/>
          <p:nvPr/>
        </p:nvSpPr>
        <p:spPr>
          <a:xfrm>
            <a:off x="3362020" y="4465320"/>
            <a:ext cx="237744" cy="220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850" dirty="0"/>
          </a:p>
        </p:txBody>
      </p:sp>
      <p:pic>
        <p:nvPicPr>
          <p:cNvPr id="115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608908" y="4488561"/>
            <a:ext cx="173736" cy="173736"/>
          </a:xfrm>
          <a:prstGeom prst="rect">
            <a:avLst/>
          </a:prstGeom>
        </p:spPr>
      </p:pic>
      <p:sp>
        <p:nvSpPr>
          <p:cNvPr id="116" name="Text 97"/>
          <p:cNvSpPr txBox="1"/>
          <p:nvPr/>
        </p:nvSpPr>
        <p:spPr>
          <a:xfrm>
            <a:off x="3837508" y="4465320"/>
            <a:ext cx="1417091" cy="220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TREINAMENTO</a:t>
            </a:r>
            <a:endParaRPr lang="en-US" sz="850" dirty="0"/>
          </a:p>
        </p:txBody>
      </p:sp>
      <p:sp>
        <p:nvSpPr>
          <p:cNvPr id="117" name="Text 98"/>
          <p:cNvSpPr txBox="1"/>
          <p:nvPr/>
        </p:nvSpPr>
        <p:spPr>
          <a:xfrm>
            <a:off x="5245456" y="4465320"/>
            <a:ext cx="676656" cy="220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18" name="Text 99"/>
          <p:cNvSpPr txBox="1"/>
          <p:nvPr/>
        </p:nvSpPr>
        <p:spPr>
          <a:xfrm>
            <a:off x="3362020" y="4685538"/>
            <a:ext cx="237744" cy="220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</a:t>
            </a:r>
            <a:endParaRPr lang="en-US" sz="850" dirty="0"/>
          </a:p>
        </p:txBody>
      </p:sp>
      <p:pic>
        <p:nvPicPr>
          <p:cNvPr id="11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608908" y="4708779"/>
            <a:ext cx="173736" cy="173736"/>
          </a:xfrm>
          <a:prstGeom prst="rect">
            <a:avLst/>
          </a:prstGeom>
        </p:spPr>
      </p:pic>
      <p:sp>
        <p:nvSpPr>
          <p:cNvPr id="120" name="Text 100"/>
          <p:cNvSpPr txBox="1"/>
          <p:nvPr/>
        </p:nvSpPr>
        <p:spPr>
          <a:xfrm>
            <a:off x="3837508" y="4685538"/>
            <a:ext cx="1417091" cy="220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MEDICINA</a:t>
            </a:r>
            <a:endParaRPr lang="en-US" sz="850" dirty="0"/>
          </a:p>
        </p:txBody>
      </p:sp>
      <p:sp>
        <p:nvSpPr>
          <p:cNvPr id="121" name="Text 101"/>
          <p:cNvSpPr txBox="1"/>
          <p:nvPr/>
        </p:nvSpPr>
        <p:spPr>
          <a:xfrm>
            <a:off x="5245456" y="4685538"/>
            <a:ext cx="676656" cy="220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22" name="Text 102"/>
          <p:cNvSpPr txBox="1"/>
          <p:nvPr/>
        </p:nvSpPr>
        <p:spPr>
          <a:xfrm>
            <a:off x="3362020" y="4905756"/>
            <a:ext cx="237744" cy="220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</a:t>
            </a:r>
            <a:endParaRPr lang="en-US" sz="850" dirty="0"/>
          </a:p>
        </p:txBody>
      </p:sp>
      <p:pic>
        <p:nvPicPr>
          <p:cNvPr id="123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608908" y="4928997"/>
            <a:ext cx="173736" cy="173736"/>
          </a:xfrm>
          <a:prstGeom prst="rect">
            <a:avLst/>
          </a:prstGeom>
        </p:spPr>
      </p:pic>
      <p:sp>
        <p:nvSpPr>
          <p:cNvPr id="124" name="Text 103"/>
          <p:cNvSpPr txBox="1"/>
          <p:nvPr/>
        </p:nvSpPr>
        <p:spPr>
          <a:xfrm>
            <a:off x="3837508" y="4905756"/>
            <a:ext cx="1417091" cy="220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DO TRABALHO</a:t>
            </a:r>
            <a:endParaRPr lang="en-US" sz="850" dirty="0"/>
          </a:p>
        </p:txBody>
      </p:sp>
      <p:sp>
        <p:nvSpPr>
          <p:cNvPr id="125" name="Text 104"/>
          <p:cNvSpPr txBox="1"/>
          <p:nvPr/>
        </p:nvSpPr>
        <p:spPr>
          <a:xfrm>
            <a:off x="5245456" y="4905756"/>
            <a:ext cx="676656" cy="220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26" name="Text 105"/>
          <p:cNvSpPr txBox="1"/>
          <p:nvPr/>
        </p:nvSpPr>
        <p:spPr>
          <a:xfrm>
            <a:off x="3362020" y="5125974"/>
            <a:ext cx="237744" cy="220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</a:t>
            </a:r>
            <a:endParaRPr lang="en-US" sz="850" dirty="0"/>
          </a:p>
        </p:txBody>
      </p:sp>
      <p:pic>
        <p:nvPicPr>
          <p:cNvPr id="127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608908" y="5149215"/>
            <a:ext cx="173736" cy="173736"/>
          </a:xfrm>
          <a:prstGeom prst="rect">
            <a:avLst/>
          </a:prstGeom>
        </p:spPr>
      </p:pic>
      <p:sp>
        <p:nvSpPr>
          <p:cNvPr id="128" name="Text 106"/>
          <p:cNvSpPr txBox="1"/>
          <p:nvPr/>
        </p:nvSpPr>
        <p:spPr>
          <a:xfrm>
            <a:off x="3837508" y="5125974"/>
            <a:ext cx="1417091" cy="220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 SOLICITANTE</a:t>
            </a:r>
            <a:endParaRPr lang="en-US" sz="850" dirty="0"/>
          </a:p>
        </p:txBody>
      </p:sp>
      <p:sp>
        <p:nvSpPr>
          <p:cNvPr id="129" name="Text 107"/>
          <p:cNvSpPr txBox="1"/>
          <p:nvPr/>
        </p:nvSpPr>
        <p:spPr>
          <a:xfrm>
            <a:off x="5245456" y="5125974"/>
            <a:ext cx="676656" cy="220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8A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CONTRIBUINTE</a:t>
            </a:r>
            <a:endParaRPr lang="en-US" sz="700" dirty="0"/>
          </a:p>
        </p:txBody>
      </p:sp>
      <p:sp>
        <p:nvSpPr>
          <p:cNvPr id="130" name="Text 108"/>
          <p:cNvSpPr txBox="1"/>
          <p:nvPr/>
        </p:nvSpPr>
        <p:spPr>
          <a:xfrm>
            <a:off x="3362020" y="5346192"/>
            <a:ext cx="237744" cy="220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</a:t>
            </a:r>
            <a:endParaRPr lang="en-US" sz="850" dirty="0"/>
          </a:p>
        </p:txBody>
      </p:sp>
      <p:pic>
        <p:nvPicPr>
          <p:cNvPr id="131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608908" y="5369433"/>
            <a:ext cx="173736" cy="173736"/>
          </a:xfrm>
          <a:prstGeom prst="rect">
            <a:avLst/>
          </a:prstGeom>
        </p:spPr>
      </p:pic>
      <p:sp>
        <p:nvSpPr>
          <p:cNvPr id="132" name="Text 109"/>
          <p:cNvSpPr txBox="1"/>
          <p:nvPr/>
        </p:nvSpPr>
        <p:spPr>
          <a:xfrm>
            <a:off x="3837508" y="5346192"/>
            <a:ext cx="1417091" cy="220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COLABORADOR</a:t>
            </a:r>
            <a:endParaRPr lang="en-US" sz="850" dirty="0"/>
          </a:p>
        </p:txBody>
      </p:sp>
      <p:sp>
        <p:nvSpPr>
          <p:cNvPr id="133" name="Text 110"/>
          <p:cNvSpPr txBox="1"/>
          <p:nvPr/>
        </p:nvSpPr>
        <p:spPr>
          <a:xfrm>
            <a:off x="5245456" y="5346192"/>
            <a:ext cx="676656" cy="220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34" name="Text 111"/>
          <p:cNvSpPr txBox="1"/>
          <p:nvPr/>
        </p:nvSpPr>
        <p:spPr>
          <a:xfrm>
            <a:off x="3362020" y="5566410"/>
            <a:ext cx="237744" cy="220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</a:t>
            </a:r>
            <a:endParaRPr lang="en-US" sz="850" dirty="0"/>
          </a:p>
        </p:txBody>
      </p:sp>
      <p:pic>
        <p:nvPicPr>
          <p:cNvPr id="135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608908" y="5589651"/>
            <a:ext cx="173736" cy="173736"/>
          </a:xfrm>
          <a:prstGeom prst="rect">
            <a:avLst/>
          </a:prstGeom>
        </p:spPr>
      </p:pic>
      <p:sp>
        <p:nvSpPr>
          <p:cNvPr id="136" name="Text 112"/>
          <p:cNvSpPr txBox="1"/>
          <p:nvPr/>
        </p:nvSpPr>
        <p:spPr>
          <a:xfrm>
            <a:off x="3837508" y="5566410"/>
            <a:ext cx="1417091" cy="220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CARREIRA E RECOMPENSA</a:t>
            </a:r>
            <a:endParaRPr lang="en-US" sz="850" dirty="0"/>
          </a:p>
        </p:txBody>
      </p:sp>
      <p:sp>
        <p:nvSpPr>
          <p:cNvPr id="137" name="Text 113"/>
          <p:cNvSpPr txBox="1"/>
          <p:nvPr/>
        </p:nvSpPr>
        <p:spPr>
          <a:xfrm>
            <a:off x="5245456" y="5566410"/>
            <a:ext cx="676656" cy="220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38" name="Shape 114"/>
          <p:cNvSpPr/>
          <p:nvPr/>
        </p:nvSpPr>
        <p:spPr>
          <a:xfrm>
            <a:off x="6221120" y="3127248"/>
            <a:ext cx="2742971" cy="3145536"/>
          </a:xfrm>
          <a:prstGeom prst="roundRect">
            <a:avLst>
              <a:gd name="adj" fmla="val 2000"/>
            </a:avLst>
          </a:prstGeom>
          <a:solidFill>
            <a:srgbClr val="EFF3F9"/>
          </a:solidFill>
          <a:ln w="12700">
            <a:solidFill>
              <a:srgbClr val="9AB5D7"/>
            </a:solidFill>
            <a:prstDash val="solid"/>
          </a:ln>
        </p:spPr>
      </p:sp>
      <p:sp>
        <p:nvSpPr>
          <p:cNvPr id="139" name="Shape 115"/>
          <p:cNvSpPr/>
          <p:nvPr/>
        </p:nvSpPr>
        <p:spPr>
          <a:xfrm>
            <a:off x="6221120" y="3127248"/>
            <a:ext cx="2742971" cy="365760"/>
          </a:xfrm>
          <a:prstGeom prst="roundRect">
            <a:avLst>
              <a:gd name="adj" fmla="val 15000"/>
            </a:avLst>
          </a:prstGeom>
          <a:solidFill>
            <a:srgbClr val="1F5AA6"/>
          </a:solidFill>
          <a:ln w="12700">
            <a:solidFill>
              <a:srgbClr val="1F5AA6"/>
            </a:solidFill>
            <a:prstDash val="solid"/>
          </a:ln>
        </p:spPr>
      </p:sp>
      <p:sp>
        <p:nvSpPr>
          <p:cNvPr id="140" name="Shape 116"/>
          <p:cNvSpPr/>
          <p:nvPr/>
        </p:nvSpPr>
        <p:spPr>
          <a:xfrm>
            <a:off x="6221120" y="3355848"/>
            <a:ext cx="2742971" cy="137160"/>
          </a:xfrm>
          <a:prstGeom prst="rect">
            <a:avLst/>
          </a:prstGeom>
          <a:solidFill>
            <a:srgbClr val="1F5AA6"/>
          </a:solidFill>
          <a:ln w="12700">
            <a:solidFill>
              <a:srgbClr val="1F5AA6"/>
            </a:solidFill>
            <a:prstDash val="solid"/>
          </a:ln>
        </p:spPr>
      </p:sp>
      <p:sp>
        <p:nvSpPr>
          <p:cNvPr id="141" name="Shape 117"/>
          <p:cNvSpPr/>
          <p:nvPr/>
        </p:nvSpPr>
        <p:spPr>
          <a:xfrm>
            <a:off x="7364006" y="2852928"/>
            <a:ext cx="457200" cy="457200"/>
          </a:xfrm>
          <a:prstGeom prst="ellipse">
            <a:avLst/>
          </a:prstGeom>
          <a:solidFill>
            <a:srgbClr val="1F5AA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2" name="Text 118"/>
          <p:cNvSpPr txBox="1"/>
          <p:nvPr/>
        </p:nvSpPr>
        <p:spPr>
          <a:xfrm>
            <a:off x="7364006" y="2852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43" name="Text 119"/>
          <p:cNvSpPr txBox="1"/>
          <p:nvPr/>
        </p:nvSpPr>
        <p:spPr>
          <a:xfrm>
            <a:off x="6330848" y="31272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 B</a:t>
            </a:r>
            <a:endParaRPr lang="en-US" sz="1300" dirty="0"/>
          </a:p>
        </p:txBody>
      </p:sp>
      <p:sp>
        <p:nvSpPr>
          <p:cNvPr id="144" name="Text 120"/>
          <p:cNvSpPr txBox="1"/>
          <p:nvPr/>
        </p:nvSpPr>
        <p:spPr>
          <a:xfrm>
            <a:off x="7638212" y="3127248"/>
            <a:ext cx="1216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regras · 11 etapas</a:t>
            </a:r>
            <a:endParaRPr lang="en-US" sz="950" dirty="0"/>
          </a:p>
        </p:txBody>
      </p:sp>
      <p:sp>
        <p:nvSpPr>
          <p:cNvPr id="145" name="Text 121"/>
          <p:cNvSpPr txBox="1"/>
          <p:nvPr/>
        </p:nvSpPr>
        <p:spPr>
          <a:xfrm>
            <a:off x="6312560" y="3584448"/>
            <a:ext cx="237744" cy="220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850" dirty="0"/>
          </a:p>
        </p:txBody>
      </p:sp>
      <p:pic>
        <p:nvPicPr>
          <p:cNvPr id="146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559448" y="3607689"/>
            <a:ext cx="173736" cy="173736"/>
          </a:xfrm>
          <a:prstGeom prst="rect">
            <a:avLst/>
          </a:prstGeom>
        </p:spPr>
      </p:pic>
      <p:sp>
        <p:nvSpPr>
          <p:cNvPr id="147" name="Text 122"/>
          <p:cNvSpPr txBox="1"/>
          <p:nvPr/>
        </p:nvSpPr>
        <p:spPr>
          <a:xfrm>
            <a:off x="6788048" y="3584448"/>
            <a:ext cx="1417091" cy="220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CARREIRA E RECOMPENSA</a:t>
            </a:r>
            <a:endParaRPr lang="en-US" sz="850" dirty="0"/>
          </a:p>
        </p:txBody>
      </p:sp>
      <p:sp>
        <p:nvSpPr>
          <p:cNvPr id="148" name="Text 123"/>
          <p:cNvSpPr txBox="1"/>
          <p:nvPr/>
        </p:nvSpPr>
        <p:spPr>
          <a:xfrm>
            <a:off x="8195996" y="3584448"/>
            <a:ext cx="676656" cy="220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49" name="Text 124"/>
          <p:cNvSpPr txBox="1"/>
          <p:nvPr/>
        </p:nvSpPr>
        <p:spPr>
          <a:xfrm>
            <a:off x="6312560" y="3804666"/>
            <a:ext cx="237744" cy="220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850" dirty="0"/>
          </a:p>
        </p:txBody>
      </p:sp>
      <p:pic>
        <p:nvPicPr>
          <p:cNvPr id="150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559448" y="3827907"/>
            <a:ext cx="173736" cy="173736"/>
          </a:xfrm>
          <a:prstGeom prst="rect">
            <a:avLst/>
          </a:prstGeom>
        </p:spPr>
      </p:pic>
      <p:sp>
        <p:nvSpPr>
          <p:cNvPr id="151" name="Text 125"/>
          <p:cNvSpPr txBox="1"/>
          <p:nvPr/>
        </p:nvSpPr>
        <p:spPr>
          <a:xfrm>
            <a:off x="6788048" y="3804666"/>
            <a:ext cx="1417091" cy="220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850" dirty="0"/>
          </a:p>
        </p:txBody>
      </p:sp>
      <p:sp>
        <p:nvSpPr>
          <p:cNvPr id="152" name="Text 126"/>
          <p:cNvSpPr txBox="1"/>
          <p:nvPr/>
        </p:nvSpPr>
        <p:spPr>
          <a:xfrm>
            <a:off x="8195996" y="3804666"/>
            <a:ext cx="676656" cy="220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53" name="Text 127"/>
          <p:cNvSpPr txBox="1"/>
          <p:nvPr/>
        </p:nvSpPr>
        <p:spPr>
          <a:xfrm>
            <a:off x="6312560" y="4024884"/>
            <a:ext cx="237744" cy="220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850" dirty="0"/>
          </a:p>
        </p:txBody>
      </p:sp>
      <p:pic>
        <p:nvPicPr>
          <p:cNvPr id="154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559448" y="4048125"/>
            <a:ext cx="173736" cy="173736"/>
          </a:xfrm>
          <a:prstGeom prst="rect">
            <a:avLst/>
          </a:prstGeom>
        </p:spPr>
      </p:pic>
      <p:sp>
        <p:nvSpPr>
          <p:cNvPr id="155" name="Text 128"/>
          <p:cNvSpPr txBox="1"/>
          <p:nvPr/>
        </p:nvSpPr>
        <p:spPr>
          <a:xfrm>
            <a:off x="6788048" y="4024884"/>
            <a:ext cx="1417091" cy="220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DHO – DESENV. HUMANO ORG.</a:t>
            </a:r>
            <a:endParaRPr lang="en-US" sz="750" dirty="0"/>
          </a:p>
        </p:txBody>
      </p:sp>
      <p:sp>
        <p:nvSpPr>
          <p:cNvPr id="156" name="Text 129"/>
          <p:cNvSpPr txBox="1"/>
          <p:nvPr/>
        </p:nvSpPr>
        <p:spPr>
          <a:xfrm>
            <a:off x="8195996" y="4024884"/>
            <a:ext cx="676656" cy="220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57" name="Text 130"/>
          <p:cNvSpPr txBox="1"/>
          <p:nvPr/>
        </p:nvSpPr>
        <p:spPr>
          <a:xfrm>
            <a:off x="6312560" y="4245102"/>
            <a:ext cx="237744" cy="220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850" dirty="0"/>
          </a:p>
        </p:txBody>
      </p:sp>
      <p:pic>
        <p:nvPicPr>
          <p:cNvPr id="158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559448" y="4268343"/>
            <a:ext cx="173736" cy="173736"/>
          </a:xfrm>
          <a:prstGeom prst="rect">
            <a:avLst/>
          </a:prstGeom>
        </p:spPr>
      </p:pic>
      <p:sp>
        <p:nvSpPr>
          <p:cNvPr id="159" name="Text 131"/>
          <p:cNvSpPr txBox="1"/>
          <p:nvPr/>
        </p:nvSpPr>
        <p:spPr>
          <a:xfrm>
            <a:off x="6788048" y="4245102"/>
            <a:ext cx="1417091" cy="220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TREINAMENTO</a:t>
            </a:r>
            <a:endParaRPr lang="en-US" sz="850" dirty="0"/>
          </a:p>
        </p:txBody>
      </p:sp>
      <p:sp>
        <p:nvSpPr>
          <p:cNvPr id="160" name="Text 132"/>
          <p:cNvSpPr txBox="1"/>
          <p:nvPr/>
        </p:nvSpPr>
        <p:spPr>
          <a:xfrm>
            <a:off x="8195996" y="4245102"/>
            <a:ext cx="676656" cy="220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61" name="Text 133"/>
          <p:cNvSpPr txBox="1"/>
          <p:nvPr/>
        </p:nvSpPr>
        <p:spPr>
          <a:xfrm>
            <a:off x="6312560" y="4465320"/>
            <a:ext cx="237744" cy="220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850" dirty="0"/>
          </a:p>
        </p:txBody>
      </p:sp>
      <p:pic>
        <p:nvPicPr>
          <p:cNvPr id="162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559448" y="4488561"/>
            <a:ext cx="173736" cy="173736"/>
          </a:xfrm>
          <a:prstGeom prst="rect">
            <a:avLst/>
          </a:prstGeom>
        </p:spPr>
      </p:pic>
      <p:sp>
        <p:nvSpPr>
          <p:cNvPr id="163" name="Text 134"/>
          <p:cNvSpPr txBox="1"/>
          <p:nvPr/>
        </p:nvSpPr>
        <p:spPr>
          <a:xfrm>
            <a:off x="6788048" y="4465320"/>
            <a:ext cx="1417091" cy="220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MEDICINA</a:t>
            </a:r>
            <a:endParaRPr lang="en-US" sz="850" dirty="0"/>
          </a:p>
        </p:txBody>
      </p:sp>
      <p:sp>
        <p:nvSpPr>
          <p:cNvPr id="164" name="Text 135"/>
          <p:cNvSpPr txBox="1"/>
          <p:nvPr/>
        </p:nvSpPr>
        <p:spPr>
          <a:xfrm>
            <a:off x="8195996" y="4465320"/>
            <a:ext cx="676656" cy="220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65" name="Text 136"/>
          <p:cNvSpPr txBox="1"/>
          <p:nvPr/>
        </p:nvSpPr>
        <p:spPr>
          <a:xfrm>
            <a:off x="6312560" y="4685538"/>
            <a:ext cx="237744" cy="220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</a:t>
            </a:r>
            <a:endParaRPr lang="en-US" sz="850" dirty="0"/>
          </a:p>
        </p:txBody>
      </p:sp>
      <p:pic>
        <p:nvPicPr>
          <p:cNvPr id="166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559448" y="4708779"/>
            <a:ext cx="173736" cy="173736"/>
          </a:xfrm>
          <a:prstGeom prst="rect">
            <a:avLst/>
          </a:prstGeom>
        </p:spPr>
      </p:pic>
      <p:sp>
        <p:nvSpPr>
          <p:cNvPr id="167" name="Text 137"/>
          <p:cNvSpPr txBox="1"/>
          <p:nvPr/>
        </p:nvSpPr>
        <p:spPr>
          <a:xfrm>
            <a:off x="6788048" y="4685538"/>
            <a:ext cx="1417091" cy="220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DO TRABALHO</a:t>
            </a:r>
            <a:endParaRPr lang="en-US" sz="850" dirty="0"/>
          </a:p>
        </p:txBody>
      </p:sp>
      <p:sp>
        <p:nvSpPr>
          <p:cNvPr id="168" name="Text 138"/>
          <p:cNvSpPr txBox="1"/>
          <p:nvPr/>
        </p:nvSpPr>
        <p:spPr>
          <a:xfrm>
            <a:off x="8195996" y="4685538"/>
            <a:ext cx="676656" cy="220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69" name="Text 139"/>
          <p:cNvSpPr txBox="1"/>
          <p:nvPr/>
        </p:nvSpPr>
        <p:spPr>
          <a:xfrm>
            <a:off x="6312560" y="4905756"/>
            <a:ext cx="237744" cy="220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</a:t>
            </a:r>
            <a:endParaRPr lang="en-US" sz="850" dirty="0"/>
          </a:p>
        </p:txBody>
      </p:sp>
      <p:pic>
        <p:nvPicPr>
          <p:cNvPr id="170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559448" y="4928997"/>
            <a:ext cx="173736" cy="173736"/>
          </a:xfrm>
          <a:prstGeom prst="rect">
            <a:avLst/>
          </a:prstGeom>
        </p:spPr>
      </p:pic>
      <p:sp>
        <p:nvSpPr>
          <p:cNvPr id="171" name="Text 140"/>
          <p:cNvSpPr txBox="1"/>
          <p:nvPr/>
        </p:nvSpPr>
        <p:spPr>
          <a:xfrm>
            <a:off x="6788048" y="4905756"/>
            <a:ext cx="1417091" cy="220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 SOLICITANTE</a:t>
            </a:r>
            <a:endParaRPr lang="en-US" sz="850" dirty="0"/>
          </a:p>
        </p:txBody>
      </p:sp>
      <p:sp>
        <p:nvSpPr>
          <p:cNvPr id="172" name="Text 141"/>
          <p:cNvSpPr txBox="1"/>
          <p:nvPr/>
        </p:nvSpPr>
        <p:spPr>
          <a:xfrm>
            <a:off x="8195996" y="4905756"/>
            <a:ext cx="676656" cy="220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8A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CONTRIBUINTE</a:t>
            </a:r>
            <a:endParaRPr lang="en-US" sz="700" dirty="0"/>
          </a:p>
        </p:txBody>
      </p:sp>
      <p:sp>
        <p:nvSpPr>
          <p:cNvPr id="173" name="Text 142"/>
          <p:cNvSpPr txBox="1"/>
          <p:nvPr/>
        </p:nvSpPr>
        <p:spPr>
          <a:xfrm>
            <a:off x="6312560" y="5125974"/>
            <a:ext cx="237744" cy="220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</a:t>
            </a:r>
            <a:endParaRPr lang="en-US" sz="850" dirty="0"/>
          </a:p>
        </p:txBody>
      </p:sp>
      <p:pic>
        <p:nvPicPr>
          <p:cNvPr id="174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559448" y="5149215"/>
            <a:ext cx="173736" cy="173736"/>
          </a:xfrm>
          <a:prstGeom prst="rect">
            <a:avLst/>
          </a:prstGeom>
        </p:spPr>
      </p:pic>
      <p:sp>
        <p:nvSpPr>
          <p:cNvPr id="175" name="Text 143"/>
          <p:cNvSpPr txBox="1"/>
          <p:nvPr/>
        </p:nvSpPr>
        <p:spPr>
          <a:xfrm>
            <a:off x="6788048" y="5125974"/>
            <a:ext cx="1417091" cy="220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COLABORADOR</a:t>
            </a:r>
            <a:endParaRPr lang="en-US" sz="850" dirty="0"/>
          </a:p>
        </p:txBody>
      </p:sp>
      <p:sp>
        <p:nvSpPr>
          <p:cNvPr id="176" name="Text 144"/>
          <p:cNvSpPr txBox="1"/>
          <p:nvPr/>
        </p:nvSpPr>
        <p:spPr>
          <a:xfrm>
            <a:off x="8195996" y="5125974"/>
            <a:ext cx="676656" cy="220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77" name="Text 145"/>
          <p:cNvSpPr txBox="1"/>
          <p:nvPr/>
        </p:nvSpPr>
        <p:spPr>
          <a:xfrm>
            <a:off x="6312560" y="5346192"/>
            <a:ext cx="237744" cy="220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</a:t>
            </a:r>
            <a:endParaRPr lang="en-US" sz="850" dirty="0"/>
          </a:p>
        </p:txBody>
      </p:sp>
      <p:pic>
        <p:nvPicPr>
          <p:cNvPr id="178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6559448" y="5369433"/>
            <a:ext cx="173736" cy="173736"/>
          </a:xfrm>
          <a:prstGeom prst="rect">
            <a:avLst/>
          </a:prstGeom>
        </p:spPr>
      </p:pic>
      <p:sp>
        <p:nvSpPr>
          <p:cNvPr id="179" name="Text 146"/>
          <p:cNvSpPr txBox="1"/>
          <p:nvPr/>
        </p:nvSpPr>
        <p:spPr>
          <a:xfrm>
            <a:off x="6788048" y="5346192"/>
            <a:ext cx="1417091" cy="220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CARREIRA E RECOMPENSA</a:t>
            </a:r>
            <a:endParaRPr lang="en-US" sz="850" dirty="0"/>
          </a:p>
        </p:txBody>
      </p:sp>
      <p:sp>
        <p:nvSpPr>
          <p:cNvPr id="180" name="Text 147"/>
          <p:cNvSpPr txBox="1"/>
          <p:nvPr/>
        </p:nvSpPr>
        <p:spPr>
          <a:xfrm>
            <a:off x="8195996" y="5346192"/>
            <a:ext cx="676656" cy="220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81" name="Shape 148"/>
          <p:cNvSpPr/>
          <p:nvPr/>
        </p:nvSpPr>
        <p:spPr>
          <a:xfrm>
            <a:off x="6275984" y="5575554"/>
            <a:ext cx="2633243" cy="201930"/>
          </a:xfrm>
          <a:prstGeom prst="roundRect">
            <a:avLst>
              <a:gd name="adj" fmla="val 13585"/>
            </a:avLst>
          </a:prstGeom>
          <a:solidFill>
            <a:srgbClr val="FFF1CC"/>
          </a:solidFill>
          <a:ln w="6350">
            <a:solidFill>
              <a:srgbClr val="F2D27A"/>
            </a:solidFill>
            <a:prstDash val="solid"/>
          </a:ln>
        </p:spPr>
      </p:sp>
      <p:sp>
        <p:nvSpPr>
          <p:cNvPr id="182" name="Text 149"/>
          <p:cNvSpPr txBox="1"/>
          <p:nvPr/>
        </p:nvSpPr>
        <p:spPr>
          <a:xfrm>
            <a:off x="6312560" y="5566410"/>
            <a:ext cx="237744" cy="220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</a:t>
            </a:r>
            <a:endParaRPr lang="en-US" sz="850" dirty="0"/>
          </a:p>
        </p:txBody>
      </p:sp>
      <p:pic>
        <p:nvPicPr>
          <p:cNvPr id="183" name="Image 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6559448" y="5589651"/>
            <a:ext cx="173736" cy="173736"/>
          </a:xfrm>
          <a:prstGeom prst="rect">
            <a:avLst/>
          </a:prstGeom>
        </p:spPr>
      </p:pic>
      <p:sp>
        <p:nvSpPr>
          <p:cNvPr id="184" name="Text 150"/>
          <p:cNvSpPr txBox="1"/>
          <p:nvPr/>
        </p:nvSpPr>
        <p:spPr>
          <a:xfrm>
            <a:off x="6788048" y="5566410"/>
            <a:ext cx="1417091" cy="220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CONTROLADORIA</a:t>
            </a:r>
            <a:endParaRPr lang="en-US" sz="850" dirty="0"/>
          </a:p>
        </p:txBody>
      </p:sp>
      <p:sp>
        <p:nvSpPr>
          <p:cNvPr id="185" name="Text 151"/>
          <p:cNvSpPr txBox="1"/>
          <p:nvPr/>
        </p:nvSpPr>
        <p:spPr>
          <a:xfrm>
            <a:off x="8195996" y="5566410"/>
            <a:ext cx="676656" cy="220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CÓPIA</a:t>
            </a:r>
            <a:endParaRPr lang="en-US" sz="700" dirty="0"/>
          </a:p>
        </p:txBody>
      </p:sp>
      <p:sp>
        <p:nvSpPr>
          <p:cNvPr id="186" name="Shape 152"/>
          <p:cNvSpPr/>
          <p:nvPr/>
        </p:nvSpPr>
        <p:spPr>
          <a:xfrm>
            <a:off x="6275984" y="5795772"/>
            <a:ext cx="2633243" cy="201930"/>
          </a:xfrm>
          <a:prstGeom prst="roundRect">
            <a:avLst>
              <a:gd name="adj" fmla="val 13585"/>
            </a:avLst>
          </a:prstGeom>
          <a:solidFill>
            <a:srgbClr val="FFF1CC"/>
          </a:solidFill>
          <a:ln w="6350">
            <a:solidFill>
              <a:srgbClr val="F2D27A"/>
            </a:solidFill>
            <a:prstDash val="solid"/>
          </a:ln>
        </p:spPr>
      </p:sp>
      <p:sp>
        <p:nvSpPr>
          <p:cNvPr id="187" name="Text 153"/>
          <p:cNvSpPr txBox="1"/>
          <p:nvPr/>
        </p:nvSpPr>
        <p:spPr>
          <a:xfrm>
            <a:off x="6312560" y="5786628"/>
            <a:ext cx="237744" cy="220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</a:t>
            </a:r>
            <a:endParaRPr lang="en-US" sz="850" dirty="0"/>
          </a:p>
        </p:txBody>
      </p:sp>
      <p:pic>
        <p:nvPicPr>
          <p:cNvPr id="188" name="Image 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6559448" y="5809869"/>
            <a:ext cx="173736" cy="173736"/>
          </a:xfrm>
          <a:prstGeom prst="rect">
            <a:avLst/>
          </a:prstGeom>
        </p:spPr>
      </p:pic>
      <p:sp>
        <p:nvSpPr>
          <p:cNvPr id="189" name="Text 154"/>
          <p:cNvSpPr txBox="1"/>
          <p:nvPr/>
        </p:nvSpPr>
        <p:spPr>
          <a:xfrm>
            <a:off x="6788048" y="5786628"/>
            <a:ext cx="1417091" cy="220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FOLHA DE PAGAMENTO</a:t>
            </a:r>
            <a:endParaRPr lang="en-US" sz="850" dirty="0"/>
          </a:p>
        </p:txBody>
      </p:sp>
      <p:sp>
        <p:nvSpPr>
          <p:cNvPr id="190" name="Text 155"/>
          <p:cNvSpPr txBox="1"/>
          <p:nvPr/>
        </p:nvSpPr>
        <p:spPr>
          <a:xfrm>
            <a:off x="8195996" y="5786628"/>
            <a:ext cx="676656" cy="220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CÓPIA</a:t>
            </a:r>
            <a:endParaRPr lang="en-US" sz="700" dirty="0"/>
          </a:p>
        </p:txBody>
      </p:sp>
      <p:sp>
        <p:nvSpPr>
          <p:cNvPr id="191" name="Shape 156"/>
          <p:cNvSpPr/>
          <p:nvPr/>
        </p:nvSpPr>
        <p:spPr>
          <a:xfrm>
            <a:off x="9171661" y="3127248"/>
            <a:ext cx="2742971" cy="3145536"/>
          </a:xfrm>
          <a:prstGeom prst="roundRect">
            <a:avLst>
              <a:gd name="adj" fmla="val 2000"/>
            </a:avLst>
          </a:prstGeom>
          <a:solidFill>
            <a:srgbClr val="EEF7F7"/>
          </a:solidFill>
          <a:ln w="12700">
            <a:solidFill>
              <a:srgbClr val="93CBCB"/>
            </a:solidFill>
            <a:prstDash val="solid"/>
          </a:ln>
        </p:spPr>
      </p:sp>
      <p:sp>
        <p:nvSpPr>
          <p:cNvPr id="192" name="Shape 157"/>
          <p:cNvSpPr/>
          <p:nvPr/>
        </p:nvSpPr>
        <p:spPr>
          <a:xfrm>
            <a:off x="9171661" y="3127248"/>
            <a:ext cx="2742971" cy="365760"/>
          </a:xfrm>
          <a:prstGeom prst="roundRect">
            <a:avLst>
              <a:gd name="adj" fmla="val 15000"/>
            </a:avLst>
          </a:prstGeom>
          <a:solidFill>
            <a:srgbClr val="0E8C8C"/>
          </a:solidFill>
          <a:ln w="12700">
            <a:solidFill>
              <a:srgbClr val="0E8C8C"/>
            </a:solidFill>
            <a:prstDash val="solid"/>
          </a:ln>
        </p:spPr>
      </p:sp>
      <p:sp>
        <p:nvSpPr>
          <p:cNvPr id="193" name="Shape 158"/>
          <p:cNvSpPr/>
          <p:nvPr/>
        </p:nvSpPr>
        <p:spPr>
          <a:xfrm>
            <a:off x="9171661" y="3355848"/>
            <a:ext cx="2742971" cy="137160"/>
          </a:xfrm>
          <a:prstGeom prst="rect">
            <a:avLst/>
          </a:prstGeom>
          <a:solidFill>
            <a:srgbClr val="0E8C8C"/>
          </a:solidFill>
          <a:ln w="12700">
            <a:solidFill>
              <a:srgbClr val="0E8C8C"/>
            </a:solidFill>
            <a:prstDash val="solid"/>
          </a:ln>
        </p:spPr>
      </p:sp>
      <p:sp>
        <p:nvSpPr>
          <p:cNvPr id="194" name="Shape 159"/>
          <p:cNvSpPr/>
          <p:nvPr/>
        </p:nvSpPr>
        <p:spPr>
          <a:xfrm>
            <a:off x="10314546" y="2852928"/>
            <a:ext cx="457200" cy="457200"/>
          </a:xfrm>
          <a:prstGeom prst="ellipse">
            <a:avLst/>
          </a:prstGeom>
          <a:solidFill>
            <a:srgbClr val="0E8C8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5" name="Text 160"/>
          <p:cNvSpPr txBox="1"/>
          <p:nvPr/>
        </p:nvSpPr>
        <p:spPr>
          <a:xfrm>
            <a:off x="10314546" y="2852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800" dirty="0"/>
          </a:p>
        </p:txBody>
      </p:sp>
      <p:sp>
        <p:nvSpPr>
          <p:cNvPr id="196" name="Text 161"/>
          <p:cNvSpPr txBox="1"/>
          <p:nvPr/>
        </p:nvSpPr>
        <p:spPr>
          <a:xfrm>
            <a:off x="9281389" y="31272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 F</a:t>
            </a:r>
            <a:endParaRPr lang="en-US" sz="1300" dirty="0"/>
          </a:p>
        </p:txBody>
      </p:sp>
      <p:sp>
        <p:nvSpPr>
          <p:cNvPr id="197" name="Text 162"/>
          <p:cNvSpPr txBox="1"/>
          <p:nvPr/>
        </p:nvSpPr>
        <p:spPr>
          <a:xfrm>
            <a:off x="10588752" y="3127248"/>
            <a:ext cx="1216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regras · 12 etapas</a:t>
            </a:r>
            <a:endParaRPr lang="en-US" sz="950" dirty="0"/>
          </a:p>
        </p:txBody>
      </p:sp>
      <p:sp>
        <p:nvSpPr>
          <p:cNvPr id="198" name="Shape 163"/>
          <p:cNvSpPr/>
          <p:nvPr/>
        </p:nvSpPr>
        <p:spPr>
          <a:xfrm>
            <a:off x="9226525" y="3593592"/>
            <a:ext cx="2633243" cy="201930"/>
          </a:xfrm>
          <a:prstGeom prst="roundRect">
            <a:avLst>
              <a:gd name="adj" fmla="val 13585"/>
            </a:avLst>
          </a:prstGeom>
          <a:solidFill>
            <a:srgbClr val="FFF1CC"/>
          </a:solidFill>
          <a:ln w="6350">
            <a:solidFill>
              <a:srgbClr val="F2D27A"/>
            </a:solidFill>
            <a:prstDash val="solid"/>
          </a:ln>
        </p:spPr>
      </p:sp>
      <p:sp>
        <p:nvSpPr>
          <p:cNvPr id="199" name="Text 164"/>
          <p:cNvSpPr txBox="1"/>
          <p:nvPr/>
        </p:nvSpPr>
        <p:spPr>
          <a:xfrm>
            <a:off x="9263101" y="3584448"/>
            <a:ext cx="237744" cy="220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850" dirty="0"/>
          </a:p>
        </p:txBody>
      </p:sp>
      <p:pic>
        <p:nvPicPr>
          <p:cNvPr id="200" name="Image 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9509989" y="3607689"/>
            <a:ext cx="173736" cy="173736"/>
          </a:xfrm>
          <a:prstGeom prst="rect">
            <a:avLst/>
          </a:prstGeom>
        </p:spPr>
      </p:pic>
      <p:sp>
        <p:nvSpPr>
          <p:cNvPr id="201" name="Text 165"/>
          <p:cNvSpPr txBox="1"/>
          <p:nvPr/>
        </p:nvSpPr>
        <p:spPr>
          <a:xfrm>
            <a:off x="9738589" y="3584448"/>
            <a:ext cx="1417091" cy="220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 ATUAL</a:t>
            </a:r>
            <a:endParaRPr lang="en-US" sz="850" dirty="0"/>
          </a:p>
        </p:txBody>
      </p:sp>
      <p:sp>
        <p:nvSpPr>
          <p:cNvPr id="202" name="Text 166"/>
          <p:cNvSpPr txBox="1"/>
          <p:nvPr/>
        </p:nvSpPr>
        <p:spPr>
          <a:xfrm>
            <a:off x="11146536" y="3584448"/>
            <a:ext cx="676656" cy="220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203" name="Text 167"/>
          <p:cNvSpPr txBox="1"/>
          <p:nvPr/>
        </p:nvSpPr>
        <p:spPr>
          <a:xfrm>
            <a:off x="9263101" y="3804666"/>
            <a:ext cx="237744" cy="220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850" dirty="0"/>
          </a:p>
        </p:txBody>
      </p:sp>
      <p:pic>
        <p:nvPicPr>
          <p:cNvPr id="204" name="Image 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9509989" y="3827907"/>
            <a:ext cx="173736" cy="173736"/>
          </a:xfrm>
          <a:prstGeom prst="rect">
            <a:avLst/>
          </a:prstGeom>
        </p:spPr>
      </p:pic>
      <p:sp>
        <p:nvSpPr>
          <p:cNvPr id="205" name="Text 168"/>
          <p:cNvSpPr txBox="1"/>
          <p:nvPr/>
        </p:nvSpPr>
        <p:spPr>
          <a:xfrm>
            <a:off x="9738589" y="3804666"/>
            <a:ext cx="1417091" cy="220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CARREIRA E RECOMPENSA</a:t>
            </a:r>
            <a:endParaRPr lang="en-US" sz="850" dirty="0"/>
          </a:p>
        </p:txBody>
      </p:sp>
      <p:sp>
        <p:nvSpPr>
          <p:cNvPr id="206" name="Text 169"/>
          <p:cNvSpPr txBox="1"/>
          <p:nvPr/>
        </p:nvSpPr>
        <p:spPr>
          <a:xfrm>
            <a:off x="11146536" y="3804666"/>
            <a:ext cx="676656" cy="220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207" name="Text 170"/>
          <p:cNvSpPr txBox="1"/>
          <p:nvPr/>
        </p:nvSpPr>
        <p:spPr>
          <a:xfrm>
            <a:off x="9263101" y="4024884"/>
            <a:ext cx="237744" cy="220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850" dirty="0"/>
          </a:p>
        </p:txBody>
      </p:sp>
      <p:pic>
        <p:nvPicPr>
          <p:cNvPr id="208" name="Image 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9509989" y="4048125"/>
            <a:ext cx="173736" cy="173736"/>
          </a:xfrm>
          <a:prstGeom prst="rect">
            <a:avLst/>
          </a:prstGeom>
        </p:spPr>
      </p:pic>
      <p:sp>
        <p:nvSpPr>
          <p:cNvPr id="209" name="Text 171"/>
          <p:cNvSpPr txBox="1"/>
          <p:nvPr/>
        </p:nvSpPr>
        <p:spPr>
          <a:xfrm>
            <a:off x="9738589" y="4024884"/>
            <a:ext cx="1417091" cy="220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850" dirty="0"/>
          </a:p>
        </p:txBody>
      </p:sp>
      <p:sp>
        <p:nvSpPr>
          <p:cNvPr id="210" name="Text 172"/>
          <p:cNvSpPr txBox="1"/>
          <p:nvPr/>
        </p:nvSpPr>
        <p:spPr>
          <a:xfrm>
            <a:off x="11146536" y="4024884"/>
            <a:ext cx="676656" cy="220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211" name="Text 173"/>
          <p:cNvSpPr txBox="1"/>
          <p:nvPr/>
        </p:nvSpPr>
        <p:spPr>
          <a:xfrm>
            <a:off x="9263101" y="4245102"/>
            <a:ext cx="237744" cy="220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850" dirty="0"/>
          </a:p>
        </p:txBody>
      </p:sp>
      <p:pic>
        <p:nvPicPr>
          <p:cNvPr id="212" name="Image 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9509989" y="4268343"/>
            <a:ext cx="173736" cy="173736"/>
          </a:xfrm>
          <a:prstGeom prst="rect">
            <a:avLst/>
          </a:prstGeom>
        </p:spPr>
      </p:pic>
      <p:sp>
        <p:nvSpPr>
          <p:cNvPr id="213" name="Text 174"/>
          <p:cNvSpPr txBox="1"/>
          <p:nvPr/>
        </p:nvSpPr>
        <p:spPr>
          <a:xfrm>
            <a:off x="9738589" y="4245102"/>
            <a:ext cx="1417091" cy="220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DHO – DESENV. HUMANO ORG.</a:t>
            </a:r>
            <a:endParaRPr lang="en-US" sz="750" dirty="0"/>
          </a:p>
        </p:txBody>
      </p:sp>
      <p:sp>
        <p:nvSpPr>
          <p:cNvPr id="214" name="Text 175"/>
          <p:cNvSpPr txBox="1"/>
          <p:nvPr/>
        </p:nvSpPr>
        <p:spPr>
          <a:xfrm>
            <a:off x="11146536" y="4245102"/>
            <a:ext cx="676656" cy="220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215" name="Text 176"/>
          <p:cNvSpPr txBox="1"/>
          <p:nvPr/>
        </p:nvSpPr>
        <p:spPr>
          <a:xfrm>
            <a:off x="9263101" y="4465320"/>
            <a:ext cx="237744" cy="220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850" dirty="0"/>
          </a:p>
        </p:txBody>
      </p:sp>
      <p:pic>
        <p:nvPicPr>
          <p:cNvPr id="216" name="Image 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9509989" y="4488561"/>
            <a:ext cx="173736" cy="173736"/>
          </a:xfrm>
          <a:prstGeom prst="rect">
            <a:avLst/>
          </a:prstGeom>
        </p:spPr>
      </p:pic>
      <p:sp>
        <p:nvSpPr>
          <p:cNvPr id="217" name="Text 177"/>
          <p:cNvSpPr txBox="1"/>
          <p:nvPr/>
        </p:nvSpPr>
        <p:spPr>
          <a:xfrm>
            <a:off x="9738589" y="4465320"/>
            <a:ext cx="1417091" cy="220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TREINAMENTO</a:t>
            </a:r>
            <a:endParaRPr lang="en-US" sz="850" dirty="0"/>
          </a:p>
        </p:txBody>
      </p:sp>
      <p:sp>
        <p:nvSpPr>
          <p:cNvPr id="218" name="Text 178"/>
          <p:cNvSpPr txBox="1"/>
          <p:nvPr/>
        </p:nvSpPr>
        <p:spPr>
          <a:xfrm>
            <a:off x="11146536" y="4465320"/>
            <a:ext cx="676656" cy="220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219" name="Text 179"/>
          <p:cNvSpPr txBox="1"/>
          <p:nvPr/>
        </p:nvSpPr>
        <p:spPr>
          <a:xfrm>
            <a:off x="9263101" y="4685538"/>
            <a:ext cx="237744" cy="220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</a:t>
            </a:r>
            <a:endParaRPr lang="en-US" sz="850" dirty="0"/>
          </a:p>
        </p:txBody>
      </p:sp>
      <p:pic>
        <p:nvPicPr>
          <p:cNvPr id="220" name="Image 38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9509989" y="4708779"/>
            <a:ext cx="173736" cy="173736"/>
          </a:xfrm>
          <a:prstGeom prst="rect">
            <a:avLst/>
          </a:prstGeom>
        </p:spPr>
      </p:pic>
      <p:sp>
        <p:nvSpPr>
          <p:cNvPr id="221" name="Text 180"/>
          <p:cNvSpPr txBox="1"/>
          <p:nvPr/>
        </p:nvSpPr>
        <p:spPr>
          <a:xfrm>
            <a:off x="9738589" y="4685538"/>
            <a:ext cx="1417091" cy="220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MEDICINA</a:t>
            </a:r>
            <a:endParaRPr lang="en-US" sz="850" dirty="0"/>
          </a:p>
        </p:txBody>
      </p:sp>
      <p:sp>
        <p:nvSpPr>
          <p:cNvPr id="222" name="Text 181"/>
          <p:cNvSpPr txBox="1"/>
          <p:nvPr/>
        </p:nvSpPr>
        <p:spPr>
          <a:xfrm>
            <a:off x="11146536" y="4685538"/>
            <a:ext cx="676656" cy="220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223" name="Text 182"/>
          <p:cNvSpPr txBox="1"/>
          <p:nvPr/>
        </p:nvSpPr>
        <p:spPr>
          <a:xfrm>
            <a:off x="9263101" y="4905756"/>
            <a:ext cx="237744" cy="220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</a:t>
            </a:r>
            <a:endParaRPr lang="en-US" sz="850" dirty="0"/>
          </a:p>
        </p:txBody>
      </p:sp>
      <p:pic>
        <p:nvPicPr>
          <p:cNvPr id="224" name="Image 39" descr="preencoded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9509989" y="4928997"/>
            <a:ext cx="173736" cy="173736"/>
          </a:xfrm>
          <a:prstGeom prst="rect">
            <a:avLst/>
          </a:prstGeom>
        </p:spPr>
      </p:pic>
      <p:sp>
        <p:nvSpPr>
          <p:cNvPr id="225" name="Text 183"/>
          <p:cNvSpPr txBox="1"/>
          <p:nvPr/>
        </p:nvSpPr>
        <p:spPr>
          <a:xfrm>
            <a:off x="9738589" y="4905756"/>
            <a:ext cx="1417091" cy="220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DO TRABALHO</a:t>
            </a:r>
            <a:endParaRPr lang="en-US" sz="850" dirty="0"/>
          </a:p>
        </p:txBody>
      </p:sp>
      <p:sp>
        <p:nvSpPr>
          <p:cNvPr id="226" name="Text 184"/>
          <p:cNvSpPr txBox="1"/>
          <p:nvPr/>
        </p:nvSpPr>
        <p:spPr>
          <a:xfrm>
            <a:off x="11146536" y="4905756"/>
            <a:ext cx="676656" cy="220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227" name="Text 185"/>
          <p:cNvSpPr txBox="1"/>
          <p:nvPr/>
        </p:nvSpPr>
        <p:spPr>
          <a:xfrm>
            <a:off x="9263101" y="5125974"/>
            <a:ext cx="237744" cy="220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</a:t>
            </a:r>
            <a:endParaRPr lang="en-US" sz="850" dirty="0"/>
          </a:p>
        </p:txBody>
      </p:sp>
      <p:pic>
        <p:nvPicPr>
          <p:cNvPr id="228" name="Image 40" descr="preencoded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9509989" y="5149215"/>
            <a:ext cx="173736" cy="173736"/>
          </a:xfrm>
          <a:prstGeom prst="rect">
            <a:avLst/>
          </a:prstGeom>
        </p:spPr>
      </p:pic>
      <p:sp>
        <p:nvSpPr>
          <p:cNvPr id="229" name="Text 186"/>
          <p:cNvSpPr txBox="1"/>
          <p:nvPr/>
        </p:nvSpPr>
        <p:spPr>
          <a:xfrm>
            <a:off x="9738589" y="5125974"/>
            <a:ext cx="1417091" cy="220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 SOLICITANTE</a:t>
            </a:r>
            <a:endParaRPr lang="en-US" sz="850" dirty="0"/>
          </a:p>
        </p:txBody>
      </p:sp>
      <p:sp>
        <p:nvSpPr>
          <p:cNvPr id="230" name="Text 187"/>
          <p:cNvSpPr txBox="1"/>
          <p:nvPr/>
        </p:nvSpPr>
        <p:spPr>
          <a:xfrm>
            <a:off x="11146536" y="5125974"/>
            <a:ext cx="676656" cy="220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8A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CONTRIBUINTE</a:t>
            </a:r>
            <a:endParaRPr lang="en-US" sz="700" dirty="0"/>
          </a:p>
        </p:txBody>
      </p:sp>
      <p:sp>
        <p:nvSpPr>
          <p:cNvPr id="231" name="Text 188"/>
          <p:cNvSpPr txBox="1"/>
          <p:nvPr/>
        </p:nvSpPr>
        <p:spPr>
          <a:xfrm>
            <a:off x="9263101" y="5346192"/>
            <a:ext cx="237744" cy="220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</a:t>
            </a:r>
            <a:endParaRPr lang="en-US" sz="850" dirty="0"/>
          </a:p>
        </p:txBody>
      </p:sp>
      <p:pic>
        <p:nvPicPr>
          <p:cNvPr id="232" name="Image 41" descr="preencoded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9509989" y="5369433"/>
            <a:ext cx="173736" cy="173736"/>
          </a:xfrm>
          <a:prstGeom prst="rect">
            <a:avLst/>
          </a:prstGeom>
        </p:spPr>
      </p:pic>
      <p:sp>
        <p:nvSpPr>
          <p:cNvPr id="233" name="Text 189"/>
          <p:cNvSpPr txBox="1"/>
          <p:nvPr/>
        </p:nvSpPr>
        <p:spPr>
          <a:xfrm>
            <a:off x="9738589" y="5346192"/>
            <a:ext cx="1417091" cy="220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COLABORADOR</a:t>
            </a:r>
            <a:endParaRPr lang="en-US" sz="850" dirty="0"/>
          </a:p>
        </p:txBody>
      </p:sp>
      <p:sp>
        <p:nvSpPr>
          <p:cNvPr id="234" name="Text 190"/>
          <p:cNvSpPr txBox="1"/>
          <p:nvPr/>
        </p:nvSpPr>
        <p:spPr>
          <a:xfrm>
            <a:off x="11146536" y="5346192"/>
            <a:ext cx="676656" cy="220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235" name="Text 191"/>
          <p:cNvSpPr txBox="1"/>
          <p:nvPr/>
        </p:nvSpPr>
        <p:spPr>
          <a:xfrm>
            <a:off x="9263101" y="5566410"/>
            <a:ext cx="237744" cy="220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</a:t>
            </a:r>
            <a:endParaRPr lang="en-US" sz="850" dirty="0"/>
          </a:p>
        </p:txBody>
      </p:sp>
      <p:pic>
        <p:nvPicPr>
          <p:cNvPr id="236" name="Image 42" descr="preencoded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9509989" y="5589651"/>
            <a:ext cx="173736" cy="173736"/>
          </a:xfrm>
          <a:prstGeom prst="rect">
            <a:avLst/>
          </a:prstGeom>
        </p:spPr>
      </p:pic>
      <p:sp>
        <p:nvSpPr>
          <p:cNvPr id="237" name="Text 192"/>
          <p:cNvSpPr txBox="1"/>
          <p:nvPr/>
        </p:nvSpPr>
        <p:spPr>
          <a:xfrm>
            <a:off x="9738589" y="5566410"/>
            <a:ext cx="1417091" cy="220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CARREIRA E RECOMPENSA</a:t>
            </a:r>
            <a:endParaRPr lang="en-US" sz="850" dirty="0"/>
          </a:p>
        </p:txBody>
      </p:sp>
      <p:sp>
        <p:nvSpPr>
          <p:cNvPr id="238" name="Text 193"/>
          <p:cNvSpPr txBox="1"/>
          <p:nvPr/>
        </p:nvSpPr>
        <p:spPr>
          <a:xfrm>
            <a:off x="11146536" y="5566410"/>
            <a:ext cx="676656" cy="220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239" name="Shape 194"/>
          <p:cNvSpPr/>
          <p:nvPr/>
        </p:nvSpPr>
        <p:spPr>
          <a:xfrm>
            <a:off x="9226525" y="5795772"/>
            <a:ext cx="2633243" cy="201930"/>
          </a:xfrm>
          <a:prstGeom prst="roundRect">
            <a:avLst>
              <a:gd name="adj" fmla="val 13585"/>
            </a:avLst>
          </a:prstGeom>
          <a:solidFill>
            <a:srgbClr val="FFF1CC"/>
          </a:solidFill>
          <a:ln w="6350">
            <a:solidFill>
              <a:srgbClr val="F2D27A"/>
            </a:solidFill>
            <a:prstDash val="solid"/>
          </a:ln>
        </p:spPr>
      </p:sp>
      <p:sp>
        <p:nvSpPr>
          <p:cNvPr id="240" name="Text 195"/>
          <p:cNvSpPr txBox="1"/>
          <p:nvPr/>
        </p:nvSpPr>
        <p:spPr>
          <a:xfrm>
            <a:off x="9263101" y="5786628"/>
            <a:ext cx="237744" cy="220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</a:t>
            </a:r>
            <a:endParaRPr lang="en-US" sz="850" dirty="0"/>
          </a:p>
        </p:txBody>
      </p:sp>
      <p:pic>
        <p:nvPicPr>
          <p:cNvPr id="241" name="Image 43" descr="preencoded.pn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9509989" y="5809869"/>
            <a:ext cx="173736" cy="173736"/>
          </a:xfrm>
          <a:prstGeom prst="rect">
            <a:avLst/>
          </a:prstGeom>
        </p:spPr>
      </p:pic>
      <p:sp>
        <p:nvSpPr>
          <p:cNvPr id="242" name="Text 196"/>
          <p:cNvSpPr txBox="1"/>
          <p:nvPr/>
        </p:nvSpPr>
        <p:spPr>
          <a:xfrm>
            <a:off x="9738589" y="5786628"/>
            <a:ext cx="1417091" cy="220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CONTROLADORIA</a:t>
            </a:r>
            <a:endParaRPr lang="en-US" sz="850" dirty="0"/>
          </a:p>
        </p:txBody>
      </p:sp>
      <p:sp>
        <p:nvSpPr>
          <p:cNvPr id="243" name="Text 197"/>
          <p:cNvSpPr txBox="1"/>
          <p:nvPr/>
        </p:nvSpPr>
        <p:spPr>
          <a:xfrm>
            <a:off x="11146536" y="5786628"/>
            <a:ext cx="676656" cy="220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CÓPIA</a:t>
            </a:r>
            <a:endParaRPr lang="en-US" sz="700" dirty="0"/>
          </a:p>
        </p:txBody>
      </p:sp>
      <p:sp>
        <p:nvSpPr>
          <p:cNvPr id="244" name="Shape 198"/>
          <p:cNvSpPr/>
          <p:nvPr/>
        </p:nvSpPr>
        <p:spPr>
          <a:xfrm>
            <a:off x="9226525" y="6015990"/>
            <a:ext cx="2633243" cy="201930"/>
          </a:xfrm>
          <a:prstGeom prst="roundRect">
            <a:avLst>
              <a:gd name="adj" fmla="val 13585"/>
            </a:avLst>
          </a:prstGeom>
          <a:solidFill>
            <a:srgbClr val="FFF1CC"/>
          </a:solidFill>
          <a:ln w="6350">
            <a:solidFill>
              <a:srgbClr val="F2D27A"/>
            </a:solidFill>
            <a:prstDash val="solid"/>
          </a:ln>
        </p:spPr>
      </p:sp>
      <p:sp>
        <p:nvSpPr>
          <p:cNvPr id="245" name="Text 199"/>
          <p:cNvSpPr txBox="1"/>
          <p:nvPr/>
        </p:nvSpPr>
        <p:spPr>
          <a:xfrm>
            <a:off x="9263101" y="6006846"/>
            <a:ext cx="237744" cy="220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</a:t>
            </a:r>
            <a:endParaRPr lang="en-US" sz="850" dirty="0"/>
          </a:p>
        </p:txBody>
      </p:sp>
      <p:pic>
        <p:nvPicPr>
          <p:cNvPr id="246" name="Image 44" descr="preencoded.png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9509989" y="6030087"/>
            <a:ext cx="173736" cy="173736"/>
          </a:xfrm>
          <a:prstGeom prst="rect">
            <a:avLst/>
          </a:prstGeom>
        </p:spPr>
      </p:pic>
      <p:sp>
        <p:nvSpPr>
          <p:cNvPr id="247" name="Text 200"/>
          <p:cNvSpPr txBox="1"/>
          <p:nvPr/>
        </p:nvSpPr>
        <p:spPr>
          <a:xfrm>
            <a:off x="9738589" y="6006846"/>
            <a:ext cx="1417091" cy="220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FOLHA DE PAGAMENTO</a:t>
            </a:r>
            <a:endParaRPr lang="en-US" sz="850" dirty="0"/>
          </a:p>
        </p:txBody>
      </p:sp>
      <p:sp>
        <p:nvSpPr>
          <p:cNvPr id="248" name="Text 201"/>
          <p:cNvSpPr txBox="1"/>
          <p:nvPr/>
        </p:nvSpPr>
        <p:spPr>
          <a:xfrm>
            <a:off x="11146536" y="6006846"/>
            <a:ext cx="676656" cy="220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CÓPIA</a:t>
            </a:r>
            <a:endParaRPr lang="en-US" sz="700" dirty="0"/>
          </a:p>
        </p:txBody>
      </p:sp>
      <p:sp>
        <p:nvSpPr>
          <p:cNvPr id="249" name="Shape 202"/>
          <p:cNvSpPr/>
          <p:nvPr/>
        </p:nvSpPr>
        <p:spPr>
          <a:xfrm>
            <a:off x="320040" y="6364224"/>
            <a:ext cx="8412480" cy="365760"/>
          </a:xfrm>
          <a:prstGeom prst="roundRect">
            <a:avLst>
              <a:gd name="adj" fmla="val 12500"/>
            </a:avLst>
          </a:prstGeom>
          <a:solidFill>
            <a:srgbClr val="E9F0F9"/>
          </a:solidFill>
          <a:ln w="12700">
            <a:solidFill>
              <a:srgbClr val="C9D6EA"/>
            </a:solidFill>
            <a:prstDash val="solid"/>
          </a:ln>
        </p:spPr>
      </p:sp>
      <p:sp>
        <p:nvSpPr>
          <p:cNvPr id="250" name="Text 203"/>
          <p:cNvSpPr txBox="1"/>
          <p:nvPr/>
        </p:nvSpPr>
        <p:spPr>
          <a:xfrm>
            <a:off x="429768" y="636422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23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ALTERAM A ROTA NESTE EVENTO:  </a:t>
            </a:r>
            <a:pPr indent="0" marL="0">
              <a:buNone/>
            </a:pP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 filial / Muda setor (NÃO/NÃO · NÃO/SIM · SIM/SIM)  ·  Natureza atual: Não gestão  ·  Natureza destino: Liderança (Eng. Líder, Líder Proc.)</a:t>
            </a:r>
            <a:endParaRPr lang="en-US" sz="800" dirty="0"/>
          </a:p>
        </p:txBody>
      </p:sp>
      <p:sp>
        <p:nvSpPr>
          <p:cNvPr id="251" name="Shape 204"/>
          <p:cNvSpPr/>
          <p:nvPr/>
        </p:nvSpPr>
        <p:spPr>
          <a:xfrm>
            <a:off x="8869680" y="6364224"/>
            <a:ext cx="3044952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C9D6EA"/>
            </a:solidFill>
            <a:prstDash val="solid"/>
          </a:ln>
        </p:spPr>
      </p:sp>
      <p:sp>
        <p:nvSpPr>
          <p:cNvPr id="252" name="Shape 205"/>
          <p:cNvSpPr/>
          <p:nvPr/>
        </p:nvSpPr>
        <p:spPr>
          <a:xfrm>
            <a:off x="8961120" y="6446520"/>
            <a:ext cx="320040" cy="201168"/>
          </a:xfrm>
          <a:prstGeom prst="roundRect">
            <a:avLst>
              <a:gd name="adj" fmla="val 13636"/>
            </a:avLst>
          </a:prstGeom>
          <a:solidFill>
            <a:srgbClr val="FFF1CC"/>
          </a:solidFill>
          <a:ln w="6350">
            <a:solidFill>
              <a:srgbClr val="F2D27A"/>
            </a:solidFill>
            <a:prstDash val="solid"/>
          </a:ln>
        </p:spPr>
      </p:sp>
      <p:sp>
        <p:nvSpPr>
          <p:cNvPr id="253" name="Text 206"/>
          <p:cNvSpPr txBox="1"/>
          <p:nvPr/>
        </p:nvSpPr>
        <p:spPr>
          <a:xfrm>
            <a:off x="9345168" y="6364224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que muda conforme a decisão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Fluxos de Aprovação por Evento C&amp;R – Movimentação de Pessoas</dc:title>
  <dc:subject>PptxGenJS Presentation</dc:subject>
  <dc:creator>PptxGenJS</dc:creator>
  <cp:lastModifiedBy>PptxGenJS</cp:lastModifiedBy>
  <cp:revision>1</cp:revision>
  <dcterms:created xsi:type="dcterms:W3CDTF">2026-09-25T12:18:59Z</dcterms:created>
  <dcterms:modified xsi:type="dcterms:W3CDTF">2026-09-25T12:18:59Z</dcterms:modified>
</cp:coreProperties>
</file>